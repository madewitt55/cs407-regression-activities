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10" r:id="rId1"/>
  </p:sldMasterIdLst>
  <p:notesMasterIdLst>
    <p:notesMasterId r:id="rId14"/>
  </p:notesMasterIdLst>
  <p:sldIdLst>
    <p:sldId id="269" r:id="rId2"/>
    <p:sldId id="270" r:id="rId3"/>
    <p:sldId id="258" r:id="rId4"/>
    <p:sldId id="259" r:id="rId5"/>
    <p:sldId id="260" r:id="rId6"/>
    <p:sldId id="261" r:id="rId7"/>
    <p:sldId id="271" r:id="rId8"/>
    <p:sldId id="262" r:id="rId9"/>
    <p:sldId id="263" r:id="rId10"/>
    <p:sldId id="264" r:id="rId11"/>
    <p:sldId id="265" r:id="rId12"/>
    <p:sldId id="27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7BDA5"/>
    <a:srgbClr val="90D1B9"/>
    <a:srgbClr val="B4FAE0"/>
    <a:srgbClr val="93D8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36870EF-D6B6-4D34-7EE2-C2FEB9136DD5}" v="352" dt="2026-09-16T16:50:33.67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9C3B74-A98D-42D1-B870-65083B3C3DAE}" type="datetimeFigureOut">
              <a:t>9/16/2026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99360C-046D-47D2-A200-ACF7275F3EFF}" type="slidenum">
              <a:t>‹#›</a:t>
            </a:fld>
            <a:endParaRPr lang="en-US"/>
          </a:p>
        </p:txBody>
      </p:sp>
    </p:spTree>
    <p:extLst>
      <p:ext uri="{BB962C8B-B14F-4D97-AF65-F5344CB8AC3E}">
        <p14:creationId xmlns:p14="http://schemas.microsoft.com/office/powerpoint/2010/main" val="38404305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77EE3-5954-D227-4270-D6BF65525F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652B54-2D0E-BAF5-D9B2-C9CCB04369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CAB5B3-3FF5-9935-5A47-0199CD55B3F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B49ECD3-2B9B-6E0D-A367-4A13614651D0}"/>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8042002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An l1 ratio of 0.5 means Elastic Net used an even mix of Ridge and Lasso, and the alpha of about 0.043 means the regularization strength was fairly small.</a:t>
            </a:r>
          </a:p>
          <a:p>
            <a:endParaRPr lang="en-US">
              <a:ea typeface="Calibri"/>
              <a:cs typeface="Calibri"/>
            </a:endParaRPr>
          </a:p>
          <a:p>
            <a:r>
              <a:rPr lang="en-US"/>
              <a:t>On this slide, we standardized the predictors so they were all on the same scale. That makes it easier to compare the coefficient sizes fairly.</a:t>
            </a:r>
            <a:endParaRPr lang="en-US">
              <a:ea typeface="Calibri"/>
              <a:cs typeface="Calibri"/>
            </a:endParaRPr>
          </a:p>
          <a:p>
            <a:r>
              <a:rPr lang="en-US"/>
              <a:t>After standardizing, Hours Studied ranked first, Attendance Percent was second, Assignments Completed was third, and Sleep Hours was fourth.</a:t>
            </a:r>
            <a:endParaRPr lang="en-US">
              <a:ea typeface="Calibri"/>
              <a:cs typeface="Calibri"/>
            </a:endParaRPr>
          </a:p>
          <a:p>
            <a:r>
              <a:rPr lang="en-US"/>
              <a:t>Then we used Elastic Net. Elastic Net selected an l1 ratio of 0.5, which means it used a balanced mix of Ridge and Lasso. It also selected an alpha of about 0.043, which means the amount of shrinking was pretty small.</a:t>
            </a:r>
            <a:endParaRPr lang="en-US">
              <a:ea typeface="Calibri"/>
              <a:cs typeface="Calibri"/>
            </a:endParaRPr>
          </a:p>
          <a:p>
            <a:r>
              <a:rPr lang="en-US"/>
              <a:t>Because of that, Elastic Net slightly reduced the coefficient sizes, but none of them went all the way down to zero.</a:t>
            </a:r>
            <a:endParaRPr lang="en-US">
              <a:ea typeface="Calibri"/>
              <a:cs typeface="Calibri"/>
            </a:endParaRPr>
          </a:p>
          <a:p>
            <a:r>
              <a:rPr lang="en-US"/>
              <a:t>The main result is that the predictor ranking stayed exactly the same after applying Elastic Net.</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 this slide, we compared how well the three models performed.</a:t>
            </a:r>
          </a:p>
          <a:p>
            <a:r>
              <a:rPr lang="en-US"/>
              <a:t>We looked at unscaled Linear Regression, standardized Linear Regression, and Elastic Net.</a:t>
            </a:r>
            <a:endParaRPr lang="en-US">
              <a:ea typeface="Calibri"/>
              <a:cs typeface="Calibri"/>
            </a:endParaRPr>
          </a:p>
          <a:p>
            <a:r>
              <a:rPr lang="en-US"/>
              <a:t>The main result is that all three models performed very similarly.</a:t>
            </a:r>
            <a:endParaRPr lang="en-US">
              <a:ea typeface="Calibri"/>
              <a:cs typeface="Calibri"/>
            </a:endParaRPr>
          </a:p>
          <a:p>
            <a:r>
              <a:rPr lang="en-US"/>
              <a:t>For MAE, which tells us how far off the predictions were on average, all three models were around 3 points.</a:t>
            </a:r>
            <a:endParaRPr lang="en-US">
              <a:ea typeface="Calibri"/>
              <a:cs typeface="Calibri"/>
            </a:endParaRPr>
          </a:p>
          <a:p>
            <a:r>
              <a:rPr lang="en-US"/>
              <a:t>RMSE is another error measurement that gives more weight to bigger mistakes, and that was also almost the same for all three models.</a:t>
            </a:r>
            <a:endParaRPr lang="en-US">
              <a:ea typeface="Calibri"/>
              <a:cs typeface="Calibri"/>
            </a:endParaRPr>
          </a:p>
          <a:p>
            <a:r>
              <a:rPr lang="en-US"/>
              <a:t>For R-squared, all three models were around 0.75. That means the models explained about 75 percent of the variation in exam scores.</a:t>
            </a:r>
            <a:endParaRPr lang="en-US">
              <a:ea typeface="Calibri"/>
              <a:cs typeface="Calibri"/>
            </a:endParaRPr>
          </a:p>
          <a:p>
            <a:r>
              <a:rPr lang="en-US"/>
              <a:t>Elastic Net had a slightly lower MAE, but the difference was extremely small, so we would not say it clearly performed better.</a:t>
            </a:r>
            <a:endParaRPr lang="en-US">
              <a:ea typeface="Calibri"/>
              <a:cs typeface="Calibri"/>
            </a:endParaRPr>
          </a:p>
          <a:p>
            <a:r>
              <a:rPr lang="en-US"/>
              <a:t>The graph on the left shows predicted scores compared with actual scores. The closer the dots are to the diagonal line, the closer the prediction was to the real exam score.</a:t>
            </a:r>
            <a:endParaRPr lang="en-US">
              <a:ea typeface="Calibri"/>
              <a:cs typeface="Calibri"/>
            </a:endParaRPr>
          </a:p>
          <a:p>
            <a:r>
              <a:rPr lang="en-US"/>
              <a:t>So overall, standardizing the Linear Regression model did not change its prediction performance, and Elastic Net also gave almost the same results.</a:t>
            </a:r>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clearest result was that Hours Studied stayed the strongest predictor.</a:t>
            </a:r>
          </a:p>
          <a:p>
            <a:r>
              <a:rPr lang="en-US"/>
              <a:t>The ranking also stayed the same, with Hours Studied first, Attendance second, Assignments Completed third, and Sleep Hours fourth.</a:t>
            </a:r>
            <a:endParaRPr lang="en-US">
              <a:ea typeface="Calibri"/>
              <a:cs typeface="Calibri"/>
            </a:endParaRPr>
          </a:p>
          <a:p>
            <a:r>
              <a:rPr lang="en-US"/>
              <a:t>We saw that same ranking in both standardized Linear Regression and Elastic Net.</a:t>
            </a:r>
            <a:endParaRPr lang="en-US">
              <a:ea typeface="Calibri"/>
              <a:cs typeface="Calibri"/>
            </a:endParaRPr>
          </a:p>
          <a:p>
            <a:r>
              <a:rPr lang="en-US"/>
              <a:t>Elastic Net made the coefficients a little smaller, but it did not remove any predictors.</a:t>
            </a:r>
            <a:endParaRPr lang="en-US">
              <a:ea typeface="Calibri"/>
              <a:cs typeface="Calibri"/>
            </a:endParaRPr>
          </a:p>
          <a:p>
            <a:r>
              <a:rPr lang="en-US"/>
              <a:t>We also found that all three models had very similar cross-validation performance, so Elastic Net did not really give us a meaningful improvement over regular Linear Regression for this clean baseline dataset.</a:t>
            </a:r>
            <a:endParaRPr lang="en-US">
              <a:ea typeface="Calibri"/>
              <a:cs typeface="Calibri"/>
            </a:endParaRPr>
          </a:p>
          <a:p>
            <a:r>
              <a:rPr lang="en-US"/>
              <a:t>One limitation is that our dataset is synthetic and fairly small, so we cannot assume the same results would apply to real students.</a:t>
            </a:r>
            <a:endParaRPr lang="en-US">
              <a:ea typeface="Calibri"/>
              <a:cs typeface="Calibri"/>
            </a:endParaRPr>
          </a:p>
          <a:p>
            <a:r>
              <a:rPr lang="en-US"/>
              <a:t>And lastly, more study hours were associated with higher exam scores, but that does not mean studying more directly caused the higher scores.”</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A4DBA-9661-2052-0CEE-963F85B2A7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CFF1AD-071A-BFA7-4036-DC37DF66C0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E978E6-D08F-B084-D84F-F44DEA020597}"/>
              </a:ext>
            </a:extLst>
          </p:cNvPr>
          <p:cNvSpPr>
            <a:spLocks noGrp="1"/>
          </p:cNvSpPr>
          <p:nvPr>
            <p:ph type="body" idx="1"/>
          </p:nvPr>
        </p:nvSpPr>
        <p:spPr/>
        <p:txBody>
          <a:bodyPr/>
          <a:lstStyle/>
          <a:p>
            <a:r>
              <a:rPr lang="en-US"/>
              <a:t>The clearest result was that Hours Studied stayed the strongest predictor.</a:t>
            </a:r>
          </a:p>
          <a:p>
            <a:r>
              <a:rPr lang="en-US"/>
              <a:t>The ranking also stayed the same, with Hours Studied first, Attendance second, Assignments Completed third, and Sleep Hours fourth.</a:t>
            </a:r>
            <a:endParaRPr lang="en-US">
              <a:ea typeface="Calibri"/>
              <a:cs typeface="Calibri"/>
            </a:endParaRPr>
          </a:p>
          <a:p>
            <a:r>
              <a:rPr lang="en-US"/>
              <a:t>We saw that same ranking in both standardized Linear Regression and Elastic Net.</a:t>
            </a:r>
            <a:endParaRPr lang="en-US">
              <a:ea typeface="Calibri"/>
              <a:cs typeface="Calibri"/>
            </a:endParaRPr>
          </a:p>
          <a:p>
            <a:r>
              <a:rPr lang="en-US"/>
              <a:t>Elastic Net made the coefficients a little smaller, but it did not remove any predictors.</a:t>
            </a:r>
            <a:endParaRPr lang="en-US">
              <a:ea typeface="Calibri"/>
              <a:cs typeface="Calibri"/>
            </a:endParaRPr>
          </a:p>
          <a:p>
            <a:r>
              <a:rPr lang="en-US"/>
              <a:t>We also found that all three models had very similar cross-validation performance, so Elastic Net did not really give us a meaningful improvement over regular Linear Regression for this clean baseline dataset.</a:t>
            </a:r>
            <a:endParaRPr lang="en-US">
              <a:ea typeface="Calibri"/>
              <a:cs typeface="Calibri"/>
            </a:endParaRPr>
          </a:p>
          <a:p>
            <a:r>
              <a:rPr lang="en-US"/>
              <a:t>One limitation is that our dataset is synthetic and fairly small, so we cannot assume the same results would apply to real students.</a:t>
            </a:r>
            <a:endParaRPr lang="en-US">
              <a:ea typeface="Calibri"/>
              <a:cs typeface="Calibri"/>
            </a:endParaRPr>
          </a:p>
          <a:p>
            <a:r>
              <a:rPr lang="en-US"/>
              <a:t>And lastly, more study hours were associated with higher exam scores, but that does not mean studying more directly caused the higher scores.”</a:t>
            </a:r>
            <a:endParaRPr lang="en-US">
              <a:ea typeface="Calibri"/>
              <a:cs typeface="Calibri"/>
            </a:endParaRPr>
          </a:p>
          <a:p>
            <a:endParaRPr lang="en-US">
              <a:ea typeface="Calibri"/>
              <a:cs typeface="Calibri"/>
            </a:endParaRPr>
          </a:p>
        </p:txBody>
      </p:sp>
      <p:sp>
        <p:nvSpPr>
          <p:cNvPr id="4" name="Slide Number Placeholder 3">
            <a:extLst>
              <a:ext uri="{FF2B5EF4-FFF2-40B4-BE49-F238E27FC236}">
                <a16:creationId xmlns:a16="http://schemas.microsoft.com/office/drawing/2014/main" id="{4DAC3BF8-B4F0-8069-795E-F9E4FCFFDEA4}"/>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887652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82880" y="5176159"/>
            <a:ext cx="11640312" cy="845493"/>
          </a:xfrm>
        </p:spPr>
        <p:txBody>
          <a:bodyPr vert="horz" lIns="91440" tIns="45720" rIns="91440" bIns="45720" rtlCol="0" anchor="b">
            <a:normAutofit/>
          </a:bodyPr>
          <a:lstStyle>
            <a:lvl1pPr>
              <a:defRPr lang="en-US" sz="44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10313" y="5980176"/>
            <a:ext cx="11612880" cy="530352"/>
          </a:xfrm>
        </p:spPr>
        <p:txBody>
          <a:bodyPr vert="horz" lIns="91440" tIns="45720" rIns="91440" bIns="45720" rtlCol="0">
            <a:normAutofit/>
          </a:bodyPr>
          <a:lstStyle>
            <a:lvl1pPr marL="0" indent="0">
              <a:buNone/>
              <a:defRPr lang="en-US" sz="1600" dirty="0">
                <a:solidFill>
                  <a:schemeClr val="tx2"/>
                </a:solidFill>
              </a:defRPr>
            </a:lvl1pPr>
          </a:lstStyle>
          <a:p>
            <a:pPr lvl="0"/>
            <a:r>
              <a:rPr lang="en-US"/>
              <a:t>Click to edit Master subtitle style</a:t>
            </a:r>
          </a:p>
        </p:txBody>
      </p:sp>
      <p:sp>
        <p:nvSpPr>
          <p:cNvPr id="10" name="Picture Placeholder 9">
            <a:extLst>
              <a:ext uri="{FF2B5EF4-FFF2-40B4-BE49-F238E27FC236}">
                <a16:creationId xmlns:a16="http://schemas.microsoft.com/office/drawing/2014/main" id="{150AF6FA-7D1D-1351-A76E-43C54D28FD68}"/>
              </a:ext>
            </a:extLst>
          </p:cNvPr>
          <p:cNvSpPr>
            <a:spLocks noGrp="1" noChangeAspect="1"/>
          </p:cNvSpPr>
          <p:nvPr>
            <p:ph type="pic" sz="quarter" idx="13" hasCustomPrompt="1"/>
          </p:nvPr>
        </p:nvSpPr>
        <p:spPr>
          <a:xfrm>
            <a:off x="274220" y="266700"/>
            <a:ext cx="11649456" cy="4853814"/>
          </a:xfrm>
          <a:custGeom>
            <a:avLst/>
            <a:gdLst/>
            <a:ahLst/>
            <a:cxnLst/>
            <a:rect l="l" t="t" r="r" b="b"/>
            <a:pathLst>
              <a:path w="11651080" h="4853814">
                <a:moveTo>
                  <a:pt x="291520" y="0"/>
                </a:moveTo>
                <a:lnTo>
                  <a:pt x="11359560" y="0"/>
                </a:lnTo>
                <a:cubicBezTo>
                  <a:pt x="11520562" y="0"/>
                  <a:pt x="11651080" y="130518"/>
                  <a:pt x="11651080" y="291520"/>
                </a:cubicBezTo>
                <a:lnTo>
                  <a:pt x="11651080" y="4562294"/>
                </a:lnTo>
                <a:cubicBezTo>
                  <a:pt x="11651080" y="4723296"/>
                  <a:pt x="11520562" y="4853814"/>
                  <a:pt x="11359560" y="4853814"/>
                </a:cubicBezTo>
                <a:lnTo>
                  <a:pt x="291520" y="4853814"/>
                </a:lnTo>
                <a:cubicBezTo>
                  <a:pt x="130518" y="4853814"/>
                  <a:pt x="0" y="4723296"/>
                  <a:pt x="0" y="4562294"/>
                </a:cubicBezTo>
                <a:lnTo>
                  <a:pt x="0" y="291520"/>
                </a:lnTo>
                <a:cubicBezTo>
                  <a:pt x="0" y="130518"/>
                  <a:pt x="130518" y="0"/>
                  <a:pt x="291520" y="0"/>
                </a:cubicBezTo>
                <a:close/>
              </a:path>
            </a:pathLst>
          </a:custGeom>
          <a:blipFill dpi="0" rotWithShape="1">
            <a:blip r:embed="rId2">
              <a:alphaModFix amt="70000"/>
            </a:blip>
            <a:srcRect/>
            <a:stretch>
              <a:fillRect/>
            </a:stretch>
          </a:blipFill>
        </p:spPr>
        <p:txBody>
          <a:bodyPr wrap="square" anchor="t">
            <a:noAutofit/>
          </a:bodyPr>
          <a:lstStyle>
            <a:lvl1pPr marL="0" indent="0">
              <a:buNone/>
              <a:defRPr/>
            </a:lvl1pPr>
          </a:lstStyle>
          <a:p>
            <a:endParaRP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182880" y="6391657"/>
            <a:ext cx="2805405" cy="330466"/>
          </a:xfrm>
        </p:spPr>
        <p:txBody>
          <a:bodyPr/>
          <a:lstStyle>
            <a:lvl1pPr>
              <a:defRPr>
                <a:solidFill>
                  <a:schemeClr val="tx2"/>
                </a:solidFill>
                <a:effectLst/>
              </a:defRPr>
            </a:lvl1pPr>
          </a:lstStyle>
          <a:p>
            <a:r>
              <a:rPr lang="en-US"/>
              <a:t>
              </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137848" y="6391657"/>
            <a:ext cx="3494314" cy="330466"/>
          </a:xfrm>
        </p:spPr>
        <p:txBody>
          <a:bodyPr/>
          <a:lstStyle>
            <a:lvl1pPr algn="r">
              <a:defRPr>
                <a:solidFill>
                  <a:schemeClr val="tx2"/>
                </a:solidFill>
                <a:effectLst/>
              </a:defRPr>
            </a:lvl1pPr>
          </a:lstStyle>
          <a:p>
            <a:fld id="{9961397C-706D-4EB8-B1E1-D1B680D284C3}" type="datetimeFigureOut">
              <a:rPr lang="en-US" dirty="0"/>
              <a:t>9/16/2026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632162" y="6391657"/>
            <a:ext cx="429207" cy="330466"/>
          </a:xfrm>
        </p:spPr>
        <p:txBody>
          <a:bodyPr/>
          <a:lstStyle>
            <a:lvl1pPr>
              <a:defRPr>
                <a:solidFill>
                  <a:schemeClr val="tx2"/>
                </a:solidFill>
                <a:effectLst/>
              </a:defRPr>
            </a:lvl1pPr>
          </a:lstStyle>
          <a:p>
            <a:fld id="{C8116806-1FD2-4A57-B5EA-7014AB76383B}" type="slidenum">
              <a:rPr lang="en-US" dirty="0"/>
              <a:t>‹#›</a:t>
            </a:fld>
            <a:endParaRPr lang="en-US"/>
          </a:p>
        </p:txBody>
      </p:sp>
    </p:spTree>
    <p:extLst>
      <p:ext uri="{BB962C8B-B14F-4D97-AF65-F5344CB8AC3E}">
        <p14:creationId xmlns:p14="http://schemas.microsoft.com/office/powerpoint/2010/main" val="61795251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201B6F81-747A-40C6-B81B-62F051B20082}" type="datetimeFigureOut">
              <a:rPr lang="en-US" dirty="0"/>
              <a:t>9/16/2026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dirty="0"/>
              <a:t>‹#›</a:t>
            </a:fld>
            <a:endParaRPr lang="en-US"/>
          </a:p>
        </p:txBody>
      </p:sp>
    </p:spTree>
    <p:extLst>
      <p:ext uri="{BB962C8B-B14F-4D97-AF65-F5344CB8AC3E}">
        <p14:creationId xmlns:p14="http://schemas.microsoft.com/office/powerpoint/2010/main" val="23561205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660262" y="208754"/>
            <a:ext cx="4066072" cy="3725937"/>
          </a:xfrm>
        </p:spPr>
        <p:txBody>
          <a:bodyPr vert="horz" lIns="91440" tIns="45720" rIns="91440" bIns="45720" rtlCol="0" anchor="t">
            <a:normAutofit/>
          </a:bodyPr>
          <a:lstStyle>
            <a:lvl1pPr>
              <a:defRPr lang="en-US" sz="5000" dirty="0">
                <a:solidFill>
                  <a:schemeClr val="tx2"/>
                </a:solidFill>
              </a:defRPr>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668729" y="4846320"/>
            <a:ext cx="4066072" cy="1380744"/>
          </a:xfrm>
        </p:spPr>
        <p:txBody>
          <a:bodyPr vert="horz" lIns="91440" tIns="45720" rIns="91440" bIns="45720" rtlCol="0" anchor="b">
            <a:normAutofit/>
          </a:bodyPr>
          <a:lstStyle>
            <a:lvl1pPr marL="0" indent="0">
              <a:buNone/>
              <a:defRPr lang="en-US" sz="1600">
                <a:solidFill>
                  <a:schemeClr val="tx2"/>
                </a:solidFill>
              </a:defRPr>
            </a:lvl1pPr>
          </a:lstStyle>
          <a:p>
            <a:pPr lvl="0"/>
            <a:r>
              <a:rPr lang="en-US"/>
              <a:t>Click to edit Master subtitle style</a:t>
            </a:r>
          </a:p>
        </p:txBody>
      </p:sp>
      <p:sp>
        <p:nvSpPr>
          <p:cNvPr id="12" name="Picture Placeholder 11">
            <a:extLst>
              <a:ext uri="{FF2B5EF4-FFF2-40B4-BE49-F238E27FC236}">
                <a16:creationId xmlns:a16="http://schemas.microsoft.com/office/drawing/2014/main" id="{7A934108-77F2-43A6-38EF-C1CDEDD103C2}"/>
              </a:ext>
            </a:extLst>
          </p:cNvPr>
          <p:cNvSpPr>
            <a:spLocks noGrp="1" noChangeAspect="1"/>
          </p:cNvSpPr>
          <p:nvPr>
            <p:ph type="pic" sz="quarter" idx="13" hasCustomPrompt="1"/>
          </p:nvPr>
        </p:nvSpPr>
        <p:spPr>
          <a:xfrm>
            <a:off x="274320" y="266699"/>
            <a:ext cx="7238998" cy="6322891"/>
          </a:xfrm>
          <a:custGeom>
            <a:avLst/>
            <a:gdLst/>
            <a:ahLst/>
            <a:cxnLst/>
            <a:rect l="l" t="t" r="r" b="b"/>
            <a:pathLst>
              <a:path w="7238998" h="6322891">
                <a:moveTo>
                  <a:pt x="291359" y="0"/>
                </a:moveTo>
                <a:lnTo>
                  <a:pt x="6947639" y="0"/>
                </a:lnTo>
                <a:cubicBezTo>
                  <a:pt x="7108552" y="0"/>
                  <a:pt x="7238998" y="130446"/>
                  <a:pt x="7238998" y="291359"/>
                </a:cubicBezTo>
                <a:lnTo>
                  <a:pt x="7238998" y="6031532"/>
                </a:lnTo>
                <a:cubicBezTo>
                  <a:pt x="7238998" y="6192445"/>
                  <a:pt x="7108552" y="6322891"/>
                  <a:pt x="6947639" y="6322891"/>
                </a:cubicBezTo>
                <a:lnTo>
                  <a:pt x="291359" y="6322891"/>
                </a:lnTo>
                <a:cubicBezTo>
                  <a:pt x="130446" y="6322891"/>
                  <a:pt x="0" y="6192445"/>
                  <a:pt x="0" y="6031532"/>
                </a:cubicBezTo>
                <a:lnTo>
                  <a:pt x="0" y="291359"/>
                </a:lnTo>
                <a:cubicBezTo>
                  <a:pt x="0" y="130446"/>
                  <a:pt x="130446" y="0"/>
                  <a:pt x="291359" y="0"/>
                </a:cubicBezTo>
                <a:close/>
              </a:path>
            </a:pathLst>
          </a:custGeom>
          <a:blipFill dpi="0" rotWithShape="1">
            <a:blip r:embed="rId2">
              <a:alphaModFix amt="70000"/>
            </a:blip>
            <a:srcRect/>
            <a:stretch>
              <a:fillRect/>
            </a:stretch>
          </a:blipFill>
        </p:spPr>
        <p:txBody>
          <a:bodyPr wrap="square" anchor="t">
            <a:noAutofit/>
          </a:bodyPr>
          <a:lstStyle>
            <a:lvl1pPr marL="0" indent="0">
              <a:buNone/>
              <a:defRPr/>
            </a:lvl1pPr>
          </a:lstStyle>
          <a:p>
            <a:endParaRP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666481" y="6391656"/>
            <a:ext cx="2703777" cy="338328"/>
          </a:xfrm>
        </p:spPr>
        <p:txBody>
          <a:bodyPr/>
          <a:lstStyle>
            <a:lvl1pPr>
              <a:defRPr>
                <a:solidFill>
                  <a:schemeClr val="tx2"/>
                </a:solidFill>
              </a:defRPr>
            </a:lvl1pPr>
          </a:lstStyle>
          <a:p>
            <a:r>
              <a:rPr lang="en-US"/>
              <a:t>
              </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0477500" y="6391656"/>
            <a:ext cx="1032084" cy="338328"/>
          </a:xfrm>
        </p:spPr>
        <p:txBody>
          <a:bodyPr/>
          <a:lstStyle>
            <a:lvl1pPr>
              <a:defRPr>
                <a:solidFill>
                  <a:schemeClr val="tx2"/>
                </a:solidFill>
                <a:effectLst/>
              </a:defRPr>
            </a:lvl1pPr>
          </a:lstStyle>
          <a:p>
            <a:fld id="{DB19E114-DE0F-4D79-972B-16F4D1534B50}" type="datetimeFigureOut">
              <a:rPr lang="en-US" dirty="0"/>
              <a:t>9/16/2026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509584" y="6388837"/>
            <a:ext cx="457200" cy="338328"/>
          </a:xfrm>
        </p:spPr>
        <p:txBody>
          <a:bodyPr/>
          <a:lstStyle>
            <a:lvl1pPr>
              <a:defRPr>
                <a:solidFill>
                  <a:schemeClr val="tx2"/>
                </a:solidFill>
              </a:defRPr>
            </a:lvl1pPr>
          </a:lstStyle>
          <a:p>
            <a:fld id="{C8116806-1FD2-4A57-B5EA-7014AB76383B}" type="slidenum">
              <a:rPr lang="en-US" dirty="0"/>
              <a:t>‹#›</a:t>
            </a:fld>
            <a:endParaRPr lang="en-US"/>
          </a:p>
        </p:txBody>
      </p:sp>
    </p:spTree>
    <p:extLst>
      <p:ext uri="{BB962C8B-B14F-4D97-AF65-F5344CB8AC3E}">
        <p14:creationId xmlns:p14="http://schemas.microsoft.com/office/powerpoint/2010/main" val="203231468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018598" y="1529542"/>
            <a:ext cx="8154804" cy="2323883"/>
          </a:xfrm>
        </p:spPr>
        <p:txBody>
          <a:bodyPr anchor="b">
            <a:normAutofit/>
          </a:bodyPr>
          <a:lstStyle>
            <a:lvl1pPr algn="ctr">
              <a:defRPr sz="5400">
                <a:solidFill>
                  <a:schemeClr val="tx2"/>
                </a:solidFill>
              </a:defRPr>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110715" y="4053504"/>
            <a:ext cx="5970570" cy="1072678"/>
          </a:xfrm>
        </p:spPr>
        <p:txBody>
          <a:bodyPr anchor="t">
            <a:normAutofit/>
          </a:bodyPr>
          <a:lstStyle>
            <a:lvl1pPr marL="0" indent="0" algn="ctr">
              <a:buNone/>
              <a:defRPr sz="1600">
                <a:solidFill>
                  <a:schemeClr val="tx2"/>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2"/>
                </a:solidFill>
              </a:defRPr>
            </a:lvl1pPr>
          </a:lstStyle>
          <a:p>
            <a:r>
              <a:rPr lang="en-US"/>
              <a:t>
              </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2"/>
                </a:solidFill>
              </a:defRPr>
            </a:lvl1pPr>
          </a:lstStyle>
          <a:p>
            <a:fld id="{454ACAC3-7932-4379-B917-F7F78C6F24BE}" type="datetimeFigureOut">
              <a:rPr lang="en-US" dirty="0"/>
              <a:t>9/16/2026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2"/>
                </a:solidFill>
              </a:defRPr>
            </a:lvl1pPr>
          </a:lstStyle>
          <a:p>
            <a:fld id="{C8116806-1FD2-4A57-B5EA-7014AB76383B}" type="slidenum">
              <a:rPr lang="en-US" dirty="0"/>
              <a:t>‹#›</a:t>
            </a:fld>
            <a:endParaRPr lang="en-US"/>
          </a:p>
        </p:txBody>
      </p:sp>
    </p:spTree>
    <p:extLst>
      <p:ext uri="{BB962C8B-B14F-4D97-AF65-F5344CB8AC3E}">
        <p14:creationId xmlns:p14="http://schemas.microsoft.com/office/powerpoint/2010/main" val="426618970"/>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157729" y="3200400"/>
            <a:ext cx="9002895" cy="3582184"/>
          </a:xfrm>
        </p:spPr>
        <p:txBody>
          <a:bodyPr anchor="b">
            <a:normAutofit/>
          </a:bodyPr>
          <a:lstStyle>
            <a:lvl1pPr>
              <a:defRPr sz="6900">
                <a:solidFill>
                  <a:schemeClr val="tx2"/>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9F1849E7-8E94-3B02-239C-AAB481596BFD}"/>
              </a:ext>
            </a:extLst>
          </p:cNvPr>
          <p:cNvSpPr>
            <a:spLocks noGrp="1"/>
          </p:cNvSpPr>
          <p:nvPr>
            <p:ph type="ftr" sz="quarter" idx="11"/>
          </p:nvPr>
        </p:nvSpPr>
        <p:spPr>
          <a:xfrm>
            <a:off x="178704" y="141216"/>
            <a:ext cx="2703777" cy="338328"/>
          </a:xfrm>
        </p:spPr>
        <p:txBody>
          <a:bodyPr/>
          <a:lstStyle>
            <a:lvl1pPr>
              <a:defRPr>
                <a:solidFill>
                  <a:schemeClr val="tx2"/>
                </a:solidFill>
              </a:defRPr>
            </a:lvl1pPr>
          </a:lstStyle>
          <a:p>
            <a:r>
              <a:rPr lang="en-US"/>
              <a:t>
              </a:t>
            </a:r>
          </a:p>
        </p:txBody>
      </p:sp>
      <p:sp>
        <p:nvSpPr>
          <p:cNvPr id="4" name="Date Placeholder 3">
            <a:extLst>
              <a:ext uri="{FF2B5EF4-FFF2-40B4-BE49-F238E27FC236}">
                <a16:creationId xmlns:a16="http://schemas.microsoft.com/office/drawing/2014/main" id="{8F845713-EE4C-7615-B812-531C14CF0CA2}"/>
              </a:ext>
            </a:extLst>
          </p:cNvPr>
          <p:cNvSpPr>
            <a:spLocks noGrp="1"/>
          </p:cNvSpPr>
          <p:nvPr>
            <p:ph type="dt" sz="half" idx="10"/>
          </p:nvPr>
        </p:nvSpPr>
        <p:spPr>
          <a:xfrm>
            <a:off x="10477500" y="141216"/>
            <a:ext cx="1032084" cy="338328"/>
          </a:xfrm>
        </p:spPr>
        <p:txBody>
          <a:bodyPr/>
          <a:lstStyle>
            <a:lvl1pPr>
              <a:defRPr>
                <a:solidFill>
                  <a:schemeClr val="tx2"/>
                </a:solidFill>
              </a:defRPr>
            </a:lvl1pPr>
          </a:lstStyle>
          <a:p>
            <a:fld id="{CBB9144B-27A2-4831-A05B-9434A462331E}" type="datetimeFigureOut">
              <a:rPr lang="en-US" dirty="0"/>
              <a:t>9/16/2026</a:t>
            </a:fld>
            <a:endParaRPr lang="en-US"/>
          </a:p>
        </p:txBody>
      </p:sp>
      <p:sp>
        <p:nvSpPr>
          <p:cNvPr id="6" name="Slide Number Placeholder 5">
            <a:extLst>
              <a:ext uri="{FF2B5EF4-FFF2-40B4-BE49-F238E27FC236}">
                <a16:creationId xmlns:a16="http://schemas.microsoft.com/office/drawing/2014/main" id="{70644BD7-C050-D052-8408-65ADAAF674FF}"/>
              </a:ext>
            </a:extLst>
          </p:cNvPr>
          <p:cNvSpPr>
            <a:spLocks noGrp="1"/>
          </p:cNvSpPr>
          <p:nvPr>
            <p:ph type="sldNum" sz="quarter" idx="12"/>
          </p:nvPr>
        </p:nvSpPr>
        <p:spPr>
          <a:xfrm>
            <a:off x="11509584" y="141216"/>
            <a:ext cx="457200" cy="338328"/>
          </a:xfrm>
        </p:spPr>
        <p:txBody>
          <a:bodyPr/>
          <a:lstStyle>
            <a:lvl1pPr>
              <a:defRPr>
                <a:solidFill>
                  <a:schemeClr val="tx2"/>
                </a:solidFill>
              </a:defRPr>
            </a:lvl1pPr>
          </a:lstStyle>
          <a:p>
            <a:fld id="{C8116806-1FD2-4A57-B5EA-7014AB76383B}" type="slidenum">
              <a:rPr lang="en-US" dirty="0"/>
              <a:t>‹#›</a:t>
            </a:fld>
            <a:endParaRPr lang="en-US"/>
          </a:p>
        </p:txBody>
      </p:sp>
    </p:spTree>
    <p:extLst>
      <p:ext uri="{BB962C8B-B14F-4D97-AF65-F5344CB8AC3E}">
        <p14:creationId xmlns:p14="http://schemas.microsoft.com/office/powerpoint/2010/main" val="3548431142"/>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33815" y="189689"/>
            <a:ext cx="11341905" cy="1629485"/>
          </a:xfrm>
        </p:spPr>
        <p:txBody>
          <a:bodyPr anchor="t">
            <a:normAutofit/>
          </a:bodyPr>
          <a:lstStyle>
            <a:lvl1pPr>
              <a:defRPr sz="7600" baseline="0"/>
            </a:lvl1pPr>
          </a:lstStyle>
          <a:p>
            <a:r>
              <a:rPr lang="en-US"/>
              <a:t>Click to edit Master title style</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096000" y="2362200"/>
            <a:ext cx="5829300" cy="3810000"/>
          </a:xfrm>
        </p:spPr>
        <p:txBody>
          <a:bodyPr vert="horz" lIns="91440" tIns="45720" rIns="91440" bIns="45720" rtlCol="0" anchor="b">
            <a:normAutofit/>
          </a:bodyPr>
          <a:lstStyle>
            <a:lvl1pPr marL="457200" indent="-457200">
              <a:buFont typeface="+mj-lt"/>
              <a:buAutoNum type="arabicPeriod"/>
              <a:defRPr lang="en-US" sz="1600" dirty="0"/>
            </a:lvl1pPr>
            <a:lvl2pPr marL="571500" indent="-342900">
              <a:buFont typeface="+mj-lt"/>
              <a:buAutoNum type="arabicPeriod"/>
              <a:defRPr lang="en-US" sz="1600" dirty="0"/>
            </a:lvl2pPr>
            <a:lvl3pPr marL="800100" indent="-342900">
              <a:buFont typeface="+mj-lt"/>
              <a:buAutoNum type="arabicPeriod"/>
              <a:defRPr lang="en-US" sz="1600" dirty="0"/>
            </a:lvl3pPr>
            <a:lvl4pPr>
              <a:buFont typeface="+mj-lt"/>
              <a:buAutoNum type="arabicPeriod"/>
              <a:defRPr lang="en-US" sz="1600" dirty="0"/>
            </a:lvl4pPr>
            <a:lvl5pPr>
              <a:buFont typeface="+mj-lt"/>
              <a:buAutoNum type="arabicPeriod"/>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
              </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F5895950-DBB3-436C-A1DD-7D3C30A336E3}" type="datetimeFigureOut">
              <a:rPr lang="en-US" dirty="0"/>
              <a:t>9/16/2026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8116806-1FD2-4A57-B5EA-7014AB76383B}" type="slidenum">
              <a:rPr lang="en-US" dirty="0"/>
              <a:t>‹#›</a:t>
            </a:fld>
            <a:endParaRPr lang="en-US"/>
          </a:p>
        </p:txBody>
      </p:sp>
    </p:spTree>
    <p:extLst>
      <p:ext uri="{BB962C8B-B14F-4D97-AF65-F5344CB8AC3E}">
        <p14:creationId xmlns:p14="http://schemas.microsoft.com/office/powerpoint/2010/main" val="1045936614"/>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82880" y="4061862"/>
            <a:ext cx="5913120" cy="2268359"/>
          </a:xfrm>
        </p:spPr>
        <p:txBody>
          <a:bodyPr anchor="t">
            <a:normAutofit/>
          </a:bodyPr>
          <a:lstStyle>
            <a:lvl1pPr>
              <a:defRPr sz="5800"/>
            </a:lvl1pPr>
          </a:lstStyle>
          <a:p>
            <a:r>
              <a:rPr lang="en-US"/>
              <a:t>Click to edit Master title style</a:t>
            </a:r>
          </a:p>
        </p:txBody>
      </p:sp>
      <p:sp>
        <p:nvSpPr>
          <p:cNvPr id="16" name="Picture Placeholder 15">
            <a:extLst>
              <a:ext uri="{FF2B5EF4-FFF2-40B4-BE49-F238E27FC236}">
                <a16:creationId xmlns:a16="http://schemas.microsoft.com/office/drawing/2014/main" id="{F88BC23C-4171-DFCF-3175-10D2602FF561}"/>
              </a:ext>
            </a:extLst>
          </p:cNvPr>
          <p:cNvSpPr>
            <a:spLocks noGrp="1" noChangeAspect="1"/>
          </p:cNvSpPr>
          <p:nvPr>
            <p:ph type="pic" sz="quarter" idx="14" hasCustomPrompt="1"/>
          </p:nvPr>
        </p:nvSpPr>
        <p:spPr>
          <a:xfrm>
            <a:off x="274320" y="268508"/>
            <a:ext cx="11649456" cy="3609085"/>
          </a:xfrm>
          <a:custGeom>
            <a:avLst/>
            <a:gdLst/>
            <a:ahLst/>
            <a:cxnLst/>
            <a:rect l="l" t="t" r="r" b="b"/>
            <a:pathLst>
              <a:path w="11658600" h="3609085">
                <a:moveTo>
                  <a:pt x="283385" y="0"/>
                </a:moveTo>
                <a:lnTo>
                  <a:pt x="11375215" y="0"/>
                </a:lnTo>
                <a:cubicBezTo>
                  <a:pt x="11531724" y="0"/>
                  <a:pt x="11658600" y="126876"/>
                  <a:pt x="11658600" y="283385"/>
                </a:cubicBezTo>
                <a:lnTo>
                  <a:pt x="11658600" y="3325700"/>
                </a:lnTo>
                <a:cubicBezTo>
                  <a:pt x="11658600" y="3482209"/>
                  <a:pt x="11531724" y="3609085"/>
                  <a:pt x="11375215" y="3609085"/>
                </a:cubicBezTo>
                <a:lnTo>
                  <a:pt x="283385" y="3609085"/>
                </a:lnTo>
                <a:cubicBezTo>
                  <a:pt x="126876" y="3609085"/>
                  <a:pt x="0" y="3482209"/>
                  <a:pt x="0" y="3325700"/>
                </a:cubicBezTo>
                <a:lnTo>
                  <a:pt x="0" y="283385"/>
                </a:lnTo>
                <a:cubicBezTo>
                  <a:pt x="0" y="126876"/>
                  <a:pt x="126876" y="0"/>
                  <a:pt x="283385" y="0"/>
                </a:cubicBezTo>
                <a:close/>
              </a:path>
            </a:pathLst>
          </a:custGeom>
          <a:blipFill>
            <a:blip r:embed="rId2">
              <a:alphaModFix amt="60000"/>
            </a:blip>
            <a:stretch>
              <a:fillRect/>
            </a:stretch>
          </a:blipFill>
        </p:spPr>
        <p:txBody>
          <a:bodyPr wrap="square" anchor="t">
            <a:noAutofit/>
          </a:bodyPr>
          <a:lstStyle>
            <a:lvl1pPr marL="0" indent="0">
              <a:buNone/>
              <a:defRPr/>
            </a:lvl1pPr>
          </a:lstStyle>
          <a:p>
            <a:endParaRP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515973" y="4039118"/>
            <a:ext cx="4419601" cy="2268360"/>
          </a:xfrm>
        </p:spPr>
        <p:txBody>
          <a:bodyPr vert="horz" lIns="91440" tIns="45720" rIns="91440" bIns="45720" rtlCol="0">
            <a:normAutofit/>
          </a:bodyPr>
          <a:lstStyle>
            <a:lvl1pPr marL="342900" indent="-342900">
              <a:buFont typeface="+mj-lt"/>
              <a:buAutoNum type="arabicPeriod"/>
              <a:defRPr lang="en-US" sz="1400" dirty="0"/>
            </a:lvl1pPr>
            <a:lvl2pPr marL="571500" indent="-342900">
              <a:buFont typeface="+mj-lt"/>
              <a:buAutoNum type="arabicPeriod"/>
              <a:defRPr lang="en-US" sz="1400" dirty="0"/>
            </a:lvl2pPr>
            <a:lvl3pPr marL="800100" indent="-342900">
              <a:buFont typeface="+mj-lt"/>
              <a:buAutoNum type="arabicPeriod"/>
              <a:defRPr lang="en-US" sz="1400" dirty="0"/>
            </a:lvl3pPr>
            <a:lvl4pPr>
              <a:buFont typeface="+mj-lt"/>
              <a:buAutoNum type="arabicPeriod"/>
              <a:defRPr lang="en-US" sz="1400" dirty="0"/>
            </a:lvl4pPr>
            <a:lvl5pPr>
              <a:buFont typeface="+mj-lt"/>
              <a:buAutoNum type="arabicPeriod"/>
              <a:defRPr lang="en-US" sz="1400" dirty="0"/>
            </a:lvl5pPr>
          </a:lstStyle>
          <a:p>
            <a:pPr marL="228600" lvl="0" indent="-228600"/>
            <a:r>
              <a:rPr lang="en-US"/>
              <a:t>Click to edit Master text styles</a:t>
            </a:r>
          </a:p>
          <a:p>
            <a:pPr marL="228600" lvl="1" indent="-228600"/>
            <a:r>
              <a:rPr lang="en-US"/>
              <a:t>Second level</a:t>
            </a:r>
          </a:p>
          <a:p>
            <a:pPr marL="228600" lvl="2" indent="-228600"/>
            <a:r>
              <a:rPr lang="en-US"/>
              <a:t>Third level</a:t>
            </a:r>
          </a:p>
          <a:p>
            <a:pPr marL="228600" lvl="3" indent="-228600"/>
            <a:r>
              <a:rPr lang="en-US"/>
              <a:t>Fourth level</a:t>
            </a:r>
          </a:p>
          <a:p>
            <a:pPr marL="228600" lvl="4" indent="-228600"/>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82880" y="6387737"/>
            <a:ext cx="2703777" cy="338328"/>
          </a:xfrm>
        </p:spPr>
        <p:txBody>
          <a:bodyPr/>
          <a:lstStyle/>
          <a:p>
            <a:r>
              <a:rPr lang="en-US"/>
              <a:t>
              </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15ECDF8E-0DD2-43D3-8D07-9F3C411EACC9}" type="datetimeFigureOut">
              <a:rPr lang="en-US" dirty="0"/>
              <a:t>9/16/2026</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C8116806-1FD2-4A57-B5EA-7014AB76383B}" type="slidenum">
              <a:rPr lang="en-US" dirty="0"/>
              <a:t>‹#›</a:t>
            </a:fld>
            <a:endParaRPr lang="en-US"/>
          </a:p>
        </p:txBody>
      </p:sp>
    </p:spTree>
    <p:extLst>
      <p:ext uri="{BB962C8B-B14F-4D97-AF65-F5344CB8AC3E}">
        <p14:creationId xmlns:p14="http://schemas.microsoft.com/office/powerpoint/2010/main" val="3719913618"/>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225131" y="1638299"/>
            <a:ext cx="3314700" cy="3873268"/>
          </a:xfrm>
        </p:spPr>
        <p:txBody>
          <a:bodyPr anchor="t">
            <a:normAutofit/>
          </a:bodyPr>
          <a:lstStyle>
            <a:lvl1pPr>
              <a:defRPr sz="30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901019" y="1638299"/>
            <a:ext cx="6080760" cy="387326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BDEB97BB-FABD-465F-A92A-114DD4401A7A}" type="datetimeFigureOut">
              <a:rPr lang="en-US" dirty="0"/>
              <a:t>9/16/2026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dirty="0"/>
              <a:t>‹#›</a:t>
            </a:fld>
            <a:endParaRPr lang="en-US"/>
          </a:p>
        </p:txBody>
      </p:sp>
    </p:spTree>
    <p:extLst>
      <p:ext uri="{BB962C8B-B14F-4D97-AF65-F5344CB8AC3E}">
        <p14:creationId xmlns:p14="http://schemas.microsoft.com/office/powerpoint/2010/main" val="2312536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2880" y="219456"/>
            <a:ext cx="3310394" cy="4058127"/>
          </a:xfrm>
        </p:spPr>
        <p:txBody>
          <a:bodyPr anchor="t">
            <a:normAutofit/>
          </a:bodyPr>
          <a:lstStyle>
            <a:lvl1pPr>
              <a:defRPr sz="30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972674" y="266700"/>
            <a:ext cx="7688495" cy="6047836"/>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C42A6678-B47B-4355-B5D6-D7B9669114D3}" type="datetimeFigureOut">
              <a:rPr lang="en-US" dirty="0"/>
              <a:t>9/16/2026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dirty="0"/>
              <a:t>‹#›</a:t>
            </a:fld>
            <a:endParaRPr lang="en-US"/>
          </a:p>
        </p:txBody>
      </p:sp>
    </p:spTree>
    <p:extLst>
      <p:ext uri="{BB962C8B-B14F-4D97-AF65-F5344CB8AC3E}">
        <p14:creationId xmlns:p14="http://schemas.microsoft.com/office/powerpoint/2010/main" val="232272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19525" y="219456"/>
            <a:ext cx="6376547" cy="1066006"/>
          </a:xfrm>
        </p:spPr>
        <p:txBody>
          <a:bodyPr anchor="t"/>
          <a:lstStyle/>
          <a:p>
            <a:r>
              <a:rPr lang="en-US"/>
              <a:t>Click to edit Master title style</a:t>
            </a:r>
          </a:p>
        </p:txBody>
      </p:sp>
      <p:sp>
        <p:nvSpPr>
          <p:cNvPr id="10" name="Picture Placeholder 9">
            <a:extLst>
              <a:ext uri="{FF2B5EF4-FFF2-40B4-BE49-F238E27FC236}">
                <a16:creationId xmlns:a16="http://schemas.microsoft.com/office/drawing/2014/main" id="{AC455FC9-9346-2F53-C58C-5C64036CD926}"/>
              </a:ext>
            </a:extLst>
          </p:cNvPr>
          <p:cNvSpPr>
            <a:spLocks noGrp="1" noChangeAspect="1"/>
          </p:cNvSpPr>
          <p:nvPr>
            <p:ph type="pic" sz="quarter" idx="13" hasCustomPrompt="1"/>
          </p:nvPr>
        </p:nvSpPr>
        <p:spPr>
          <a:xfrm>
            <a:off x="274320" y="268573"/>
            <a:ext cx="4419600" cy="6325969"/>
          </a:xfrm>
          <a:custGeom>
            <a:avLst/>
            <a:gdLst/>
            <a:ahLst/>
            <a:cxnLst/>
            <a:rect l="l" t="t" r="r" b="b"/>
            <a:pathLst>
              <a:path w="4381500" h="6290961">
                <a:moveTo>
                  <a:pt x="300746" y="0"/>
                </a:moveTo>
                <a:lnTo>
                  <a:pt x="4080754" y="0"/>
                </a:lnTo>
                <a:cubicBezTo>
                  <a:pt x="4246851" y="0"/>
                  <a:pt x="4381500" y="134649"/>
                  <a:pt x="4381500" y="300746"/>
                </a:cubicBezTo>
                <a:lnTo>
                  <a:pt x="4381500" y="5990215"/>
                </a:lnTo>
                <a:cubicBezTo>
                  <a:pt x="4381500" y="6156312"/>
                  <a:pt x="4246851" y="6290961"/>
                  <a:pt x="4080754" y="6290961"/>
                </a:cubicBezTo>
                <a:lnTo>
                  <a:pt x="300746" y="6290961"/>
                </a:lnTo>
                <a:cubicBezTo>
                  <a:pt x="134649" y="6290961"/>
                  <a:pt x="0" y="6156312"/>
                  <a:pt x="0" y="5990215"/>
                </a:cubicBezTo>
                <a:lnTo>
                  <a:pt x="0" y="300746"/>
                </a:lnTo>
                <a:cubicBezTo>
                  <a:pt x="0" y="134649"/>
                  <a:pt x="134649" y="0"/>
                  <a:pt x="300746" y="0"/>
                </a:cubicBezTo>
                <a:close/>
              </a:path>
            </a:pathLst>
          </a:custGeom>
          <a:blipFill dpi="0" rotWithShape="1">
            <a:blip r:embed="rId2">
              <a:alphaModFix amt="60000"/>
            </a:blip>
            <a:srcRect/>
            <a:stretch>
              <a:fillRect/>
            </a:stretch>
          </a:blipFill>
        </p:spPr>
        <p:txBody>
          <a:bodyPr wrap="square" anchor="t">
            <a:noAutofit/>
          </a:bodyPr>
          <a:lstStyle>
            <a:lvl1pPr marL="0" indent="0">
              <a:buNone/>
              <a:defRPr/>
            </a:lvl1pPr>
          </a:lstStyle>
          <a:p>
            <a:endParaRP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919526" y="1285462"/>
            <a:ext cx="6376546" cy="4986355"/>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919526" y="6387737"/>
            <a:ext cx="2703777" cy="338328"/>
          </a:xfrm>
        </p:spPr>
        <p:txBody>
          <a:body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4C4801C4-BD33-47CA-B204-FEE9BA7A0B92}" type="datetimeFigureOut">
              <a:rPr lang="en-US" dirty="0"/>
              <a:t>9/16/2026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dirty="0"/>
              <a:t>‹#›</a:t>
            </a:fld>
            <a:endParaRPr lang="en-US"/>
          </a:p>
        </p:txBody>
      </p:sp>
    </p:spTree>
    <p:extLst>
      <p:ext uri="{BB962C8B-B14F-4D97-AF65-F5344CB8AC3E}">
        <p14:creationId xmlns:p14="http://schemas.microsoft.com/office/powerpoint/2010/main" val="14032610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188702" y="219456"/>
            <a:ext cx="7241297" cy="923544"/>
          </a:xfrm>
        </p:spPr>
        <p:txBody>
          <a:bodyPr anchor="t"/>
          <a:lstStyle>
            <a:lvl1pPr>
              <a:defRPr/>
            </a:lvl1pPr>
          </a:lstStyle>
          <a:p>
            <a:r>
              <a:rPr lang="en-US"/>
              <a:t>Click to edit Master title style</a:t>
            </a:r>
          </a:p>
        </p:txBody>
      </p:sp>
      <p:sp>
        <p:nvSpPr>
          <p:cNvPr id="20" name="Picture Placeholder 9">
            <a:extLst>
              <a:ext uri="{FF2B5EF4-FFF2-40B4-BE49-F238E27FC236}">
                <a16:creationId xmlns:a16="http://schemas.microsoft.com/office/drawing/2014/main" id="{FC55F3DB-E75F-ADDF-8222-D3F62F2CCE82}"/>
              </a:ext>
            </a:extLst>
          </p:cNvPr>
          <p:cNvSpPr>
            <a:spLocks noGrp="1" noChangeAspect="1"/>
          </p:cNvSpPr>
          <p:nvPr>
            <p:ph type="pic" sz="quarter" idx="13" hasCustomPrompt="1"/>
          </p:nvPr>
        </p:nvSpPr>
        <p:spPr>
          <a:xfrm>
            <a:off x="274320" y="268573"/>
            <a:ext cx="3675888" cy="6327648"/>
          </a:xfrm>
          <a:custGeom>
            <a:avLst/>
            <a:gdLst/>
            <a:ahLst/>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4"/>
                </a:lnTo>
                <a:lnTo>
                  <a:pt x="105939" y="6252721"/>
                </a:lnTo>
                <a:lnTo>
                  <a:pt x="51500" y="6192635"/>
                </a:lnTo>
                <a:lnTo>
                  <a:pt x="16622" y="6119873"/>
                </a:lnTo>
                <a:lnTo>
                  <a:pt x="12537"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chor="t">
            <a:noAutofit/>
          </a:bodyPr>
          <a:lstStyle>
            <a:lvl1pPr marL="0" indent="0">
              <a:buNone/>
              <a:defRPr/>
            </a:lvl1pPr>
          </a:lstStyle>
          <a:p>
            <a:endParaRP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188702"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188702" y="6382981"/>
            <a:ext cx="2703777" cy="338328"/>
          </a:xfrm>
        </p:spPr>
        <p:txBody>
          <a:body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07BBC631-32E9-41B5-A4D6-F9BADFAA6AF1}" type="datetimeFigureOut">
              <a:rPr lang="en-US" dirty="0"/>
              <a:t>9/16/2026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dirty="0"/>
              <a:t>‹#›</a:t>
            </a:fld>
            <a:endParaRPr lang="en-US"/>
          </a:p>
        </p:txBody>
      </p:sp>
    </p:spTree>
    <p:extLst>
      <p:ext uri="{BB962C8B-B14F-4D97-AF65-F5344CB8AC3E}">
        <p14:creationId xmlns:p14="http://schemas.microsoft.com/office/powerpoint/2010/main" val="31948809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7241297" cy="923544"/>
          </a:xfrm>
        </p:spPr>
        <p:txBody>
          <a:bodyPr anchor="t"/>
          <a:lstStyle>
            <a:lvl1pPr>
              <a:defRPr/>
            </a:lvl1pPr>
          </a:lstStyle>
          <a:p>
            <a:r>
              <a:rPr lang="en-US"/>
              <a:t>Click to edit Master title style</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182880" y="1143000"/>
            <a:ext cx="7241298" cy="523951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2880" y="6382981"/>
            <a:ext cx="2703777" cy="338328"/>
          </a:xfrm>
        </p:spPr>
        <p:txBody>
          <a:body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392093" y="6387128"/>
            <a:ext cx="1032084" cy="338328"/>
          </a:xfrm>
        </p:spPr>
        <p:txBody>
          <a:bodyPr/>
          <a:lstStyle>
            <a:lvl1pPr>
              <a:defRPr>
                <a:solidFill>
                  <a:schemeClr val="tx1"/>
                </a:solidFill>
                <a:effectLst/>
              </a:defRPr>
            </a:lvl1pPr>
          </a:lstStyle>
          <a:p>
            <a:fld id="{A84DF367-E34D-4C28-A660-DCABBED01BCF}" type="datetimeFigureOut">
              <a:rPr lang="en-US" dirty="0"/>
              <a:t>9/16/2026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7424177" y="6387128"/>
            <a:ext cx="457200" cy="338328"/>
          </a:xfrm>
        </p:spPr>
        <p:txBody>
          <a:bodyPr/>
          <a:lstStyle/>
          <a:p>
            <a:fld id="{C8116806-1FD2-4A57-B5EA-7014AB76383B}" type="slidenum">
              <a:rPr lang="en-US" dirty="0"/>
              <a:t>‹#›</a:t>
            </a:fld>
            <a:endParaRPr lang="en-US"/>
          </a:p>
        </p:txBody>
      </p:sp>
      <p:sp>
        <p:nvSpPr>
          <p:cNvPr id="4" name="Picture Placeholder 9">
            <a:extLst>
              <a:ext uri="{FF2B5EF4-FFF2-40B4-BE49-F238E27FC236}">
                <a16:creationId xmlns:a16="http://schemas.microsoft.com/office/drawing/2014/main" id="{F47C8A4F-E753-8148-3650-49C421EB5479}"/>
              </a:ext>
            </a:extLst>
          </p:cNvPr>
          <p:cNvSpPr>
            <a:spLocks noGrp="1" noChangeAspect="1"/>
          </p:cNvSpPr>
          <p:nvPr>
            <p:ph type="pic" sz="quarter" idx="13" hasCustomPrompt="1"/>
          </p:nvPr>
        </p:nvSpPr>
        <p:spPr>
          <a:xfrm>
            <a:off x="8249412" y="268573"/>
            <a:ext cx="3675888" cy="6327648"/>
          </a:xfrm>
          <a:custGeom>
            <a:avLst/>
            <a:gdLst/>
            <a:ahLst/>
            <a:cxnLst/>
            <a:rect l="l" t="t" r="r" b="b"/>
            <a:pathLst>
              <a:path w="3675888" h="6320854">
                <a:moveTo>
                  <a:pt x="301545" y="0"/>
                </a:moveTo>
                <a:lnTo>
                  <a:pt x="3375347" y="0"/>
                </a:lnTo>
                <a:cubicBezTo>
                  <a:pt x="3541331" y="0"/>
                  <a:pt x="3675888" y="134557"/>
                  <a:pt x="3675888" y="300541"/>
                </a:cubicBezTo>
                <a:lnTo>
                  <a:pt x="3675888" y="6025428"/>
                </a:lnTo>
                <a:cubicBezTo>
                  <a:pt x="3675888" y="6149916"/>
                  <a:pt x="3600200" y="6256727"/>
                  <a:pt x="3492331" y="6302351"/>
                </a:cubicBezTo>
                <a:lnTo>
                  <a:pt x="3400682" y="6320854"/>
                </a:lnTo>
                <a:lnTo>
                  <a:pt x="275206" y="6320854"/>
                </a:lnTo>
                <a:lnTo>
                  <a:pt x="186647" y="6302975"/>
                </a:lnTo>
                <a:lnTo>
                  <a:pt x="184171" y="6302204"/>
                </a:lnTo>
                <a:lnTo>
                  <a:pt x="114619" y="6259883"/>
                </a:lnTo>
                <a:lnTo>
                  <a:pt x="105939" y="6252722"/>
                </a:lnTo>
                <a:lnTo>
                  <a:pt x="51500" y="6192635"/>
                </a:lnTo>
                <a:lnTo>
                  <a:pt x="16622" y="6119873"/>
                </a:lnTo>
                <a:lnTo>
                  <a:pt x="12538" y="6106716"/>
                </a:lnTo>
                <a:lnTo>
                  <a:pt x="0" y="6023550"/>
                </a:lnTo>
                <a:lnTo>
                  <a:pt x="0" y="302420"/>
                </a:lnTo>
                <a:cubicBezTo>
                  <a:pt x="0" y="135398"/>
                  <a:pt x="135007" y="0"/>
                  <a:pt x="301545" y="0"/>
                </a:cubicBezTo>
                <a:close/>
              </a:path>
            </a:pathLst>
          </a:custGeom>
          <a:blipFill dpi="0" rotWithShape="1">
            <a:blip r:embed="rId2">
              <a:alphaModFix amt="60000"/>
            </a:blip>
            <a:srcRect/>
            <a:stretch>
              <a:fillRect/>
            </a:stretch>
          </a:blipFill>
        </p:spPr>
        <p:txBody>
          <a:bodyPr wrap="square" anchor="t">
            <a:noAutofit/>
          </a:bodyPr>
          <a:lstStyle>
            <a:lvl1pPr marL="0" indent="0">
              <a:buNone/>
              <a:defRPr/>
            </a:lvl1pPr>
          </a:lstStyle>
          <a:p>
            <a:endParaRPr/>
          </a:p>
        </p:txBody>
      </p:sp>
    </p:spTree>
    <p:extLst>
      <p:ext uri="{BB962C8B-B14F-4D97-AF65-F5344CB8AC3E}">
        <p14:creationId xmlns:p14="http://schemas.microsoft.com/office/powerpoint/2010/main" val="35826323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5" y="219456"/>
            <a:ext cx="4717429" cy="1180888"/>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85855" y="1400344"/>
            <a:ext cx="4729045" cy="4871473"/>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588172" y="6390795"/>
            <a:ext cx="1298784" cy="338328"/>
          </a:xfrm>
        </p:spPr>
        <p:txBody>
          <a:bodyPr/>
          <a:lstStyle/>
          <a:p>
            <a:fld id="{5489A3B8-AADB-439D-85B5-E9ACAFD37972}" type="datetimeFigureOut">
              <a:rPr lang="en-US" dirty="0"/>
              <a:t>9/16/2026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886956" y="6390795"/>
            <a:ext cx="457200" cy="338328"/>
          </a:xfrm>
        </p:spPr>
        <p:txBody>
          <a:bodyPr/>
          <a:lstStyle>
            <a:lvl1pPr>
              <a:defRPr>
                <a:solidFill>
                  <a:schemeClr val="tx1"/>
                </a:solidFill>
                <a:effectLst/>
              </a:defRPr>
            </a:lvl1pPr>
          </a:lstStyle>
          <a:p>
            <a:fld id="{C8116806-1FD2-4A57-B5EA-7014AB76383B}" type="slidenum">
              <a:rPr lang="en-US" dirty="0"/>
              <a:t>‹#›</a:t>
            </a:fld>
            <a:endParaRPr lang="en-US"/>
          </a:p>
        </p:txBody>
      </p:sp>
      <p:sp>
        <p:nvSpPr>
          <p:cNvPr id="4" name="Picture Placeholder 3">
            <a:extLst>
              <a:ext uri="{FF2B5EF4-FFF2-40B4-BE49-F238E27FC236}">
                <a16:creationId xmlns:a16="http://schemas.microsoft.com/office/drawing/2014/main" id="{00846273-A5CB-BDCB-C625-903F863EC307}"/>
              </a:ext>
            </a:extLst>
          </p:cNvPr>
          <p:cNvSpPr>
            <a:spLocks noGrp="1" noChangeAspect="1"/>
          </p:cNvSpPr>
          <p:nvPr>
            <p:ph type="pic" sz="quarter" idx="13" hasCustomPrompt="1"/>
          </p:nvPr>
        </p:nvSpPr>
        <p:spPr>
          <a:xfrm>
            <a:off x="5600703" y="266700"/>
            <a:ext cx="6324469" cy="6324600"/>
          </a:xfrm>
          <a:custGeom>
            <a:avLst/>
            <a:gdLst/>
            <a:ahLst/>
            <a:cxnLst/>
            <a:rect l="l" t="t" r="r" b="b"/>
            <a:pathLst>
              <a:path w="6111507" h="6172338">
                <a:moveTo>
                  <a:pt x="269395" y="0"/>
                </a:moveTo>
                <a:lnTo>
                  <a:pt x="5842112" y="0"/>
                </a:lnTo>
                <a:cubicBezTo>
                  <a:pt x="5990895" y="0"/>
                  <a:pt x="6111507" y="120052"/>
                  <a:pt x="6111507" y="268145"/>
                </a:cubicBezTo>
                <a:lnTo>
                  <a:pt x="6111507" y="5904194"/>
                </a:lnTo>
                <a:cubicBezTo>
                  <a:pt x="6111507" y="6052286"/>
                  <a:pt x="5990895" y="6172338"/>
                  <a:pt x="5842112" y="6172338"/>
                </a:cubicBezTo>
                <a:lnTo>
                  <a:pt x="269395" y="6172338"/>
                </a:lnTo>
                <a:cubicBezTo>
                  <a:pt x="120612" y="6172338"/>
                  <a:pt x="0" y="6052286"/>
                  <a:pt x="0" y="5904194"/>
                </a:cubicBezTo>
                <a:lnTo>
                  <a:pt x="0" y="268145"/>
                </a:lnTo>
                <a:cubicBezTo>
                  <a:pt x="0" y="120052"/>
                  <a:pt x="120612" y="0"/>
                  <a:pt x="269395" y="0"/>
                </a:cubicBezTo>
                <a:close/>
              </a:path>
            </a:pathLst>
          </a:custGeom>
          <a:blipFill dpi="0" rotWithShape="1">
            <a:blip r:embed="rId2">
              <a:alphaModFix amt="60000"/>
            </a:blip>
            <a:srcRect/>
            <a:stretch>
              <a:fillRect/>
            </a:stretch>
          </a:blipFill>
        </p:spPr>
        <p:txBody>
          <a:bodyPr wrap="square" anchor="t">
            <a:noAutofit/>
          </a:bodyPr>
          <a:lstStyle>
            <a:lvl1pPr marL="0" indent="0">
              <a:buNone/>
              <a:defRPr/>
            </a:lvl1pPr>
          </a:lstStyle>
          <a:p>
            <a:endParaRPr/>
          </a:p>
        </p:txBody>
      </p:sp>
    </p:spTree>
    <p:extLst>
      <p:ext uri="{BB962C8B-B14F-4D97-AF65-F5344CB8AC3E}">
        <p14:creationId xmlns:p14="http://schemas.microsoft.com/office/powerpoint/2010/main" val="37603525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1" y="220869"/>
            <a:ext cx="3208020" cy="3088635"/>
          </a:xfrm>
        </p:spPr>
        <p:txBody>
          <a:bodyPr anchor="t"/>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effectLst/>
              </a:defRPr>
            </a:lvl1pPr>
          </a:lstStyle>
          <a:p>
            <a:r>
              <a:rPr lang="en-US"/>
              <a:t>
              </a:t>
            </a:r>
          </a:p>
        </p:txBody>
      </p:sp>
      <p:sp>
        <p:nvSpPr>
          <p:cNvPr id="4" name="Picture Placeholder 3">
            <a:extLst>
              <a:ext uri="{FF2B5EF4-FFF2-40B4-BE49-F238E27FC236}">
                <a16:creationId xmlns:a16="http://schemas.microsoft.com/office/drawing/2014/main" id="{26FEEE5C-15B3-8386-23D3-B6B236C668F2}"/>
              </a:ext>
            </a:extLst>
          </p:cNvPr>
          <p:cNvSpPr>
            <a:spLocks noGrp="1" noChangeAspect="1"/>
          </p:cNvSpPr>
          <p:nvPr>
            <p:ph type="pic" sz="quarter" idx="13" hasCustomPrompt="1"/>
          </p:nvPr>
        </p:nvSpPr>
        <p:spPr>
          <a:xfrm>
            <a:off x="4686300" y="266700"/>
            <a:ext cx="3500538" cy="6324600"/>
          </a:xfrm>
          <a:custGeom>
            <a:avLst/>
            <a:gdLst/>
            <a:ahLst/>
            <a:cxnLst/>
            <a:rect l="l" t="t" r="r" b="b"/>
            <a:pathLst>
              <a:path w="3808553" h="6172200">
                <a:moveTo>
                  <a:pt x="292116" y="0"/>
                </a:moveTo>
                <a:lnTo>
                  <a:pt x="3516437" y="0"/>
                </a:lnTo>
                <a:cubicBezTo>
                  <a:pt x="3677768" y="0"/>
                  <a:pt x="3808553" y="130785"/>
                  <a:pt x="3808553" y="292116"/>
                </a:cubicBezTo>
                <a:lnTo>
                  <a:pt x="3808553" y="5880084"/>
                </a:lnTo>
                <a:cubicBezTo>
                  <a:pt x="3808553" y="6041415"/>
                  <a:pt x="3677768" y="6172200"/>
                  <a:pt x="3516437" y="6172200"/>
                </a:cubicBezTo>
                <a:lnTo>
                  <a:pt x="292116" y="6172200"/>
                </a:lnTo>
                <a:cubicBezTo>
                  <a:pt x="130785" y="6172200"/>
                  <a:pt x="0" y="6041415"/>
                  <a:pt x="0" y="5880084"/>
                </a:cubicBezTo>
                <a:lnTo>
                  <a:pt x="0" y="292116"/>
                </a:lnTo>
                <a:cubicBezTo>
                  <a:pt x="0" y="130785"/>
                  <a:pt x="130785" y="0"/>
                  <a:pt x="292116" y="0"/>
                </a:cubicBezTo>
                <a:close/>
              </a:path>
            </a:pathLst>
          </a:custGeom>
          <a:blipFill dpi="0" rotWithShape="1">
            <a:blip r:embed="rId2">
              <a:alphaModFix amt="60000"/>
            </a:blip>
            <a:srcRect/>
            <a:stretch>
              <a:fillRect/>
            </a:stretch>
          </a:blipFill>
        </p:spPr>
        <p:txBody>
          <a:bodyPr wrap="square" anchor="t">
            <a:noAutofit/>
          </a:bodyPr>
          <a:lstStyle>
            <a:lvl1pPr marL="0" indent="0">
              <a:buNone/>
              <a:defRPr/>
            </a:lvl1pPr>
          </a:lstStyle>
          <a:p>
            <a:endParaRP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8461087" y="220870"/>
            <a:ext cx="3200400" cy="6055554"/>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64C28399-DE27-4A8B-8419-0512D16F4926}" type="datetimeFigureOut">
              <a:rPr lang="en-US" dirty="0"/>
              <a:t>9/16/2026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effectLst/>
              </a:defRPr>
            </a:lvl1pPr>
          </a:lstStyle>
          <a:p>
            <a:fld id="{C8116806-1FD2-4A57-B5EA-7014AB76383B}" type="slidenum">
              <a:rPr lang="en-US" dirty="0"/>
              <a:t>‹#›</a:t>
            </a:fld>
            <a:endParaRPr lang="en-US"/>
          </a:p>
        </p:txBody>
      </p:sp>
    </p:spTree>
    <p:extLst>
      <p:ext uri="{BB962C8B-B14F-4D97-AF65-F5344CB8AC3E}">
        <p14:creationId xmlns:p14="http://schemas.microsoft.com/office/powerpoint/2010/main" val="810663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513755" y="219456"/>
            <a:ext cx="3891435" cy="1225339"/>
          </a:xfrm>
        </p:spPr>
        <p:txBody>
          <a:bodyPr anchor="t"/>
          <a:lstStyle/>
          <a:p>
            <a:r>
              <a:rPr lang="en-US"/>
              <a:t>Click to edit Master title style</a:t>
            </a:r>
          </a:p>
        </p:txBody>
      </p:sp>
      <p:sp>
        <p:nvSpPr>
          <p:cNvPr id="14" name="Picture Placeholder 13">
            <a:extLst>
              <a:ext uri="{FF2B5EF4-FFF2-40B4-BE49-F238E27FC236}">
                <a16:creationId xmlns:a16="http://schemas.microsoft.com/office/drawing/2014/main" id="{B3BE62AC-2855-BB28-0282-25CA658273E5}"/>
              </a:ext>
            </a:extLst>
          </p:cNvPr>
          <p:cNvSpPr>
            <a:spLocks noGrp="1" noChangeAspect="1"/>
          </p:cNvSpPr>
          <p:nvPr>
            <p:ph type="pic" sz="quarter" idx="13" hasCustomPrompt="1"/>
          </p:nvPr>
        </p:nvSpPr>
        <p:spPr>
          <a:xfrm>
            <a:off x="270473" y="265176"/>
            <a:ext cx="6984636" cy="6327648"/>
          </a:xfrm>
          <a:custGeom>
            <a:avLst/>
            <a:gdLst/>
            <a:ahLst/>
            <a:cxnLst/>
            <a:rect l="l" t="t" r="r" b="b"/>
            <a:pathLst>
              <a:path w="7228936" h="6316602">
                <a:moveTo>
                  <a:pt x="302565" y="0"/>
                </a:moveTo>
                <a:lnTo>
                  <a:pt x="6926371" y="0"/>
                </a:lnTo>
                <a:cubicBezTo>
                  <a:pt x="7093473" y="0"/>
                  <a:pt x="7228936" y="135463"/>
                  <a:pt x="7228936" y="302565"/>
                </a:cubicBezTo>
                <a:lnTo>
                  <a:pt x="7228936" y="6014037"/>
                </a:lnTo>
                <a:cubicBezTo>
                  <a:pt x="7228936" y="6181139"/>
                  <a:pt x="7093473" y="6316602"/>
                  <a:pt x="6926371" y="6316602"/>
                </a:cubicBezTo>
                <a:lnTo>
                  <a:pt x="302565" y="6316602"/>
                </a:lnTo>
                <a:cubicBezTo>
                  <a:pt x="135463" y="6316602"/>
                  <a:pt x="0" y="6181139"/>
                  <a:pt x="0" y="6014037"/>
                </a:cubicBezTo>
                <a:lnTo>
                  <a:pt x="0" y="302565"/>
                </a:lnTo>
                <a:cubicBezTo>
                  <a:pt x="0" y="135463"/>
                  <a:pt x="135463" y="0"/>
                  <a:pt x="302565" y="0"/>
                </a:cubicBezTo>
                <a:close/>
              </a:path>
            </a:pathLst>
          </a:custGeom>
          <a:blipFill dpi="0" rotWithShape="1">
            <a:blip r:embed="rId2">
              <a:alphaModFix amt="60000"/>
            </a:blip>
            <a:srcRect/>
            <a:stretch>
              <a:fillRect/>
            </a:stretch>
          </a:blipFill>
        </p:spPr>
        <p:txBody>
          <a:bodyPr wrap="square" anchor="t">
            <a:noAutofit/>
          </a:bodyPr>
          <a:lstStyle>
            <a:lvl1pPr marL="0" indent="0">
              <a:buNone/>
              <a:defRPr/>
            </a:lvl1pPr>
          </a:lstStyle>
          <a:p>
            <a:endParaRP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513753" y="1435652"/>
            <a:ext cx="3891435" cy="4833862"/>
          </a:xfrm>
        </p:spPr>
        <p:txBody>
          <a:bodyPr anchor="b"/>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515079" y="6387128"/>
            <a:ext cx="2703777" cy="338328"/>
          </a:xfrm>
        </p:spPr>
        <p:txBody>
          <a:body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effectLst/>
              </a:defRPr>
            </a:lvl1pPr>
          </a:lstStyle>
          <a:p>
            <a:fld id="{19F43114-67DF-4FA3-9285-385EAC7FCBCA}" type="datetimeFigureOut">
              <a:rPr lang="en-US" dirty="0"/>
              <a:t>9/16/2026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dirty="0"/>
              <a:t>‹#›</a:t>
            </a:fld>
            <a:endParaRPr lang="en-US"/>
          </a:p>
        </p:txBody>
      </p:sp>
    </p:spTree>
    <p:extLst>
      <p:ext uri="{BB962C8B-B14F-4D97-AF65-F5344CB8AC3E}">
        <p14:creationId xmlns:p14="http://schemas.microsoft.com/office/powerpoint/2010/main" val="12486914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54" y="219456"/>
            <a:ext cx="3234982" cy="1577218"/>
          </a:xfrm>
        </p:spPr>
        <p:txBody>
          <a:bodyPr anchor="t"/>
          <a:lstStyle/>
          <a:p>
            <a:r>
              <a:rPr lang="en-US"/>
              <a:t>Click to edit Master title style</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185854" y="1796675"/>
            <a:ext cx="3234982" cy="4471476"/>
          </a:xfrm>
        </p:spPr>
        <p:txBody>
          <a:bodyPr vert="horz" lIns="91440" tIns="45720" rIns="91440" bIns="45720" rtlCol="0" anchor="b">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78705" y="6387128"/>
            <a:ext cx="2095770" cy="338328"/>
          </a:xfrm>
        </p:spPr>
        <p:txBody>
          <a:body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2206416" y="6390795"/>
            <a:ext cx="1032084" cy="338328"/>
          </a:xfrm>
        </p:spPr>
        <p:txBody>
          <a:bodyPr/>
          <a:lstStyle>
            <a:lvl1pPr>
              <a:defRPr>
                <a:solidFill>
                  <a:schemeClr val="tx1"/>
                </a:solidFill>
                <a:effectLst/>
              </a:defRPr>
            </a:lvl1pPr>
          </a:lstStyle>
          <a:p>
            <a:fld id="{BB0B5C10-8896-4A25-9ADC-0DE16BEA40F9}" type="datetimeFigureOut">
              <a:rPr lang="en-US" dirty="0"/>
              <a:t>9/16/2026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38500" y="6390795"/>
            <a:ext cx="457200" cy="338328"/>
          </a:xfrm>
        </p:spPr>
        <p:txBody>
          <a:bodyPr/>
          <a:lstStyle/>
          <a:p>
            <a:fld id="{C8116806-1FD2-4A57-B5EA-7014AB76383B}" type="slidenum">
              <a:rPr lang="en-US" dirty="0"/>
              <a:t>‹#›</a:t>
            </a:fld>
            <a:endParaRPr lang="en-US"/>
          </a:p>
        </p:txBody>
      </p:sp>
      <p:sp>
        <p:nvSpPr>
          <p:cNvPr id="4" name="Picture Placeholder 3">
            <a:extLst>
              <a:ext uri="{FF2B5EF4-FFF2-40B4-BE49-F238E27FC236}">
                <a16:creationId xmlns:a16="http://schemas.microsoft.com/office/drawing/2014/main" id="{65B0EC94-28E6-D665-7491-10A308B0B426}"/>
              </a:ext>
            </a:extLst>
          </p:cNvPr>
          <p:cNvSpPr>
            <a:spLocks noGrp="1" noChangeAspect="1"/>
          </p:cNvSpPr>
          <p:nvPr>
            <p:ph type="pic" sz="quarter" idx="13" hasCustomPrompt="1"/>
          </p:nvPr>
        </p:nvSpPr>
        <p:spPr>
          <a:xfrm>
            <a:off x="3965783" y="265176"/>
            <a:ext cx="7959517" cy="6327648"/>
          </a:xfrm>
          <a:custGeom>
            <a:avLst/>
            <a:gdLst/>
            <a:ahLst/>
            <a:cxnLst/>
            <a:rect l="l" t="t" r="r" b="b"/>
            <a:pathLst>
              <a:path w="7391400" h="6172200">
                <a:moveTo>
                  <a:pt x="267246" y="0"/>
                </a:moveTo>
                <a:lnTo>
                  <a:pt x="7124155" y="0"/>
                </a:lnTo>
                <a:cubicBezTo>
                  <a:pt x="7271750" y="0"/>
                  <a:pt x="7391400" y="119489"/>
                  <a:pt x="7391400" y="266886"/>
                </a:cubicBezTo>
                <a:lnTo>
                  <a:pt x="7391400" y="5905314"/>
                </a:lnTo>
                <a:cubicBezTo>
                  <a:pt x="7391400" y="6052711"/>
                  <a:pt x="7271750" y="6172200"/>
                  <a:pt x="7124155" y="6172200"/>
                </a:cubicBezTo>
                <a:lnTo>
                  <a:pt x="267246" y="6172200"/>
                </a:lnTo>
                <a:cubicBezTo>
                  <a:pt x="119650" y="6172200"/>
                  <a:pt x="0" y="6052711"/>
                  <a:pt x="0" y="5905314"/>
                </a:cubicBezTo>
                <a:lnTo>
                  <a:pt x="0" y="266886"/>
                </a:lnTo>
                <a:cubicBezTo>
                  <a:pt x="0" y="119489"/>
                  <a:pt x="119650" y="0"/>
                  <a:pt x="267246" y="0"/>
                </a:cubicBezTo>
                <a:close/>
              </a:path>
            </a:pathLst>
          </a:custGeom>
          <a:blipFill dpi="0" rotWithShape="1">
            <a:blip r:embed="rId2">
              <a:alphaModFix amt="60000"/>
            </a:blip>
            <a:srcRect/>
            <a:stretch>
              <a:fillRect/>
            </a:stretch>
          </a:blipFill>
        </p:spPr>
        <p:txBody>
          <a:bodyPr wrap="square" anchor="t">
            <a:noAutofit/>
          </a:bodyPr>
          <a:lstStyle>
            <a:lvl1pPr marL="0" indent="0">
              <a:buNone/>
              <a:defRPr/>
            </a:lvl1pPr>
          </a:lstStyle>
          <a:p>
            <a:endParaRPr/>
          </a:p>
        </p:txBody>
      </p:sp>
    </p:spTree>
    <p:extLst>
      <p:ext uri="{BB962C8B-B14F-4D97-AF65-F5344CB8AC3E}">
        <p14:creationId xmlns:p14="http://schemas.microsoft.com/office/powerpoint/2010/main" val="33468391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5878" y="216452"/>
            <a:ext cx="3381587" cy="2213524"/>
          </a:xfrm>
        </p:spPr>
        <p:txBody>
          <a:bodyPr anchor="t">
            <a:normAutofit/>
          </a:bodyPr>
          <a:lstStyle>
            <a:lvl1pPr>
              <a:defRPr sz="3000"/>
            </a:lvl1pPr>
          </a:lstStyle>
          <a:p>
            <a:r>
              <a:rPr lang="en-US"/>
              <a:t>Click to edit Master title style</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62400" y="177492"/>
            <a:ext cx="7962900" cy="2286000"/>
          </a:xfrm>
        </p:spPr>
        <p:txBody>
          <a:bodyPr>
            <a:normAutofit/>
          </a:bodyPr>
          <a:lstStyle>
            <a:lvl1pPr marL="285750" indent="-285750">
              <a:buFont typeface="Arial" panose="020B0604020202020204" pitchFamily="34" charset="0"/>
              <a:buChar char="•"/>
              <a:defRPr sz="1400"/>
            </a:lvl1pPr>
            <a:lvl2pPr marL="514350" indent="-285750">
              <a:buFont typeface="Arial" panose="020B0604020202020204" pitchFamily="34" charset="0"/>
              <a:buChar char="•"/>
              <a:defRPr sz="1400"/>
            </a:lvl2pPr>
            <a:lvl3pPr marL="742950" indent="-285750">
              <a:buFont typeface="Arial" panose="020B0604020202020204" pitchFamily="34" charset="0"/>
              <a:buChar char="•"/>
              <a:defRPr sz="1400"/>
            </a:lvl3pPr>
            <a:lvl4pPr marL="857250" indent="-171450">
              <a:buFont typeface="Arial" panose="020B0604020202020204" pitchFamily="34" charset="0"/>
              <a:buChar char="•"/>
              <a:defRPr sz="1400"/>
            </a:lvl4pPr>
            <a:lvl5pPr marL="1085850" indent="-171450">
              <a:buFont typeface="Arial" panose="020B0604020202020204" pitchFamily="34" charset="0"/>
              <a:buChar cha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185878" y="2513464"/>
            <a:ext cx="2805405" cy="338328"/>
          </a:xfrm>
        </p:spPr>
        <p:txBody>
          <a:body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30339" y="2516244"/>
            <a:ext cx="1284010" cy="338328"/>
          </a:xfrm>
        </p:spPr>
        <p:txBody>
          <a:bodyPr/>
          <a:lstStyle/>
          <a:p>
            <a:fld id="{70D4BFA2-1BB9-40F7-B5CD-27AF3FC15B4F}" type="datetimeFigureOut">
              <a:rPr lang="en-US" dirty="0"/>
              <a:t>9/16/2026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509585" y="2513464"/>
            <a:ext cx="449306" cy="338328"/>
          </a:xfrm>
        </p:spPr>
        <p:txBody>
          <a:bodyPr/>
          <a:lstStyle/>
          <a:p>
            <a:fld id="{C8116806-1FD2-4A57-B5EA-7014AB76383B}" type="slidenum">
              <a:rPr lang="en-US" dirty="0"/>
              <a:t>‹#›</a:t>
            </a:fld>
            <a:endParaRPr lang="en-US"/>
          </a:p>
        </p:txBody>
      </p:sp>
      <p:sp>
        <p:nvSpPr>
          <p:cNvPr id="10" name="Picture Placeholder 9">
            <a:extLst>
              <a:ext uri="{FF2B5EF4-FFF2-40B4-BE49-F238E27FC236}">
                <a16:creationId xmlns:a16="http://schemas.microsoft.com/office/drawing/2014/main" id="{EE56056E-3484-D9D0-95D5-818FF4C3C8D6}"/>
              </a:ext>
            </a:extLst>
          </p:cNvPr>
          <p:cNvSpPr>
            <a:spLocks noGrp="1" noChangeAspect="1"/>
          </p:cNvSpPr>
          <p:nvPr>
            <p:ph type="pic" sz="quarter" idx="13" hasCustomPrompt="1"/>
          </p:nvPr>
        </p:nvSpPr>
        <p:spPr>
          <a:xfrm>
            <a:off x="274220" y="2935280"/>
            <a:ext cx="11651080" cy="3656020"/>
          </a:xfrm>
          <a:custGeom>
            <a:avLst/>
            <a:gdLst/>
            <a:ahLst/>
            <a:cxnLst/>
            <a:rect l="l" t="t" r="r" b="b"/>
            <a:pathLst>
              <a:path w="11651080" h="3656020">
                <a:moveTo>
                  <a:pt x="298989" y="0"/>
                </a:moveTo>
                <a:lnTo>
                  <a:pt x="11352091" y="0"/>
                </a:lnTo>
                <a:cubicBezTo>
                  <a:pt x="11517218" y="0"/>
                  <a:pt x="11651080" y="133862"/>
                  <a:pt x="11651080" y="298989"/>
                </a:cubicBezTo>
                <a:lnTo>
                  <a:pt x="11651080" y="3357031"/>
                </a:lnTo>
                <a:cubicBezTo>
                  <a:pt x="11651080" y="3522158"/>
                  <a:pt x="11517218" y="3656020"/>
                  <a:pt x="11352091" y="3656020"/>
                </a:cubicBezTo>
                <a:lnTo>
                  <a:pt x="298989" y="3656020"/>
                </a:lnTo>
                <a:cubicBezTo>
                  <a:pt x="133862" y="3656020"/>
                  <a:pt x="0" y="3522158"/>
                  <a:pt x="0" y="3357031"/>
                </a:cubicBezTo>
                <a:lnTo>
                  <a:pt x="0" y="298989"/>
                </a:lnTo>
                <a:cubicBezTo>
                  <a:pt x="0" y="133862"/>
                  <a:pt x="133862" y="0"/>
                  <a:pt x="298989" y="0"/>
                </a:cubicBezTo>
                <a:close/>
              </a:path>
            </a:pathLst>
          </a:custGeom>
          <a:blipFill dpi="0" rotWithShape="1">
            <a:blip r:embed="rId2">
              <a:alphaModFix amt="60000"/>
            </a:blip>
            <a:srcRect/>
            <a:stretch>
              <a:fillRect/>
            </a:stretch>
          </a:blipFill>
        </p:spPr>
        <p:txBody>
          <a:bodyPr wrap="square" anchor="t">
            <a:noAutofit/>
          </a:bodyPr>
          <a:lstStyle>
            <a:lvl1pPr marL="0" indent="0">
              <a:buNone/>
              <a:defRPr/>
            </a:lvl1pPr>
          </a:lstStyle>
          <a:p>
            <a:endParaRPr/>
          </a:p>
        </p:txBody>
      </p:sp>
    </p:spTree>
    <p:extLst>
      <p:ext uri="{BB962C8B-B14F-4D97-AF65-F5344CB8AC3E}">
        <p14:creationId xmlns:p14="http://schemas.microsoft.com/office/powerpoint/2010/main" val="21309029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3172641" cy="3145019"/>
          </a:xfrm>
        </p:spPr>
        <p:txBody>
          <a:bodyPr anchor="t">
            <a:normAutofit/>
          </a:bodyPr>
          <a:lstStyle>
            <a:lvl1pPr>
              <a:defRPr sz="3000"/>
            </a:lvl1pPr>
          </a:lstStyle>
          <a:p>
            <a:r>
              <a:rPr lang="en-US"/>
              <a:t>Click to edit Master title style</a:t>
            </a:r>
          </a:p>
        </p:txBody>
      </p:sp>
      <p:sp>
        <p:nvSpPr>
          <p:cNvPr id="10" name="Picture Placeholder 9">
            <a:extLst>
              <a:ext uri="{FF2B5EF4-FFF2-40B4-BE49-F238E27FC236}">
                <a16:creationId xmlns:a16="http://schemas.microsoft.com/office/drawing/2014/main" id="{A95997E6-BE07-E83F-D207-0CADA004E02A}"/>
              </a:ext>
            </a:extLst>
          </p:cNvPr>
          <p:cNvSpPr>
            <a:spLocks noGrp="1" noChangeAspect="1"/>
          </p:cNvSpPr>
          <p:nvPr>
            <p:ph type="pic" sz="quarter" idx="15" hasCustomPrompt="1"/>
          </p:nvPr>
        </p:nvSpPr>
        <p:spPr>
          <a:xfrm>
            <a:off x="4000500" y="265332"/>
            <a:ext cx="7924800" cy="3095837"/>
          </a:xfrm>
          <a:custGeom>
            <a:avLst/>
            <a:gdLst/>
            <a:ahLst/>
            <a:cxnLst/>
            <a:rect l="l" t="t" r="r" b="b"/>
            <a:pathLst>
              <a:path w="8229600" h="3095837">
                <a:moveTo>
                  <a:pt x="282309" y="0"/>
                </a:moveTo>
                <a:lnTo>
                  <a:pt x="7947291" y="0"/>
                </a:lnTo>
                <a:cubicBezTo>
                  <a:pt x="8103206" y="0"/>
                  <a:pt x="8229600" y="126394"/>
                  <a:pt x="8229600" y="282309"/>
                </a:cubicBezTo>
                <a:lnTo>
                  <a:pt x="8229600" y="2813528"/>
                </a:lnTo>
                <a:cubicBezTo>
                  <a:pt x="8229600" y="2969443"/>
                  <a:pt x="8103206" y="3095837"/>
                  <a:pt x="7947291" y="3095837"/>
                </a:cubicBezTo>
                <a:lnTo>
                  <a:pt x="282309" y="3095837"/>
                </a:lnTo>
                <a:cubicBezTo>
                  <a:pt x="126394" y="3095837"/>
                  <a:pt x="0" y="2969443"/>
                  <a:pt x="0" y="2813528"/>
                </a:cubicBezTo>
                <a:lnTo>
                  <a:pt x="0" y="282309"/>
                </a:lnTo>
                <a:cubicBezTo>
                  <a:pt x="0" y="126394"/>
                  <a:pt x="126394" y="0"/>
                  <a:pt x="282309" y="0"/>
                </a:cubicBezTo>
                <a:close/>
              </a:path>
            </a:pathLst>
          </a:custGeom>
          <a:blipFill dpi="0" rotWithShape="1">
            <a:blip r:embed="rId2">
              <a:alphaModFix amt="60000"/>
            </a:blip>
            <a:srcRect/>
            <a:stretch>
              <a:fillRect/>
            </a:stretch>
          </a:blipFill>
        </p:spPr>
        <p:txBody>
          <a:bodyPr wrap="square" anchor="t">
            <a:noAutofit/>
          </a:bodyPr>
          <a:lstStyle>
            <a:lvl1pPr marL="0" indent="0">
              <a:buNone/>
              <a:defRPr/>
            </a:lvl1pPr>
          </a:lstStyle>
          <a:p>
            <a:endParaRP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3914565" y="3543597"/>
            <a:ext cx="8010734" cy="2843531"/>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AD90CB68-2046-4562-B6CE-CDFAB3DC51F3}" type="datetimeFigureOut">
              <a:rPr lang="en-US" dirty="0"/>
              <a:t>9/16/2026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dirty="0"/>
              <a:t>‹#›</a:t>
            </a:fld>
            <a:endParaRPr lang="en-US"/>
          </a:p>
        </p:txBody>
      </p:sp>
    </p:spTree>
    <p:extLst>
      <p:ext uri="{BB962C8B-B14F-4D97-AF65-F5344CB8AC3E}">
        <p14:creationId xmlns:p14="http://schemas.microsoft.com/office/powerpoint/2010/main" val="31640306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6" name="Rectangle: Rounded Corners 5">
            <a:extLst>
              <a:ext uri="{FF2B5EF4-FFF2-40B4-BE49-F238E27FC236}">
                <a16:creationId xmlns:a16="http://schemas.microsoft.com/office/drawing/2014/main" id="{0E5778B4-3E3F-C3EF-5322-2ECFF646D003}"/>
              </a:ext>
              <a:ext uri="{C183D7F6-B498-43B3-948B-1728B52AA6E4}">
                <adec:decorative xmlns:adec="http://schemas.microsoft.com/office/drawing/2017/decorative" val="1"/>
              </a:ext>
            </a:extLst>
          </p:cNvPr>
          <p:cNvSpPr/>
          <p:nvPr/>
        </p:nvSpPr>
        <p:spPr>
          <a:xfrm>
            <a:off x="1231821" y="760151"/>
            <a:ext cx="9728359" cy="4233673"/>
          </a:xfrm>
          <a:prstGeom prst="roundRect">
            <a:avLst>
              <a:gd name="adj" fmla="val 7502"/>
            </a:avLst>
          </a:prstGeom>
          <a:solidFill>
            <a:schemeClr val="bg2"/>
          </a:solidFill>
          <a:ln w="25400">
            <a:noFill/>
          </a:ln>
        </p:spPr>
        <p:style>
          <a:lnRef idx="2">
            <a:schemeClr val="accent1">
              <a:shade val="15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B32242A1-A384-8CB1-904B-45EEDF23C323}"/>
              </a:ext>
            </a:extLst>
          </p:cNvPr>
          <p:cNvSpPr>
            <a:spLocks noGrp="1"/>
          </p:cNvSpPr>
          <p:nvPr>
            <p:ph type="title"/>
          </p:nvPr>
        </p:nvSpPr>
        <p:spPr>
          <a:xfrm>
            <a:off x="1446276" y="5255159"/>
            <a:ext cx="9299448" cy="1025326"/>
          </a:xfrm>
        </p:spPr>
        <p:txBody>
          <a:bodyPr anchor="ctr">
            <a:normAutofit/>
          </a:bodyPr>
          <a:lstStyle>
            <a:lvl1pPr algn="ctr">
              <a:lnSpc>
                <a:spcPct val="90000"/>
              </a:lnSpc>
              <a:defRPr sz="2400" spc="-50" baseline="0">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76F59BDE-94E7-56D6-3D7F-6145311BA2D8}"/>
              </a:ext>
            </a:extLst>
          </p:cNvPr>
          <p:cNvSpPr>
            <a:spLocks noGrp="1"/>
          </p:cNvSpPr>
          <p:nvPr>
            <p:ph sz="quarter" idx="13" hasCustomPrompt="1"/>
          </p:nvPr>
        </p:nvSpPr>
        <p:spPr>
          <a:xfrm>
            <a:off x="1446276" y="1293091"/>
            <a:ext cx="9299448" cy="3943921"/>
          </a:xfrm>
        </p:spPr>
        <p:txBody>
          <a:bodyPr anchor="ctr">
            <a:normAutofit/>
          </a:bodyPr>
          <a:lstStyle>
            <a:lvl1pPr marL="0" indent="0" algn="ctr">
              <a:lnSpc>
                <a:spcPct val="80000"/>
              </a:lnSpc>
              <a:buNone/>
              <a:defRPr sz="26000" spc="-100" baseline="0">
                <a:solidFill>
                  <a:schemeClr val="tx1"/>
                </a:solidFill>
              </a:defRPr>
            </a:lvl1pPr>
          </a:lstStyle>
          <a:p>
            <a:pPr lvl="0"/>
            <a:r>
              <a:rPr lang="en-US"/>
              <a:t>XX%</a:t>
            </a:r>
          </a:p>
        </p:txBody>
      </p:sp>
      <p:sp>
        <p:nvSpPr>
          <p:cNvPr id="4" name="Footer Placeholder 3">
            <a:extLst>
              <a:ext uri="{FF2B5EF4-FFF2-40B4-BE49-F238E27FC236}">
                <a16:creationId xmlns:a16="http://schemas.microsoft.com/office/drawing/2014/main" id="{6D6D72DC-8ED1-FAB8-CD4C-7BDCAEA2C329}"/>
              </a:ext>
            </a:extLst>
          </p:cNvPr>
          <p:cNvSpPr>
            <a:spLocks noGrp="1"/>
          </p:cNvSpPr>
          <p:nvPr>
            <p:ph type="ftr" sz="quarter" idx="11"/>
          </p:nvPr>
        </p:nvSpPr>
        <p:spPr/>
        <p:txBody>
          <a:bodyPr/>
          <a:lstStyle/>
          <a:p>
            <a:r>
              <a:rPr lang="en-US"/>
              <a:t>
              </a:t>
            </a:r>
          </a:p>
        </p:txBody>
      </p:sp>
      <p:sp>
        <p:nvSpPr>
          <p:cNvPr id="3" name="Date Placeholder 2">
            <a:extLst>
              <a:ext uri="{FF2B5EF4-FFF2-40B4-BE49-F238E27FC236}">
                <a16:creationId xmlns:a16="http://schemas.microsoft.com/office/drawing/2014/main" id="{14C6FDB9-A3B3-A4DB-D081-D27ECC7043C1}"/>
              </a:ext>
            </a:extLst>
          </p:cNvPr>
          <p:cNvSpPr>
            <a:spLocks noGrp="1"/>
          </p:cNvSpPr>
          <p:nvPr>
            <p:ph type="dt" sz="half" idx="10"/>
          </p:nvPr>
        </p:nvSpPr>
        <p:spPr/>
        <p:txBody>
          <a:bodyPr/>
          <a:lstStyle/>
          <a:p>
            <a:fld id="{E24BB35E-97D9-4AD8-9F03-F1A28F5EDD3F}" type="datetimeFigureOut">
              <a:rPr lang="en-US" dirty="0"/>
              <a:t>9/16/2026</a:t>
            </a:fld>
            <a:endParaRPr lang="en-US"/>
          </a:p>
        </p:txBody>
      </p:sp>
      <p:sp>
        <p:nvSpPr>
          <p:cNvPr id="5" name="Slide Number Placeholder 4">
            <a:extLst>
              <a:ext uri="{FF2B5EF4-FFF2-40B4-BE49-F238E27FC236}">
                <a16:creationId xmlns:a16="http://schemas.microsoft.com/office/drawing/2014/main" id="{CFBFCFB0-1D5D-C25F-A74C-5CFB9C1950CF}"/>
              </a:ext>
            </a:extLst>
          </p:cNvPr>
          <p:cNvSpPr>
            <a:spLocks noGrp="1"/>
          </p:cNvSpPr>
          <p:nvPr>
            <p:ph type="sldNum" sz="quarter" idx="12"/>
          </p:nvPr>
        </p:nvSpPr>
        <p:spPr/>
        <p:txBody>
          <a:bodyPr/>
          <a:lstStyle/>
          <a:p>
            <a:fld id="{C8116806-1FD2-4A57-B5EA-7014AB76383B}" type="slidenum">
              <a:rPr lang="en-US" dirty="0"/>
              <a:t>‹#›</a:t>
            </a:fld>
            <a:endParaRPr lang="en-US"/>
          </a:p>
        </p:txBody>
      </p:sp>
    </p:spTree>
    <p:extLst>
      <p:ext uri="{BB962C8B-B14F-4D97-AF65-F5344CB8AC3E}">
        <p14:creationId xmlns:p14="http://schemas.microsoft.com/office/powerpoint/2010/main" val="267226581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82880" y="173736"/>
            <a:ext cx="10475499" cy="4850651"/>
          </a:xfrm>
        </p:spPr>
        <p:txBody>
          <a:bodyPr anchor="t">
            <a:noAutofit/>
          </a:bodyPr>
          <a:lstStyle>
            <a:lvl1pPr marL="0" indent="0">
              <a:lnSpc>
                <a:spcPct val="90000"/>
              </a:lnSpc>
              <a:buNone/>
              <a:defRPr sz="7600" b="0" cap="none" spc="-50" baseline="0"/>
            </a:lvl1pPr>
            <a:lvl2pPr marL="228600" indent="0">
              <a:lnSpc>
                <a:spcPct val="90000"/>
              </a:lnSpc>
              <a:buNone/>
              <a:defRPr sz="6600" b="0" cap="none" spc="-50" baseline="0"/>
            </a:lvl2pPr>
            <a:lvl3pPr marL="457200" indent="0">
              <a:lnSpc>
                <a:spcPct val="90000"/>
              </a:lnSpc>
              <a:buNone/>
              <a:defRPr sz="6000" b="0" cap="none" spc="-50" baseline="0"/>
            </a:lvl3pPr>
            <a:lvl4pPr marL="685800" indent="0">
              <a:lnSpc>
                <a:spcPct val="90000"/>
              </a:lnSpc>
              <a:buNone/>
              <a:defRPr sz="5400" b="0" cap="none" spc="-50" baseline="0"/>
            </a:lvl4pPr>
            <a:lvl5pPr marL="914400" indent="0">
              <a:lnSpc>
                <a:spcPct val="90000"/>
              </a:lnSpc>
              <a:buNone/>
              <a:defRPr sz="4800" b="0" cap="none" spc="-50" baseline="0"/>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
              </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560FC429-4D23-430E-9EDF-7373AE75BFEE}" type="datetimeFigureOut">
              <a:rPr lang="en-US" dirty="0"/>
              <a:t>9/16/2026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C8116806-1FD2-4A57-B5EA-7014AB76383B}" type="slidenum">
              <a:rPr lang="en-US" dirty="0"/>
              <a:t>‹#›</a:t>
            </a:fld>
            <a:endParaRPr lang="en-US"/>
          </a:p>
        </p:txBody>
      </p:sp>
    </p:spTree>
    <p:extLst>
      <p:ext uri="{BB962C8B-B14F-4D97-AF65-F5344CB8AC3E}">
        <p14:creationId xmlns:p14="http://schemas.microsoft.com/office/powerpoint/2010/main" val="37505285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542D-3EA5-35E3-406E-8496EA7D4045}"/>
              </a:ext>
            </a:extLst>
          </p:cNvPr>
          <p:cNvSpPr>
            <a:spLocks noGrp="1"/>
          </p:cNvSpPr>
          <p:nvPr>
            <p:ph type="title" hasCustomPrompt="1"/>
          </p:nvPr>
        </p:nvSpPr>
        <p:spPr>
          <a:xfrm>
            <a:off x="1388784" y="5029200"/>
            <a:ext cx="9198864" cy="713232"/>
          </a:xfrm>
        </p:spPr>
        <p:txBody>
          <a:bodyPr anchor="t">
            <a:normAutofit/>
          </a:bodyPr>
          <a:lstStyle>
            <a:lvl1pPr>
              <a:lnSpc>
                <a:spcPct val="90000"/>
              </a:lnSpc>
              <a:defRPr sz="2000" b="1" spc="-50" baseline="0">
                <a:solidFill>
                  <a:schemeClr val="accent1"/>
                </a:solidFill>
              </a:defRPr>
            </a:lvl1pPr>
          </a:lstStyle>
          <a:p>
            <a:r>
              <a:rPr lang="en-US"/>
              <a:t>Quote Author</a:t>
            </a:r>
          </a:p>
        </p:txBody>
      </p:sp>
      <p:sp>
        <p:nvSpPr>
          <p:cNvPr id="7" name="Content Placeholder 6">
            <a:extLst>
              <a:ext uri="{FF2B5EF4-FFF2-40B4-BE49-F238E27FC236}">
                <a16:creationId xmlns:a16="http://schemas.microsoft.com/office/drawing/2014/main" id="{1BBD3F2A-2B85-D7B7-24A2-D01A281CD792}"/>
              </a:ext>
            </a:extLst>
          </p:cNvPr>
          <p:cNvSpPr>
            <a:spLocks noGrp="1"/>
          </p:cNvSpPr>
          <p:nvPr>
            <p:ph sz="quarter" idx="13" hasCustomPrompt="1"/>
          </p:nvPr>
        </p:nvSpPr>
        <p:spPr>
          <a:xfrm>
            <a:off x="1388784" y="1115568"/>
            <a:ext cx="9198864" cy="3584448"/>
          </a:xfrm>
        </p:spPr>
        <p:txBody>
          <a:bodyPr anchor="ctr">
            <a:normAutofit/>
          </a:bodyPr>
          <a:lstStyle>
            <a:lvl1pPr marL="137160" indent="-137160">
              <a:lnSpc>
                <a:spcPct val="90000"/>
              </a:lnSpc>
              <a:spcBef>
                <a:spcPts val="0"/>
              </a:spcBef>
              <a:buFont typeface="Arial" panose="020B0604020202020204" pitchFamily="34" charset="0"/>
              <a:buNone/>
              <a:defRPr sz="5000" spc="-50" baseline="0"/>
            </a:lvl1pPr>
          </a:lstStyle>
          <a:p>
            <a:pPr lvl="0"/>
            <a:r>
              <a:rPr lang="en-US"/>
              <a:t>Click to edit Quote</a:t>
            </a:r>
          </a:p>
        </p:txBody>
      </p:sp>
      <p:sp>
        <p:nvSpPr>
          <p:cNvPr id="4" name="Footer Placeholder 3">
            <a:extLst>
              <a:ext uri="{FF2B5EF4-FFF2-40B4-BE49-F238E27FC236}">
                <a16:creationId xmlns:a16="http://schemas.microsoft.com/office/drawing/2014/main" id="{A4AFB98B-06E5-997A-53DA-CC0E6A618ED8}"/>
              </a:ext>
            </a:extLst>
          </p:cNvPr>
          <p:cNvSpPr>
            <a:spLocks noGrp="1"/>
          </p:cNvSpPr>
          <p:nvPr>
            <p:ph type="ftr" sz="quarter" idx="11"/>
          </p:nvPr>
        </p:nvSpPr>
        <p:spPr/>
        <p:txBody>
          <a:bodyPr/>
          <a:lstStyle/>
          <a:p>
            <a:r>
              <a:rPr lang="en-US"/>
              <a:t>
              </a:t>
            </a:r>
          </a:p>
        </p:txBody>
      </p:sp>
      <p:sp>
        <p:nvSpPr>
          <p:cNvPr id="3" name="Date Placeholder 2">
            <a:extLst>
              <a:ext uri="{FF2B5EF4-FFF2-40B4-BE49-F238E27FC236}">
                <a16:creationId xmlns:a16="http://schemas.microsoft.com/office/drawing/2014/main" id="{5E4CA6F2-8C52-8488-999E-FEF7877BAFC3}"/>
              </a:ext>
            </a:extLst>
          </p:cNvPr>
          <p:cNvSpPr>
            <a:spLocks noGrp="1"/>
          </p:cNvSpPr>
          <p:nvPr>
            <p:ph type="dt" sz="half" idx="10"/>
          </p:nvPr>
        </p:nvSpPr>
        <p:spPr/>
        <p:txBody>
          <a:bodyPr/>
          <a:lstStyle/>
          <a:p>
            <a:fld id="{B335E6B9-2D9C-4660-92C5-78965463CC8F}" type="datetimeFigureOut">
              <a:rPr lang="en-US" dirty="0"/>
              <a:t>9/16/2026</a:t>
            </a:fld>
            <a:endParaRPr lang="en-US"/>
          </a:p>
        </p:txBody>
      </p:sp>
      <p:sp>
        <p:nvSpPr>
          <p:cNvPr id="5" name="Slide Number Placeholder 4">
            <a:extLst>
              <a:ext uri="{FF2B5EF4-FFF2-40B4-BE49-F238E27FC236}">
                <a16:creationId xmlns:a16="http://schemas.microsoft.com/office/drawing/2014/main" id="{1159DD64-9865-92B3-BED2-F770E9763D7C}"/>
              </a:ext>
            </a:extLst>
          </p:cNvPr>
          <p:cNvSpPr>
            <a:spLocks noGrp="1"/>
          </p:cNvSpPr>
          <p:nvPr>
            <p:ph type="sldNum" sz="quarter" idx="12"/>
          </p:nvPr>
        </p:nvSpPr>
        <p:spPr/>
        <p:txBody>
          <a:bodyPr/>
          <a:lstStyle/>
          <a:p>
            <a:fld id="{C8116806-1FD2-4A57-B5EA-7014AB76383B}" type="slidenum">
              <a:rPr lang="en-US" dirty="0"/>
              <a:t>‹#›</a:t>
            </a:fld>
            <a:endParaRPr lang="en-US"/>
          </a:p>
        </p:txBody>
      </p:sp>
    </p:spTree>
    <p:extLst>
      <p:ext uri="{BB962C8B-B14F-4D97-AF65-F5344CB8AC3E}">
        <p14:creationId xmlns:p14="http://schemas.microsoft.com/office/powerpoint/2010/main" val="360742925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82880" y="219456"/>
            <a:ext cx="11326704" cy="1041564"/>
          </a:xfrm>
        </p:spPr>
        <p:txBody>
          <a:bodyPr/>
          <a:lstStyle/>
          <a:p>
            <a:r>
              <a:rPr lang="en-US"/>
              <a:t>Click to edit Master title style</a:t>
            </a:r>
          </a:p>
        </p:txBody>
      </p:sp>
      <p:sp>
        <p:nvSpPr>
          <p:cNvPr id="8" name="Content Placeholder 3">
            <a:extLst>
              <a:ext uri="{FF2B5EF4-FFF2-40B4-BE49-F238E27FC236}">
                <a16:creationId xmlns:a16="http://schemas.microsoft.com/office/drawing/2014/main" id="{12E940BF-81C2-1FFB-391F-670B2E738E5C}"/>
              </a:ext>
            </a:extLst>
          </p:cNvPr>
          <p:cNvSpPr>
            <a:spLocks noGrp="1"/>
          </p:cNvSpPr>
          <p:nvPr>
            <p:ph sz="quarter" idx="15"/>
          </p:nvPr>
        </p:nvSpPr>
        <p:spPr>
          <a:xfrm>
            <a:off x="182880" y="1645920"/>
            <a:ext cx="5420409" cy="4741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FB763AB3-1DFB-9F9F-2339-33F3C49C8C10}"/>
              </a:ext>
            </a:extLst>
          </p:cNvPr>
          <p:cNvSpPr>
            <a:spLocks noGrp="1"/>
          </p:cNvSpPr>
          <p:nvPr>
            <p:ph sz="quarter" idx="16"/>
          </p:nvPr>
        </p:nvSpPr>
        <p:spPr>
          <a:xfrm>
            <a:off x="6248400" y="1645920"/>
            <a:ext cx="5261184" cy="4741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
              </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0B5B9CE9-04E1-4A30-9610-62B3B25B32C1}" type="datetimeFigureOut">
              <a:rPr lang="en-US" dirty="0"/>
              <a:t>9/16/2026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8116806-1FD2-4A57-B5EA-7014AB76383B}" type="slidenum">
              <a:rPr lang="en-US" dirty="0"/>
              <a:t>‹#›</a:t>
            </a:fld>
            <a:endParaRPr lang="en-US"/>
          </a:p>
        </p:txBody>
      </p:sp>
    </p:spTree>
    <p:extLst>
      <p:ext uri="{BB962C8B-B14F-4D97-AF65-F5344CB8AC3E}">
        <p14:creationId xmlns:p14="http://schemas.microsoft.com/office/powerpoint/2010/main" val="41278801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181186" y="219456"/>
            <a:ext cx="11274552" cy="789851"/>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181185" y="1009307"/>
            <a:ext cx="5212080" cy="559834"/>
          </a:xfrm>
        </p:spPr>
        <p:txBody>
          <a:bodyPr anchor="b">
            <a:normAutofit/>
          </a:bodyPr>
          <a:lstStyle>
            <a:lvl1pPr marL="0" indent="0">
              <a:lnSpc>
                <a:spcPct val="90000"/>
              </a:lnSpc>
              <a:buNone/>
              <a:defRPr sz="1600" b="1" cap="all" baseline="0"/>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3">
            <a:extLst>
              <a:ext uri="{FF2B5EF4-FFF2-40B4-BE49-F238E27FC236}">
                <a16:creationId xmlns:a16="http://schemas.microsoft.com/office/drawing/2014/main" id="{D6A39E64-722E-F001-F641-974F5225314A}"/>
              </a:ext>
            </a:extLst>
          </p:cNvPr>
          <p:cNvSpPr>
            <a:spLocks noGrp="1"/>
          </p:cNvSpPr>
          <p:nvPr>
            <p:ph sz="quarter" idx="15"/>
          </p:nvPr>
        </p:nvSpPr>
        <p:spPr>
          <a:xfrm>
            <a:off x="181631" y="1649451"/>
            <a:ext cx="521208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45352" y="1009307"/>
            <a:ext cx="5212080" cy="559834"/>
          </a:xfrm>
        </p:spPr>
        <p:txBody>
          <a:bodyPr anchor="b">
            <a:normAutofit/>
          </a:bodyPr>
          <a:lstStyle>
            <a:lvl1pPr marL="0" indent="0">
              <a:lnSpc>
                <a:spcPct val="90000"/>
              </a:lnSpc>
              <a:buNone/>
              <a:defRPr sz="1600" b="1" cap="all" baseline="0"/>
            </a:lvl1pPr>
            <a:lvl2pPr marL="457200" indent="0">
              <a:buNone/>
              <a:defRPr sz="1600" b="1"/>
            </a:lvl2pPr>
            <a:lvl3pPr marL="914400" indent="0">
              <a:buNone/>
              <a:defRPr sz="16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4B9C0BFD-5C7B-FA0D-DCE8-95D24728FEB0}"/>
              </a:ext>
            </a:extLst>
          </p:cNvPr>
          <p:cNvSpPr>
            <a:spLocks noGrp="1"/>
          </p:cNvSpPr>
          <p:nvPr>
            <p:ph sz="quarter" idx="16"/>
          </p:nvPr>
        </p:nvSpPr>
        <p:spPr>
          <a:xfrm>
            <a:off x="6245352" y="1649451"/>
            <a:ext cx="5212080" cy="4343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
              </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C397DEDC-8F58-44F8-A177-8A00C8A4C6DB}" type="datetimeFigureOut">
              <a:rPr lang="en-US" dirty="0"/>
              <a:t>9/16/2026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8116806-1FD2-4A57-B5EA-7014AB76383B}" type="slidenum">
              <a:rPr lang="en-US" dirty="0"/>
              <a:t>‹#›</a:t>
            </a:fld>
            <a:endParaRPr lang="en-US"/>
          </a:p>
        </p:txBody>
      </p:sp>
    </p:spTree>
    <p:extLst>
      <p:ext uri="{BB962C8B-B14F-4D97-AF65-F5344CB8AC3E}">
        <p14:creationId xmlns:p14="http://schemas.microsoft.com/office/powerpoint/2010/main" val="199923641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
              </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1C995DE8-BB4A-408C-A60C-374B496D02BA}" type="datetimeFigureOut">
              <a:rPr lang="en-US" dirty="0"/>
              <a:t>9/16/2026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8116806-1FD2-4A57-B5EA-7014AB76383B}" type="slidenum">
              <a:rPr lang="en-US" dirty="0"/>
              <a:t>‹#›</a:t>
            </a:fld>
            <a:endParaRPr lang="en-US"/>
          </a:p>
        </p:txBody>
      </p:sp>
    </p:spTree>
    <p:extLst>
      <p:ext uri="{BB962C8B-B14F-4D97-AF65-F5344CB8AC3E}">
        <p14:creationId xmlns:p14="http://schemas.microsoft.com/office/powerpoint/2010/main" val="175577184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21DC9DBE-31FF-4D71-B719-92EBAC3193CE}" type="datetimeFigureOut">
              <a:rPr lang="en-US" dirty="0"/>
              <a:t>9/16/2026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
              </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dirty="0"/>
              <a:t>‹#›</a:t>
            </a:fld>
            <a:endParaRPr lang="en-US"/>
          </a:p>
        </p:txBody>
      </p:sp>
    </p:spTree>
    <p:extLst>
      <p:ext uri="{BB962C8B-B14F-4D97-AF65-F5344CB8AC3E}">
        <p14:creationId xmlns:p14="http://schemas.microsoft.com/office/powerpoint/2010/main" val="25089314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67861" y="207228"/>
            <a:ext cx="11001943" cy="1790700"/>
          </a:xfrm>
        </p:spPr>
        <p:txBody>
          <a:bodyPr anchor="t">
            <a:noAutofit/>
          </a:bodyPr>
          <a:lstStyle>
            <a:lvl1pPr>
              <a:defRPr sz="7200"/>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1022195" y="3264408"/>
            <a:ext cx="10147610" cy="28346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642CF504-FC97-4D7A-ADA4-4D7971A47BF8}" type="datetimeFigureOut">
              <a:rPr lang="en-US" dirty="0"/>
              <a:t>9/16/2026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dirty="0"/>
              <a:t>‹#›</a:t>
            </a:fld>
            <a:endParaRPr lang="en-US"/>
          </a:p>
        </p:txBody>
      </p:sp>
    </p:spTree>
    <p:extLst>
      <p:ext uri="{BB962C8B-B14F-4D97-AF65-F5344CB8AC3E}">
        <p14:creationId xmlns:p14="http://schemas.microsoft.com/office/powerpoint/2010/main" val="4076290345"/>
      </p:ext>
    </p:extLst>
  </p:cSld>
  <p:clrMapOvr>
    <a:overrideClrMapping bg1="lt1" tx1="dk1" bg2="lt2" tx2="dk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915580" y="1089247"/>
            <a:ext cx="6360840" cy="2171716"/>
          </a:xfrm>
        </p:spPr>
        <p:txBody>
          <a:bodyPr anchor="b">
            <a:noAutofit/>
          </a:bodyPr>
          <a:lstStyle>
            <a:lvl1pPr algn="ctr">
              <a:defRPr sz="7200"/>
            </a:lvl1pPr>
          </a:lstStyle>
          <a:p>
            <a:r>
              <a:rPr lang="en-US"/>
              <a:t>Click to edit Master title style</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3322864" y="3499880"/>
            <a:ext cx="5543550" cy="1771650"/>
          </a:xfrm>
        </p:spPr>
        <p:txBody>
          <a:bodyPr vert="horz" lIns="91440" tIns="45720" rIns="91440" bIns="45720" rtlCol="0">
            <a:normAutofit/>
          </a:bodyPr>
          <a:lstStyle>
            <a:lvl1pPr marL="0" indent="0" algn="ctr">
              <a:buNone/>
              <a:defRPr lang="en-US" sz="1600" dirty="0"/>
            </a:lvl1pPr>
            <a:lvl2pPr marL="228600" indent="0" algn="ctr">
              <a:buNone/>
              <a:defRPr lang="en-US" sz="1600" dirty="0"/>
            </a:lvl2pPr>
            <a:lvl3pPr marL="457200" indent="0" algn="ctr">
              <a:buNone/>
              <a:defRPr lang="en-US" sz="1600" dirty="0"/>
            </a:lvl3pPr>
            <a:lvl4pPr marL="685800" indent="0" algn="ctr">
              <a:buNone/>
              <a:defRPr lang="en-US" sz="1600" dirty="0"/>
            </a:lvl4pPr>
            <a:lvl5pPr marL="914400" indent="0" algn="ctr">
              <a:buNone/>
              <a:defRPr lang="en-US" sz="16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
              </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B6DD06E-1834-4525-8B00-CED1355A3638}" type="datetimeFigureOut">
              <a:rPr lang="en-US" dirty="0"/>
              <a:t>9/16/2026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8116806-1FD2-4A57-B5EA-7014AB76383B}" type="slidenum">
              <a:rPr lang="en-US" dirty="0"/>
              <a:t>‹#›</a:t>
            </a:fld>
            <a:endParaRPr lang="en-US"/>
          </a:p>
        </p:txBody>
      </p:sp>
    </p:spTree>
    <p:extLst>
      <p:ext uri="{BB962C8B-B14F-4D97-AF65-F5344CB8AC3E}">
        <p14:creationId xmlns:p14="http://schemas.microsoft.com/office/powerpoint/2010/main" val="274708485"/>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chemeClr val="accent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p>
        </p:txBody>
      </p:sp>
      <p:sp>
        <p:nvSpPr>
          <p:cNvPr id="4" name="Date Placeholder 3"/>
          <p:cNvSpPr>
            <a:spLocks noGrp="1"/>
          </p:cNvSpPr>
          <p:nvPr>
            <p:ph type="dt" sz="half" idx="10"/>
          </p:nvPr>
        </p:nvSpPr>
        <p:spPr/>
        <p:txBody>
          <a:bodyPr/>
          <a:lstStyle/>
          <a:p>
            <a:fld id="{5586B75A-687E-405C-8A0B-8D00578BA2C3}" type="datetimeFigureOut">
              <a:rPr lang="en-US" dirty="0"/>
              <a:pPr/>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FAB73BC-B049-4115-A692-8D63A059BFB8}" type="slidenum">
              <a:rPr lang="en-US" dirty="0"/>
              <a:pPr/>
              <a:t>‹#›</a:t>
            </a:fld>
            <a:endParaRPr lang="en-US"/>
          </a:p>
        </p:txBody>
      </p:sp>
    </p:spTree>
    <p:extLst>
      <p:ext uri="{BB962C8B-B14F-4D97-AF65-F5344CB8AC3E}">
        <p14:creationId xmlns:p14="http://schemas.microsoft.com/office/powerpoint/2010/main" val="36555104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14318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82880" y="219456"/>
            <a:ext cx="10835640" cy="969264"/>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182880" y="1183206"/>
            <a:ext cx="10835640" cy="50886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78704" y="6387128"/>
            <a:ext cx="2703777" cy="338328"/>
          </a:xfrm>
          <a:prstGeom prst="rect">
            <a:avLst/>
          </a:prstGeom>
        </p:spPr>
        <p:txBody>
          <a:bodyPr vert="horz" lIns="91440" tIns="45720" rIns="91440" bIns="45720" rtlCol="0" anchor="ctr"/>
          <a:lstStyle>
            <a:lvl1pPr algn="l">
              <a:defRPr sz="750">
                <a:solidFill>
                  <a:schemeClr val="tx1"/>
                </a:solidFill>
              </a:defRPr>
            </a:lvl1pPr>
          </a:lstStyle>
          <a:p>
            <a:r>
              <a:rPr lang="en-US"/>
              <a:t>
              </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0477500" y="6387128"/>
            <a:ext cx="1032084" cy="338328"/>
          </a:xfrm>
          <a:prstGeom prst="rect">
            <a:avLst/>
          </a:prstGeom>
        </p:spPr>
        <p:txBody>
          <a:bodyPr vert="horz" lIns="91440" tIns="45720" rIns="91440" bIns="45720" rtlCol="0" anchor="ctr"/>
          <a:lstStyle>
            <a:lvl1pPr algn="r">
              <a:defRPr sz="750">
                <a:solidFill>
                  <a:schemeClr val="tx1"/>
                </a:solidFill>
              </a:defRPr>
            </a:lvl1pPr>
          </a:lstStyle>
          <a:p>
            <a:fld id="{0C9DF407-AAD9-4F9F-B512-267BEB339CF5}" type="datetimeFigureOut">
              <a:rPr lang="en-US" dirty="0"/>
              <a:t>9/16/2026</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509584" y="6387128"/>
            <a:ext cx="457200" cy="338328"/>
          </a:xfrm>
          <a:prstGeom prst="rect">
            <a:avLst/>
          </a:prstGeom>
        </p:spPr>
        <p:txBody>
          <a:bodyPr vert="horz" lIns="91440" tIns="45720" rIns="91440" bIns="45720" rtlCol="0" anchor="ctr"/>
          <a:lstStyle>
            <a:lvl1pPr algn="r">
              <a:defRPr sz="750">
                <a:solidFill>
                  <a:schemeClr val="tx1"/>
                </a:solidFill>
              </a:defRPr>
            </a:lvl1pPr>
          </a:lstStyle>
          <a:p>
            <a:fld id="{C8116806-1FD2-4A57-B5EA-7014AB76383B}" type="slidenum">
              <a:rPr lang="en-US" dirty="0"/>
              <a:t>‹#›</a:t>
            </a:fld>
            <a:endParaRPr lang="en-US"/>
          </a:p>
        </p:txBody>
      </p:sp>
    </p:spTree>
    <p:extLst>
      <p:ext uri="{BB962C8B-B14F-4D97-AF65-F5344CB8AC3E}">
        <p14:creationId xmlns:p14="http://schemas.microsoft.com/office/powerpoint/2010/main" val="499482228"/>
      </p:ext>
    </p:extLst>
  </p:cSld>
  <p:clrMap bg1="lt1" tx1="dk1" bg2="lt2" tx2="dk2" accent1="accent1" accent2="accent2" accent3="accent3" accent4="accent4" accent5="accent5" accent6="accent6" hlink="hlink" folHlink="folHlink"/>
  <p:sldLayoutIdLst>
    <p:sldLayoutId id="2147484111" r:id="rId1"/>
    <p:sldLayoutId id="2147484112" r:id="rId2"/>
    <p:sldLayoutId id="2147484113" r:id="rId3"/>
    <p:sldLayoutId id="2147484114" r:id="rId4"/>
    <p:sldLayoutId id="2147484115" r:id="rId5"/>
    <p:sldLayoutId id="2147484116" r:id="rId6"/>
    <p:sldLayoutId id="2147484117" r:id="rId7"/>
    <p:sldLayoutId id="2147484118" r:id="rId8"/>
    <p:sldLayoutId id="2147484119" r:id="rId9"/>
    <p:sldLayoutId id="2147484120" r:id="rId10"/>
    <p:sldLayoutId id="2147484121" r:id="rId11"/>
    <p:sldLayoutId id="2147484122" r:id="rId12"/>
    <p:sldLayoutId id="2147484123" r:id="rId13"/>
    <p:sldLayoutId id="2147484124" r:id="rId14"/>
    <p:sldLayoutId id="2147484125" r:id="rId15"/>
    <p:sldLayoutId id="2147484126" r:id="rId16"/>
    <p:sldLayoutId id="2147484127" r:id="rId17"/>
    <p:sldLayoutId id="2147484128" r:id="rId18"/>
    <p:sldLayoutId id="2147484129" r:id="rId19"/>
    <p:sldLayoutId id="2147484130" r:id="rId20"/>
    <p:sldLayoutId id="2147484131" r:id="rId21"/>
    <p:sldLayoutId id="2147484132" r:id="rId22"/>
    <p:sldLayoutId id="2147484133" r:id="rId23"/>
    <p:sldLayoutId id="2147484134" r:id="rId24"/>
    <p:sldLayoutId id="2147484135" r:id="rId25"/>
    <p:sldLayoutId id="2147484136" r:id="rId26"/>
    <p:sldLayoutId id="2147484137" r:id="rId27"/>
    <p:sldLayoutId id="2147484138" r:id="rId28"/>
    <p:sldLayoutId id="2147484139" r:id="rId29"/>
  </p:sldLayoutIdLst>
  <p:hf sldNum="0" hdr="0" ftr="0" dt="0"/>
  <p:txStyles>
    <p:titleStyle>
      <a:lvl1pPr algn="l" defTabSz="914400" rtl="0" eaLnBrk="1" latinLnBrk="0" hangingPunct="1">
        <a:lnSpc>
          <a:spcPct val="85000"/>
        </a:lnSpc>
        <a:spcBef>
          <a:spcPct val="0"/>
        </a:spcBef>
        <a:buNone/>
        <a:defRPr sz="3000" b="0" kern="1200" spc="-100" baseline="0">
          <a:solidFill>
            <a:schemeClr val="tx1"/>
          </a:solidFill>
          <a:latin typeface="+mj-lt"/>
          <a:ea typeface="+mj-ea"/>
          <a:cs typeface="+mj-cs"/>
        </a:defRPr>
      </a:lvl1pPr>
    </p:titleStyle>
    <p:bodyStyle>
      <a:lvl1pPr marL="285750" indent="-28575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5143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7429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715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200150" indent="-28575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168">
          <p15:clr>
            <a:srgbClr val="F26B43"/>
          </p15:clr>
        </p15:guide>
        <p15:guide id="4" orient="horz" pos="168">
          <p15:clr>
            <a:srgbClr val="F26B43"/>
          </p15:clr>
        </p15:guide>
        <p15:guide id="5" pos="7512">
          <p15:clr>
            <a:srgbClr val="F26B43"/>
          </p15:clr>
        </p15:guide>
        <p15:guide id="6" orient="horz" pos="4152">
          <p15:clr>
            <a:srgbClr val="F26B43"/>
          </p15:clr>
        </p15:guide>
        <p15:guide id="12" pos="4728">
          <p15:clr>
            <a:srgbClr val="F26B43"/>
          </p15:clr>
        </p15:guide>
        <p15:guide id="13" pos="5328">
          <p15:clr>
            <a:srgbClr val="F26B43"/>
          </p15:clr>
        </p15:guide>
        <p15:guide id="26" pos="2952">
          <p15:clr>
            <a:srgbClr val="F26B43"/>
          </p15:clr>
        </p15:guide>
        <p15:guide id="27" pos="3096">
          <p15:clr>
            <a:srgbClr val="F26B43"/>
          </p15:clr>
        </p15:guide>
        <p15:guide id="29" pos="4128">
          <p15:clr>
            <a:srgbClr val="F26B43"/>
          </p15:clr>
        </p15:guide>
        <p15:guide id="30" pos="1392">
          <p15:clr>
            <a:srgbClr val="F26B43"/>
          </p15:clr>
        </p15:guide>
        <p15:guide id="31" pos="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9.xml"/><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9.xml"/></Relationships>
</file>

<file path=ppt/slides/_rels/slide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9.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4.xml"/><Relationship Id="rId1" Type="http://schemas.openxmlformats.org/officeDocument/2006/relationships/slideLayout" Target="../slideLayouts/slideLayout29.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9.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9.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E3D"/>
        </a:solidFill>
        <a:effectLst/>
      </p:bgPr>
    </p:bg>
    <p:spTree>
      <p:nvGrpSpPr>
        <p:cNvPr id="1" name=""/>
        <p:cNvGrpSpPr/>
        <p:nvPr/>
      </p:nvGrpSpPr>
      <p:grpSpPr>
        <a:xfrm>
          <a:off x="0" y="0"/>
          <a:ext cx="0" cy="0"/>
          <a:chOff x="0" y="0"/>
          <a:chExt cx="0" cy="0"/>
        </a:xfrm>
      </p:grpSpPr>
      <p:sp>
        <p:nvSpPr>
          <p:cNvPr id="21" name="Text 19"/>
          <p:cNvSpPr/>
          <p:nvPr/>
        </p:nvSpPr>
        <p:spPr>
          <a:xfrm>
            <a:off x="640080" y="1965960"/>
            <a:ext cx="8229600" cy="365760"/>
          </a:xfrm>
          <a:prstGeom prst="rect">
            <a:avLst/>
          </a:prstGeom>
          <a:noFill/>
          <a:ln/>
        </p:spPr>
        <p:txBody>
          <a:bodyPr wrap="square" lIns="0" tIns="0" rIns="0" bIns="0" rtlCol="0" anchor="ctr"/>
          <a:lstStyle/>
          <a:p>
            <a:pPr marL="0" indent="0">
              <a:buNone/>
            </a:pPr>
            <a:r>
              <a:rPr lang="en-US" sz="1300" b="1" kern="0" spc="200">
                <a:solidFill>
                  <a:srgbClr val="2F6FED"/>
                </a:solidFill>
                <a:latin typeface="Calibri" pitchFamily="34" charset="0"/>
                <a:ea typeface="Calibri" pitchFamily="34" charset="-122"/>
                <a:cs typeface="Calibri" pitchFamily="34" charset="-120"/>
              </a:rPr>
              <a:t>CS407 · PRINCIPLES OF MACHINE LEARNING</a:t>
            </a:r>
            <a:endParaRPr lang="en-US" sz="1300"/>
          </a:p>
        </p:txBody>
      </p:sp>
      <p:sp>
        <p:nvSpPr>
          <p:cNvPr id="22" name="Text 20"/>
          <p:cNvSpPr/>
          <p:nvPr/>
        </p:nvSpPr>
        <p:spPr>
          <a:xfrm>
            <a:off x="594360" y="2423160"/>
            <a:ext cx="7680960" cy="1828800"/>
          </a:xfrm>
          <a:prstGeom prst="rect">
            <a:avLst/>
          </a:prstGeom>
          <a:noFill/>
          <a:ln/>
        </p:spPr>
        <p:txBody>
          <a:bodyPr wrap="square" lIns="0" tIns="0" rIns="0" bIns="0" rtlCol="0" anchor="ctr"/>
          <a:lstStyle/>
          <a:p>
            <a:pPr>
              <a:lnSpc>
                <a:spcPct val="108000"/>
              </a:lnSpc>
            </a:pPr>
            <a:r>
              <a:rPr lang="en-US" sz="4200" b="1">
                <a:solidFill>
                  <a:srgbClr val="FFFFFF"/>
                </a:solidFill>
                <a:latin typeface="Cambria"/>
                <a:ea typeface="Cambria"/>
                <a:cs typeface="Cambria" pitchFamily="34" charset="-120"/>
              </a:rPr>
              <a:t>Group 1: Baseline, Linear</a:t>
            </a:r>
            <a:endParaRPr lang="en-US" sz="4200"/>
          </a:p>
          <a:p>
            <a:pPr marL="0" indent="0">
              <a:lnSpc>
                <a:spcPct val="108000"/>
              </a:lnSpc>
              <a:buNone/>
            </a:pPr>
            <a:r>
              <a:rPr lang="en-US" sz="4200" b="1">
                <a:solidFill>
                  <a:srgbClr val="FFFFFF"/>
                </a:solidFill>
                <a:latin typeface="Cambria"/>
                <a:ea typeface="Cambria"/>
                <a:cs typeface="Cambria" pitchFamily="34" charset="-120"/>
              </a:rPr>
              <a:t>Regression &amp; Elastic Net</a:t>
            </a:r>
            <a:endParaRPr lang="en-US" sz="4200">
              <a:latin typeface="Cambria"/>
              <a:ea typeface="Cambria"/>
            </a:endParaRPr>
          </a:p>
        </p:txBody>
      </p:sp>
      <p:sp>
        <p:nvSpPr>
          <p:cNvPr id="23" name="Text 21"/>
          <p:cNvSpPr/>
          <p:nvPr/>
        </p:nvSpPr>
        <p:spPr>
          <a:xfrm>
            <a:off x="640080" y="4343400"/>
            <a:ext cx="7315200" cy="411480"/>
          </a:xfrm>
          <a:prstGeom prst="rect">
            <a:avLst/>
          </a:prstGeom>
          <a:noFill/>
          <a:ln/>
        </p:spPr>
        <p:txBody>
          <a:bodyPr wrap="square" lIns="0" tIns="0" rIns="0" bIns="0" rtlCol="0" anchor="ctr"/>
          <a:lstStyle/>
          <a:p>
            <a:r>
              <a:rPr lang="en-US" sz="1600">
                <a:solidFill>
                  <a:srgbClr val="B9C7E6"/>
                </a:solidFill>
                <a:ea typeface="+mn-lt"/>
                <a:cs typeface="+mn-lt"/>
              </a:rPr>
              <a:t>Presented by Mason DeWitt, Prithvi Ghale, and Elena Van </a:t>
            </a:r>
            <a:endParaRPr lang="en-US"/>
          </a:p>
        </p:txBody>
      </p:sp>
      <p:sp>
        <p:nvSpPr>
          <p:cNvPr id="24" name="Shape 22"/>
          <p:cNvSpPr/>
          <p:nvPr/>
        </p:nvSpPr>
        <p:spPr>
          <a:xfrm>
            <a:off x="640080" y="4160520"/>
            <a:ext cx="1280160" cy="0"/>
          </a:xfrm>
          <a:prstGeom prst="line">
            <a:avLst/>
          </a:prstGeom>
          <a:noFill/>
          <a:ln w="25400">
            <a:solidFill>
              <a:srgbClr val="2F6FED"/>
            </a:solidFill>
            <a:prstDash val="solid"/>
          </a:ln>
        </p:spPr>
      </p:sp>
      <p:sp>
        <p:nvSpPr>
          <p:cNvPr id="26" name="Text 24"/>
          <p:cNvSpPr/>
          <p:nvPr/>
        </p:nvSpPr>
        <p:spPr>
          <a:xfrm>
            <a:off x="11274552" y="6473952"/>
            <a:ext cx="457200" cy="274320"/>
          </a:xfrm>
          <a:prstGeom prst="rect">
            <a:avLst/>
          </a:prstGeom>
          <a:noFill/>
          <a:ln/>
        </p:spPr>
        <p:txBody>
          <a:bodyPr wrap="square" lIns="0" tIns="0" rIns="0" bIns="0" rtlCol="0" anchor="ctr"/>
          <a:lstStyle/>
          <a:p>
            <a:pPr marL="0" indent="0" algn="r">
              <a:buNone/>
            </a:pPr>
            <a:r>
              <a:rPr lang="en-US" sz="900">
                <a:solidFill>
                  <a:srgbClr val="9FB3D9"/>
                </a:solidFill>
                <a:latin typeface="Calibri" pitchFamily="34" charset="0"/>
                <a:ea typeface="Calibri" pitchFamily="34" charset="-122"/>
                <a:cs typeface="Calibri" pitchFamily="34" charset="-120"/>
              </a:rPr>
              <a:t>1</a:t>
            </a:r>
            <a:endParaRPr lang="en-US" sz="900"/>
          </a:p>
        </p:txBody>
      </p:sp>
      <p:pic>
        <p:nvPicPr>
          <p:cNvPr id="3" name="Picture 2" descr="Project Jupyter - Wikipedia">
            <a:extLst>
              <a:ext uri="{FF2B5EF4-FFF2-40B4-BE49-F238E27FC236}">
                <a16:creationId xmlns:a16="http://schemas.microsoft.com/office/drawing/2014/main" id="{B69730D2-7238-CC12-C937-FA8F287DEEF2}"/>
              </a:ext>
            </a:extLst>
          </p:cNvPr>
          <p:cNvPicPr>
            <a:picLocks noChangeAspect="1"/>
          </p:cNvPicPr>
          <p:nvPr/>
        </p:nvPicPr>
        <p:blipFill>
          <a:blip r:embed="rId3"/>
          <a:stretch>
            <a:fillRect/>
          </a:stretch>
        </p:blipFill>
        <p:spPr>
          <a:xfrm>
            <a:off x="9553837" y="910043"/>
            <a:ext cx="1825902" cy="2109995"/>
          </a:xfrm>
          <a:prstGeom prst="rect">
            <a:avLst/>
          </a:prstGeom>
        </p:spPr>
      </p:pic>
      <p:pic>
        <p:nvPicPr>
          <p:cNvPr id="5" name="Picture 4" descr="scikit-learn SVG and transparent PNG icons | TechIcons">
            <a:extLst>
              <a:ext uri="{FF2B5EF4-FFF2-40B4-BE49-F238E27FC236}">
                <a16:creationId xmlns:a16="http://schemas.microsoft.com/office/drawing/2014/main" id="{C8CE633B-BD13-D0F3-77AA-ABEB7423AF9A}"/>
              </a:ext>
            </a:extLst>
          </p:cNvPr>
          <p:cNvPicPr>
            <a:picLocks noChangeAspect="1"/>
          </p:cNvPicPr>
          <p:nvPr/>
        </p:nvPicPr>
        <p:blipFill>
          <a:blip r:embed="rId4"/>
          <a:stretch>
            <a:fillRect/>
          </a:stretch>
        </p:blipFill>
        <p:spPr>
          <a:xfrm>
            <a:off x="7733129" y="3786929"/>
            <a:ext cx="2064247" cy="2111418"/>
          </a:xfrm>
          <a:prstGeom prst="rect">
            <a:avLst/>
          </a:prstGeom>
        </p:spPr>
      </p:pic>
    </p:spTree>
    <p:extLst>
      <p:ext uri="{BB962C8B-B14F-4D97-AF65-F5344CB8AC3E}">
        <p14:creationId xmlns:p14="http://schemas.microsoft.com/office/powerpoint/2010/main" val="22135672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597408"/>
            <a:ext cx="7132320" cy="384048"/>
          </a:xfrm>
          <a:prstGeom prst="rect">
            <a:avLst/>
          </a:prstGeom>
          <a:noFill/>
          <a:ln/>
        </p:spPr>
        <p:txBody>
          <a:bodyPr wrap="square" lIns="254" tIns="254" rIns="254" bIns="254" rtlCol="0" anchor="t">
            <a:normAutofit/>
          </a:bodyPr>
          <a:lstStyle/>
          <a:p>
            <a:pPr marL="0" indent="0" algn="l">
              <a:buNone/>
            </a:pPr>
            <a:r>
              <a:rPr lang="en-US" sz="2400" b="1">
                <a:solidFill>
                  <a:srgbClr val="0B1F33"/>
                </a:solidFill>
                <a:latin typeface="Aptos Display" pitchFamily="34" charset="0"/>
                <a:ea typeface="Aptos Display" pitchFamily="34" charset="-122"/>
                <a:cs typeface="Aptos Display" pitchFamily="34" charset="-120"/>
              </a:rPr>
              <a:t>Modeling Problem</a:t>
            </a:r>
            <a:endParaRPr lang="en-US" sz="2400"/>
          </a:p>
        </p:txBody>
      </p:sp>
      <p:sp>
        <p:nvSpPr>
          <p:cNvPr id="5" name="Shape 3"/>
          <p:cNvSpPr/>
          <p:nvPr/>
        </p:nvSpPr>
        <p:spPr>
          <a:xfrm>
            <a:off x="502920" y="1124712"/>
            <a:ext cx="11155680" cy="0"/>
          </a:xfrm>
          <a:prstGeom prst="line">
            <a:avLst/>
          </a:prstGeom>
          <a:noFill/>
          <a:ln w="9525">
            <a:solidFill>
              <a:srgbClr val="D9E2EC"/>
            </a:solidFill>
            <a:prstDash val="solid"/>
          </a:ln>
        </p:spPr>
      </p:sp>
      <p:sp>
        <p:nvSpPr>
          <p:cNvPr id="6" name="Shape 4"/>
          <p:cNvSpPr/>
          <p:nvPr/>
        </p:nvSpPr>
        <p:spPr>
          <a:xfrm>
            <a:off x="502920" y="6446520"/>
            <a:ext cx="11155680" cy="0"/>
          </a:xfrm>
          <a:prstGeom prst="line">
            <a:avLst/>
          </a:prstGeom>
          <a:noFill/>
          <a:ln w="9525">
            <a:solidFill>
              <a:srgbClr val="D9E2EC"/>
            </a:solidFill>
            <a:prstDash val="solid"/>
          </a:ln>
        </p:spPr>
      </p:sp>
      <p:sp>
        <p:nvSpPr>
          <p:cNvPr id="9" name="Text 7"/>
          <p:cNvSpPr/>
          <p:nvPr/>
        </p:nvSpPr>
        <p:spPr>
          <a:xfrm>
            <a:off x="618031" y="1371827"/>
            <a:ext cx="1280160" cy="164592"/>
          </a:xfrm>
          <a:prstGeom prst="rect">
            <a:avLst/>
          </a:prstGeom>
          <a:noFill/>
          <a:ln/>
        </p:spPr>
        <p:txBody>
          <a:bodyPr wrap="square" lIns="254" tIns="254" rIns="254" bIns="254" rtlCol="0" anchor="t">
            <a:noAutofit/>
          </a:bodyPr>
          <a:lstStyle/>
          <a:p>
            <a:pPr marL="0" indent="0" algn="l">
              <a:buNone/>
            </a:pPr>
            <a:r>
              <a:rPr lang="en-US" sz="1600" b="1">
                <a:solidFill>
                  <a:srgbClr val="57BDA5"/>
                </a:solidFill>
                <a:latin typeface="Aptos"/>
                <a:ea typeface="Aptos" pitchFamily="34" charset="-122"/>
                <a:cs typeface="Aptos" pitchFamily="34" charset="-120"/>
              </a:rPr>
              <a:t>GOAL</a:t>
            </a:r>
            <a:endParaRPr lang="en-US" sz="1600">
              <a:solidFill>
                <a:srgbClr val="57BDA5"/>
              </a:solidFill>
              <a:latin typeface="Aptos"/>
            </a:endParaRPr>
          </a:p>
        </p:txBody>
      </p:sp>
      <p:sp>
        <p:nvSpPr>
          <p:cNvPr id="10" name="Text 8"/>
          <p:cNvSpPr/>
          <p:nvPr/>
        </p:nvSpPr>
        <p:spPr>
          <a:xfrm>
            <a:off x="613586" y="1733015"/>
            <a:ext cx="4297680" cy="502920"/>
          </a:xfrm>
          <a:prstGeom prst="rect">
            <a:avLst/>
          </a:prstGeom>
          <a:noFill/>
          <a:ln/>
        </p:spPr>
        <p:txBody>
          <a:bodyPr wrap="square" lIns="254" tIns="254" rIns="254" bIns="254" rtlCol="0" anchor="t">
            <a:normAutofit/>
          </a:bodyPr>
          <a:lstStyle/>
          <a:p>
            <a:pPr marL="0" indent="0" algn="l">
              <a:buNone/>
            </a:pPr>
            <a:r>
              <a:rPr lang="en-US" sz="1600">
                <a:solidFill>
                  <a:srgbClr val="0B1F33"/>
                </a:solidFill>
                <a:latin typeface="Aptos"/>
                <a:ea typeface="Aptos" pitchFamily="34" charset="-122"/>
                <a:cs typeface="Aptos" pitchFamily="34" charset="-120"/>
              </a:rPr>
              <a:t>Predict a student's exam score given four numeric predictor variables.</a:t>
            </a:r>
            <a:endParaRPr lang="en-US" sz="1600">
              <a:latin typeface="Aptos"/>
            </a:endParaRPr>
          </a:p>
        </p:txBody>
      </p:sp>
      <p:sp>
        <p:nvSpPr>
          <p:cNvPr id="11" name="Text 9"/>
          <p:cNvSpPr/>
          <p:nvPr/>
        </p:nvSpPr>
        <p:spPr>
          <a:xfrm>
            <a:off x="618031" y="2575256"/>
            <a:ext cx="1280160" cy="164592"/>
          </a:xfrm>
          <a:prstGeom prst="rect">
            <a:avLst/>
          </a:prstGeom>
          <a:noFill/>
          <a:ln/>
        </p:spPr>
        <p:txBody>
          <a:bodyPr wrap="square" lIns="254" tIns="254" rIns="254" bIns="254" rtlCol="0" anchor="t">
            <a:noAutofit/>
          </a:bodyPr>
          <a:lstStyle/>
          <a:p>
            <a:pPr marL="0" indent="0" algn="l">
              <a:buNone/>
            </a:pPr>
            <a:r>
              <a:rPr lang="en-US" sz="1600" b="1">
                <a:solidFill>
                  <a:srgbClr val="57BDA5"/>
                </a:solidFill>
                <a:latin typeface="Aptos"/>
                <a:ea typeface="Aptos" pitchFamily="34" charset="-122"/>
                <a:cs typeface="Aptos" pitchFamily="34" charset="-120"/>
              </a:rPr>
              <a:t>PREDICTORS</a:t>
            </a:r>
            <a:endParaRPr lang="en-US" sz="1600">
              <a:solidFill>
                <a:srgbClr val="57BDA5"/>
              </a:solidFill>
              <a:latin typeface="Aptos"/>
            </a:endParaRPr>
          </a:p>
        </p:txBody>
      </p:sp>
      <p:sp>
        <p:nvSpPr>
          <p:cNvPr id="12" name="Shape 10"/>
          <p:cNvSpPr/>
          <p:nvPr/>
        </p:nvSpPr>
        <p:spPr>
          <a:xfrm>
            <a:off x="815135" y="2965400"/>
            <a:ext cx="82296" cy="82296"/>
          </a:xfrm>
          <a:prstGeom prst="ellipse">
            <a:avLst/>
          </a:prstGeom>
          <a:solidFill>
            <a:srgbClr val="0EA5A4"/>
          </a:solidFill>
          <a:ln w="12700">
            <a:solidFill>
              <a:srgbClr val="0EA5A4">
                <a:alpha val="0"/>
              </a:srgbClr>
            </a:solidFill>
            <a:prstDash val="solid"/>
          </a:ln>
        </p:spPr>
      </p:sp>
      <p:sp>
        <p:nvSpPr>
          <p:cNvPr id="13" name="Text 11"/>
          <p:cNvSpPr/>
          <p:nvPr/>
        </p:nvSpPr>
        <p:spPr>
          <a:xfrm>
            <a:off x="998015" y="2892248"/>
            <a:ext cx="4389120" cy="292608"/>
          </a:xfrm>
          <a:prstGeom prst="rect">
            <a:avLst/>
          </a:prstGeom>
          <a:noFill/>
          <a:ln/>
        </p:spPr>
        <p:txBody>
          <a:bodyPr wrap="square" lIns="254" tIns="254" rIns="254" bIns="254" rtlCol="0" anchor="t">
            <a:normAutofit/>
          </a:bodyPr>
          <a:lstStyle/>
          <a:p>
            <a:pPr marL="0" indent="0" algn="l">
              <a:buNone/>
            </a:pPr>
            <a:r>
              <a:rPr lang="en-US" sz="1600">
                <a:solidFill>
                  <a:srgbClr val="0B1F33"/>
                </a:solidFill>
                <a:latin typeface="Aptos"/>
                <a:ea typeface="Aptos" pitchFamily="34" charset="-122"/>
                <a:cs typeface="Aptos" pitchFamily="34" charset="-120"/>
              </a:rPr>
              <a:t>Number of hours studied</a:t>
            </a:r>
            <a:endParaRPr lang="en-US" sz="1600">
              <a:latin typeface="Aptos"/>
            </a:endParaRPr>
          </a:p>
        </p:txBody>
      </p:sp>
      <p:sp>
        <p:nvSpPr>
          <p:cNvPr id="14" name="Shape 12"/>
          <p:cNvSpPr/>
          <p:nvPr/>
        </p:nvSpPr>
        <p:spPr>
          <a:xfrm>
            <a:off x="815135" y="3376880"/>
            <a:ext cx="82296" cy="82296"/>
          </a:xfrm>
          <a:prstGeom prst="ellipse">
            <a:avLst/>
          </a:prstGeom>
          <a:solidFill>
            <a:srgbClr val="0EA5A4"/>
          </a:solidFill>
          <a:ln w="12700">
            <a:solidFill>
              <a:srgbClr val="0EA5A4">
                <a:alpha val="0"/>
              </a:srgbClr>
            </a:solidFill>
            <a:prstDash val="solid"/>
          </a:ln>
        </p:spPr>
      </p:sp>
      <p:sp>
        <p:nvSpPr>
          <p:cNvPr id="15" name="Text 13"/>
          <p:cNvSpPr/>
          <p:nvPr/>
        </p:nvSpPr>
        <p:spPr>
          <a:xfrm>
            <a:off x="998015" y="3303728"/>
            <a:ext cx="4389120" cy="292608"/>
          </a:xfrm>
          <a:prstGeom prst="rect">
            <a:avLst/>
          </a:prstGeom>
          <a:noFill/>
          <a:ln/>
        </p:spPr>
        <p:txBody>
          <a:bodyPr wrap="square" lIns="254" tIns="254" rIns="254" bIns="254" rtlCol="0" anchor="t">
            <a:normAutofit/>
          </a:bodyPr>
          <a:lstStyle/>
          <a:p>
            <a:pPr marL="0" indent="0" algn="l">
              <a:buNone/>
            </a:pPr>
            <a:r>
              <a:rPr lang="en-US" sz="1600">
                <a:solidFill>
                  <a:srgbClr val="0B1F33"/>
                </a:solidFill>
                <a:latin typeface="Aptos"/>
                <a:ea typeface="Aptos" pitchFamily="34" charset="-122"/>
                <a:cs typeface="Aptos" pitchFamily="34" charset="-120"/>
              </a:rPr>
              <a:t>Percentage of class attendance</a:t>
            </a:r>
            <a:endParaRPr lang="en-US" sz="1600">
              <a:latin typeface="Aptos"/>
            </a:endParaRPr>
          </a:p>
        </p:txBody>
      </p:sp>
      <p:sp>
        <p:nvSpPr>
          <p:cNvPr id="16" name="Shape 14"/>
          <p:cNvSpPr/>
          <p:nvPr/>
        </p:nvSpPr>
        <p:spPr>
          <a:xfrm>
            <a:off x="815135" y="3788360"/>
            <a:ext cx="82296" cy="82296"/>
          </a:xfrm>
          <a:prstGeom prst="ellipse">
            <a:avLst/>
          </a:prstGeom>
          <a:solidFill>
            <a:srgbClr val="0EA5A4"/>
          </a:solidFill>
          <a:ln w="12700">
            <a:solidFill>
              <a:srgbClr val="0EA5A4">
                <a:alpha val="0"/>
              </a:srgbClr>
            </a:solidFill>
            <a:prstDash val="solid"/>
          </a:ln>
        </p:spPr>
      </p:sp>
      <p:sp>
        <p:nvSpPr>
          <p:cNvPr id="17" name="Text 15"/>
          <p:cNvSpPr/>
          <p:nvPr/>
        </p:nvSpPr>
        <p:spPr>
          <a:xfrm>
            <a:off x="998015" y="3715208"/>
            <a:ext cx="4389120" cy="292608"/>
          </a:xfrm>
          <a:prstGeom prst="rect">
            <a:avLst/>
          </a:prstGeom>
          <a:noFill/>
          <a:ln/>
        </p:spPr>
        <p:txBody>
          <a:bodyPr wrap="square" lIns="254" tIns="254" rIns="254" bIns="254" rtlCol="0" anchor="t">
            <a:normAutofit/>
          </a:bodyPr>
          <a:lstStyle/>
          <a:p>
            <a:pPr marL="0" indent="0" algn="l">
              <a:buNone/>
            </a:pPr>
            <a:r>
              <a:rPr lang="en-US" sz="1600">
                <a:solidFill>
                  <a:srgbClr val="0B1F33"/>
                </a:solidFill>
                <a:latin typeface="Aptos"/>
                <a:ea typeface="Aptos" pitchFamily="34" charset="-122"/>
                <a:cs typeface="Aptos" pitchFamily="34" charset="-120"/>
              </a:rPr>
              <a:t>Number of hours slept per night</a:t>
            </a:r>
            <a:endParaRPr lang="en-US" sz="1600">
              <a:latin typeface="Aptos"/>
            </a:endParaRPr>
          </a:p>
        </p:txBody>
      </p:sp>
      <p:sp>
        <p:nvSpPr>
          <p:cNvPr id="18" name="Shape 16"/>
          <p:cNvSpPr/>
          <p:nvPr/>
        </p:nvSpPr>
        <p:spPr>
          <a:xfrm>
            <a:off x="815135" y="4199840"/>
            <a:ext cx="82296" cy="82296"/>
          </a:xfrm>
          <a:prstGeom prst="ellipse">
            <a:avLst/>
          </a:prstGeom>
          <a:solidFill>
            <a:srgbClr val="0EA5A4"/>
          </a:solidFill>
          <a:ln w="12700">
            <a:solidFill>
              <a:srgbClr val="0EA5A4">
                <a:alpha val="0"/>
              </a:srgbClr>
            </a:solidFill>
            <a:prstDash val="solid"/>
          </a:ln>
        </p:spPr>
      </p:sp>
      <p:sp>
        <p:nvSpPr>
          <p:cNvPr id="19" name="Text 17"/>
          <p:cNvSpPr/>
          <p:nvPr/>
        </p:nvSpPr>
        <p:spPr>
          <a:xfrm>
            <a:off x="998015" y="4126688"/>
            <a:ext cx="4389120" cy="292608"/>
          </a:xfrm>
          <a:prstGeom prst="rect">
            <a:avLst/>
          </a:prstGeom>
          <a:noFill/>
          <a:ln/>
        </p:spPr>
        <p:txBody>
          <a:bodyPr wrap="square" lIns="254" tIns="254" rIns="254" bIns="254" rtlCol="0" anchor="t">
            <a:normAutofit/>
          </a:bodyPr>
          <a:lstStyle/>
          <a:p>
            <a:pPr marL="0" indent="0" algn="l">
              <a:buNone/>
            </a:pPr>
            <a:r>
              <a:rPr lang="en-US" sz="1600">
                <a:solidFill>
                  <a:srgbClr val="0B1F33"/>
                </a:solidFill>
                <a:latin typeface="Aptos"/>
                <a:ea typeface="Aptos" pitchFamily="34" charset="-122"/>
                <a:cs typeface="Aptos" pitchFamily="34" charset="-120"/>
              </a:rPr>
              <a:t>Number of assignments completed</a:t>
            </a:r>
            <a:endParaRPr lang="en-US" sz="1600">
              <a:latin typeface="Aptos"/>
            </a:endParaRPr>
          </a:p>
        </p:txBody>
      </p:sp>
      <p:sp>
        <p:nvSpPr>
          <p:cNvPr id="21" name="Text 19"/>
          <p:cNvSpPr/>
          <p:nvPr/>
        </p:nvSpPr>
        <p:spPr>
          <a:xfrm>
            <a:off x="6743700" y="1531620"/>
            <a:ext cx="1280160" cy="164592"/>
          </a:xfrm>
          <a:prstGeom prst="rect">
            <a:avLst/>
          </a:prstGeom>
          <a:noFill/>
          <a:ln/>
        </p:spPr>
        <p:txBody>
          <a:bodyPr wrap="square" lIns="254" tIns="254" rIns="254" bIns="254" rtlCol="0" anchor="t">
            <a:noAutofit/>
          </a:bodyPr>
          <a:lstStyle/>
          <a:p>
            <a:pPr marL="0" indent="0" algn="l">
              <a:buNone/>
            </a:pPr>
            <a:r>
              <a:rPr lang="en-US" sz="1600" b="1">
                <a:solidFill>
                  <a:srgbClr val="0EA5A4"/>
                </a:solidFill>
                <a:latin typeface="Aptos"/>
                <a:ea typeface="Aptos" pitchFamily="34" charset="-122"/>
                <a:cs typeface="Aptos" pitchFamily="34" charset="-120"/>
              </a:rPr>
              <a:t>MODEL FLOW</a:t>
            </a:r>
            <a:endParaRPr lang="en-US" sz="1600">
              <a:latin typeface="Aptos"/>
            </a:endParaRPr>
          </a:p>
        </p:txBody>
      </p:sp>
      <p:sp>
        <p:nvSpPr>
          <p:cNvPr id="22" name="Text 20"/>
          <p:cNvSpPr/>
          <p:nvPr/>
        </p:nvSpPr>
        <p:spPr>
          <a:xfrm>
            <a:off x="6743700" y="1897380"/>
            <a:ext cx="1828800" cy="502920"/>
          </a:xfrm>
          <a:prstGeom prst="rect">
            <a:avLst/>
          </a:prstGeom>
          <a:solidFill>
            <a:srgbClr val="FFFFFF"/>
          </a:solidFill>
          <a:ln w="6350">
            <a:solidFill>
              <a:srgbClr val="D9E2EC"/>
            </a:solidFill>
          </a:ln>
        </p:spPr>
        <p:txBody>
          <a:bodyPr wrap="square" lIns="1016" tIns="1016" rIns="1016" bIns="1016" rtlCol="0" anchor="ctr">
            <a:normAutofit/>
          </a:bodyPr>
          <a:lstStyle/>
          <a:p>
            <a:pPr marL="0" indent="0" algn="ctr">
              <a:buNone/>
            </a:pPr>
            <a:r>
              <a:rPr lang="en-US" sz="1200" b="1">
                <a:solidFill>
                  <a:srgbClr val="0B1F33"/>
                </a:solidFill>
                <a:latin typeface="Aptos" pitchFamily="34" charset="0"/>
                <a:ea typeface="Aptos" pitchFamily="34" charset="-122"/>
                <a:cs typeface="Aptos" pitchFamily="34" charset="-120"/>
              </a:rPr>
              <a:t>Hours</a:t>
            </a:r>
            <a:endParaRPr lang="en-US" sz="1200"/>
          </a:p>
          <a:p>
            <a:pPr marL="0" indent="0" algn="ctr">
              <a:buNone/>
            </a:pPr>
            <a:r>
              <a:rPr lang="en-US" sz="1200" b="1">
                <a:solidFill>
                  <a:srgbClr val="0B1F33"/>
                </a:solidFill>
                <a:latin typeface="Aptos" pitchFamily="34" charset="0"/>
                <a:ea typeface="Aptos" pitchFamily="34" charset="-122"/>
                <a:cs typeface="Aptos" pitchFamily="34" charset="-120"/>
              </a:rPr>
              <a:t>Studied</a:t>
            </a:r>
            <a:endParaRPr lang="en-US" sz="1200"/>
          </a:p>
        </p:txBody>
      </p:sp>
      <p:sp>
        <p:nvSpPr>
          <p:cNvPr id="23" name="Text 21"/>
          <p:cNvSpPr/>
          <p:nvPr/>
        </p:nvSpPr>
        <p:spPr>
          <a:xfrm>
            <a:off x="8801100" y="1897380"/>
            <a:ext cx="1828800" cy="502920"/>
          </a:xfrm>
          <a:prstGeom prst="rect">
            <a:avLst/>
          </a:prstGeom>
          <a:solidFill>
            <a:srgbClr val="FFFFFF"/>
          </a:solidFill>
          <a:ln w="6350">
            <a:solidFill>
              <a:srgbClr val="D9E2EC"/>
            </a:solidFill>
          </a:ln>
        </p:spPr>
        <p:txBody>
          <a:bodyPr wrap="square" lIns="1016" tIns="1016" rIns="1016" bIns="1016" rtlCol="0" anchor="ctr">
            <a:normAutofit/>
          </a:bodyPr>
          <a:lstStyle/>
          <a:p>
            <a:pPr marL="0" indent="0" algn="ctr">
              <a:buNone/>
            </a:pPr>
            <a:r>
              <a:rPr lang="en-US" sz="1200" b="1">
                <a:solidFill>
                  <a:srgbClr val="0B1F33"/>
                </a:solidFill>
                <a:latin typeface="Aptos" pitchFamily="34" charset="0"/>
                <a:ea typeface="Aptos" pitchFamily="34" charset="-122"/>
                <a:cs typeface="Aptos" pitchFamily="34" charset="-120"/>
              </a:rPr>
              <a:t>Attendance</a:t>
            </a:r>
            <a:endParaRPr lang="en-US" sz="1200"/>
          </a:p>
          <a:p>
            <a:pPr marL="0" indent="0" algn="ctr">
              <a:buNone/>
            </a:pPr>
            <a:r>
              <a:rPr lang="en-US" sz="1200" b="1">
                <a:solidFill>
                  <a:srgbClr val="0B1F33"/>
                </a:solidFill>
                <a:latin typeface="Aptos" pitchFamily="34" charset="0"/>
                <a:ea typeface="Aptos" pitchFamily="34" charset="-122"/>
                <a:cs typeface="Aptos" pitchFamily="34" charset="-120"/>
              </a:rPr>
              <a:t>Percent</a:t>
            </a:r>
            <a:endParaRPr lang="en-US" sz="1200"/>
          </a:p>
        </p:txBody>
      </p:sp>
      <p:sp>
        <p:nvSpPr>
          <p:cNvPr id="24" name="Text 22"/>
          <p:cNvSpPr/>
          <p:nvPr/>
        </p:nvSpPr>
        <p:spPr>
          <a:xfrm>
            <a:off x="6743700" y="2628900"/>
            <a:ext cx="1828800" cy="502920"/>
          </a:xfrm>
          <a:prstGeom prst="rect">
            <a:avLst/>
          </a:prstGeom>
          <a:solidFill>
            <a:srgbClr val="FFFFFF"/>
          </a:solidFill>
          <a:ln w="6350">
            <a:solidFill>
              <a:srgbClr val="D9E2EC"/>
            </a:solidFill>
          </a:ln>
        </p:spPr>
        <p:txBody>
          <a:bodyPr wrap="square" lIns="1016" tIns="1016" rIns="1016" bIns="1016" rtlCol="0" anchor="ctr">
            <a:normAutofit/>
          </a:bodyPr>
          <a:lstStyle/>
          <a:p>
            <a:pPr marL="0" indent="0" algn="ctr">
              <a:buNone/>
            </a:pPr>
            <a:r>
              <a:rPr lang="en-US" sz="1200" b="1">
                <a:solidFill>
                  <a:srgbClr val="0B1F33"/>
                </a:solidFill>
                <a:latin typeface="Aptos" pitchFamily="34" charset="0"/>
                <a:ea typeface="Aptos" pitchFamily="34" charset="-122"/>
                <a:cs typeface="Aptos" pitchFamily="34" charset="-120"/>
              </a:rPr>
              <a:t>Sleep</a:t>
            </a:r>
            <a:endParaRPr lang="en-US" sz="1200"/>
          </a:p>
          <a:p>
            <a:pPr marL="0" indent="0" algn="ctr">
              <a:buNone/>
            </a:pPr>
            <a:r>
              <a:rPr lang="en-US" sz="1200" b="1">
                <a:solidFill>
                  <a:srgbClr val="0B1F33"/>
                </a:solidFill>
                <a:latin typeface="Aptos" pitchFamily="34" charset="0"/>
                <a:ea typeface="Aptos" pitchFamily="34" charset="-122"/>
                <a:cs typeface="Aptos" pitchFamily="34" charset="-120"/>
              </a:rPr>
              <a:t>Hours</a:t>
            </a:r>
            <a:endParaRPr lang="en-US" sz="1200"/>
          </a:p>
        </p:txBody>
      </p:sp>
      <p:sp>
        <p:nvSpPr>
          <p:cNvPr id="25" name="Text 23"/>
          <p:cNvSpPr/>
          <p:nvPr/>
        </p:nvSpPr>
        <p:spPr>
          <a:xfrm>
            <a:off x="8801100" y="2628900"/>
            <a:ext cx="1828800" cy="502920"/>
          </a:xfrm>
          <a:prstGeom prst="rect">
            <a:avLst/>
          </a:prstGeom>
          <a:solidFill>
            <a:srgbClr val="FFFFFF"/>
          </a:solidFill>
          <a:ln w="6350">
            <a:solidFill>
              <a:srgbClr val="D9E2EC"/>
            </a:solidFill>
          </a:ln>
        </p:spPr>
        <p:txBody>
          <a:bodyPr wrap="square" lIns="1016" tIns="1016" rIns="1016" bIns="1016" rtlCol="0" anchor="ctr">
            <a:normAutofit/>
          </a:bodyPr>
          <a:lstStyle/>
          <a:p>
            <a:pPr marL="0" indent="0" algn="ctr">
              <a:buNone/>
            </a:pPr>
            <a:r>
              <a:rPr lang="en-US" sz="1200" b="1">
                <a:solidFill>
                  <a:srgbClr val="0B1F33"/>
                </a:solidFill>
                <a:latin typeface="Aptos" pitchFamily="34" charset="0"/>
                <a:ea typeface="Aptos" pitchFamily="34" charset="-122"/>
                <a:cs typeface="Aptos" pitchFamily="34" charset="-120"/>
              </a:rPr>
              <a:t>Assignments</a:t>
            </a:r>
            <a:endParaRPr lang="en-US" sz="1200"/>
          </a:p>
          <a:p>
            <a:pPr marL="0" indent="0" algn="ctr">
              <a:buNone/>
            </a:pPr>
            <a:r>
              <a:rPr lang="en-US" sz="1200" b="1">
                <a:solidFill>
                  <a:srgbClr val="0B1F33"/>
                </a:solidFill>
                <a:latin typeface="Aptos" pitchFamily="34" charset="0"/>
                <a:ea typeface="Aptos" pitchFamily="34" charset="-122"/>
                <a:cs typeface="Aptos" pitchFamily="34" charset="-120"/>
              </a:rPr>
              <a:t>Completed</a:t>
            </a:r>
            <a:endParaRPr lang="en-US" sz="1200"/>
          </a:p>
        </p:txBody>
      </p:sp>
      <p:sp>
        <p:nvSpPr>
          <p:cNvPr id="26" name="Shape 24"/>
          <p:cNvSpPr/>
          <p:nvPr/>
        </p:nvSpPr>
        <p:spPr>
          <a:xfrm>
            <a:off x="8782812" y="3360420"/>
            <a:ext cx="0" cy="502920"/>
          </a:xfrm>
          <a:prstGeom prst="line">
            <a:avLst/>
          </a:prstGeom>
          <a:noFill/>
          <a:ln w="19050">
            <a:solidFill>
              <a:srgbClr val="64748B"/>
            </a:solidFill>
            <a:prstDash val="solid"/>
            <a:tailEnd type="triangle"/>
          </a:ln>
        </p:spPr>
      </p:sp>
      <p:sp>
        <p:nvSpPr>
          <p:cNvPr id="27" name="Text 25"/>
          <p:cNvSpPr/>
          <p:nvPr/>
        </p:nvSpPr>
        <p:spPr>
          <a:xfrm>
            <a:off x="7155180" y="3936492"/>
            <a:ext cx="3246120" cy="685800"/>
          </a:xfrm>
          <a:prstGeom prst="rect">
            <a:avLst/>
          </a:prstGeom>
          <a:solidFill>
            <a:srgbClr val="0B1F33"/>
          </a:solidFill>
          <a:ln w="6350">
            <a:solidFill>
              <a:srgbClr val="0B1F33"/>
            </a:solidFill>
          </a:ln>
        </p:spPr>
        <p:txBody>
          <a:bodyPr wrap="square" lIns="1016" tIns="1016" rIns="1016" bIns="1016" rtlCol="0" anchor="ctr">
            <a:normAutofit/>
          </a:bodyPr>
          <a:lstStyle/>
          <a:p>
            <a:pPr marL="0" indent="0" algn="ctr">
              <a:buNone/>
            </a:pPr>
            <a:r>
              <a:rPr lang="en-US" sz="1600" b="1">
                <a:solidFill>
                  <a:srgbClr val="FFFFFF"/>
                </a:solidFill>
                <a:latin typeface="Aptos" pitchFamily="34" charset="0"/>
                <a:ea typeface="Aptos" pitchFamily="34" charset="-122"/>
                <a:cs typeface="Aptos" pitchFamily="34" charset="-120"/>
              </a:rPr>
              <a:t>Machine Learning Model</a:t>
            </a:r>
            <a:endParaRPr lang="en-US" sz="1600"/>
          </a:p>
        </p:txBody>
      </p:sp>
      <p:sp>
        <p:nvSpPr>
          <p:cNvPr id="28" name="Shape 26"/>
          <p:cNvSpPr/>
          <p:nvPr/>
        </p:nvSpPr>
        <p:spPr>
          <a:xfrm>
            <a:off x="8782812" y="4640580"/>
            <a:ext cx="0" cy="502920"/>
          </a:xfrm>
          <a:prstGeom prst="line">
            <a:avLst/>
          </a:prstGeom>
          <a:noFill/>
          <a:ln w="19050">
            <a:solidFill>
              <a:srgbClr val="64748B"/>
            </a:solidFill>
            <a:prstDash val="solid"/>
            <a:tailEnd type="triangle"/>
          </a:ln>
        </p:spPr>
      </p:sp>
      <p:sp>
        <p:nvSpPr>
          <p:cNvPr id="29" name="Text 27"/>
          <p:cNvSpPr/>
          <p:nvPr/>
        </p:nvSpPr>
        <p:spPr>
          <a:xfrm>
            <a:off x="7429500" y="5216652"/>
            <a:ext cx="2697480" cy="640080"/>
          </a:xfrm>
          <a:prstGeom prst="rect">
            <a:avLst/>
          </a:prstGeom>
          <a:solidFill>
            <a:srgbClr val="0EA5A4"/>
          </a:solidFill>
          <a:ln w="6350">
            <a:solidFill>
              <a:srgbClr val="0EA5A4"/>
            </a:solidFill>
          </a:ln>
        </p:spPr>
        <p:txBody>
          <a:bodyPr wrap="square" lIns="1016" tIns="1016" rIns="1016" bIns="1016" rtlCol="0" anchor="ctr">
            <a:normAutofit/>
          </a:bodyPr>
          <a:lstStyle/>
          <a:p>
            <a:pPr marL="0" indent="0" algn="ctr">
              <a:buNone/>
            </a:pPr>
            <a:r>
              <a:rPr lang="en-US" sz="1800" b="1">
                <a:solidFill>
                  <a:srgbClr val="FFFFFF"/>
                </a:solidFill>
                <a:latin typeface="Aptos" pitchFamily="34" charset="0"/>
                <a:ea typeface="Aptos" pitchFamily="34" charset="-122"/>
                <a:cs typeface="Aptos" pitchFamily="34" charset="-120"/>
              </a:rPr>
              <a:t>Exam_Score</a:t>
            </a:r>
            <a:endParaRPr lang="en-US" sz="1800"/>
          </a:p>
        </p:txBody>
      </p:sp>
      <p:sp>
        <p:nvSpPr>
          <p:cNvPr id="30" name="TextBox 29">
            <a:extLst>
              <a:ext uri="{FF2B5EF4-FFF2-40B4-BE49-F238E27FC236}">
                <a16:creationId xmlns:a16="http://schemas.microsoft.com/office/drawing/2014/main" id="{FA6C6365-1FBF-2641-D22A-3A8BA5483581}"/>
              </a:ext>
            </a:extLst>
          </p:cNvPr>
          <p:cNvSpPr txBox="1"/>
          <p:nvPr/>
        </p:nvSpPr>
        <p:spPr>
          <a:xfrm>
            <a:off x="396543" y="4780280"/>
            <a:ext cx="60960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rgbClr val="0070C0"/>
                </a:solidFill>
                <a:latin typeface="Neue Haas Grotesk Text Pro"/>
              </a:rPr>
              <a:t>Unique ID</a:t>
            </a:r>
            <a:r>
              <a:rPr lang="en-US" sz="1600" b="0" i="0" u="none" strike="noStrike" baseline="0">
                <a:solidFill>
                  <a:srgbClr val="131313"/>
                </a:solidFill>
                <a:latin typeface="Neue Haas Grotesk Text Pro"/>
              </a:rPr>
              <a:t> of each student record was excluded</a:t>
            </a:r>
            <a:r>
              <a:rPr sz="1600" b="0" i="0">
                <a:solidFill>
                  <a:srgbClr val="000000"/>
                </a:solidFill>
                <a:latin typeface="Neue Haas Grotesk Text Pro"/>
                <a:ea typeface="Neue Haas Grotesk Text Pro"/>
                <a:cs typeface="Neue Haas Grotesk Text Pro"/>
              </a:rPr>
              <a:t>​</a:t>
            </a:r>
            <a:endParaRPr lang="en-US" sz="1600"/>
          </a:p>
          <a:p>
            <a:pPr algn="ctr"/>
            <a:endParaRPr lang="en-US" sz="1600"/>
          </a:p>
        </p:txBody>
      </p:sp>
      <p:sp>
        <p:nvSpPr>
          <p:cNvPr id="31" name="TextBox 30">
            <a:extLst>
              <a:ext uri="{FF2B5EF4-FFF2-40B4-BE49-F238E27FC236}">
                <a16:creationId xmlns:a16="http://schemas.microsoft.com/office/drawing/2014/main" id="{70F07078-7FE7-6CB3-65D0-291B4C03B9BF}"/>
              </a:ext>
            </a:extLst>
          </p:cNvPr>
          <p:cNvSpPr txBox="1"/>
          <p:nvPr/>
        </p:nvSpPr>
        <p:spPr>
          <a:xfrm>
            <a:off x="396543" y="5238115"/>
            <a:ext cx="60960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0" i="0" u="none" strike="noStrike" baseline="0">
                <a:solidFill>
                  <a:srgbClr val="131313"/>
                </a:solidFill>
                <a:latin typeface="Neue Haas Grotesk Text Pro"/>
                <a:ea typeface="Segoe UI"/>
                <a:cs typeface="Segoe UI"/>
              </a:rPr>
              <a:t>Since a student's exam score is a continuous numerical value, this is a </a:t>
            </a:r>
            <a:r>
              <a:rPr lang="en-US" sz="1600">
                <a:solidFill>
                  <a:srgbClr val="002060"/>
                </a:solidFill>
                <a:highlight>
                  <a:srgbClr val="FFFF00"/>
                </a:highlight>
                <a:latin typeface="Neue Haas Grotesk Text Pro"/>
                <a:ea typeface="Segoe UI"/>
                <a:cs typeface="Segoe UI"/>
              </a:rPr>
              <a:t>regression </a:t>
            </a:r>
            <a:r>
              <a:rPr lang="en-US" sz="1600">
                <a:solidFill>
                  <a:srgbClr val="131313"/>
                </a:solidFill>
                <a:latin typeface="Neue Haas Grotesk Text Pro"/>
                <a:ea typeface="Segoe UI"/>
                <a:cs typeface="Segoe UI"/>
              </a:rPr>
              <a:t>problem</a:t>
            </a:r>
            <a:r>
              <a:rPr sz="1600" b="0" i="0">
                <a:solidFill>
                  <a:srgbClr val="000000"/>
                </a:solidFill>
                <a:latin typeface="Neue Haas Grotesk Text Pro"/>
                <a:ea typeface="Neue Haas Grotesk Text Pro"/>
                <a:cs typeface="Neue Haas Grotesk Text Pro"/>
              </a:rPr>
              <a:t>​</a:t>
            </a:r>
            <a:endParaRPr lang="en-US" sz="1600"/>
          </a:p>
          <a:p>
            <a:pPr algn="ctr"/>
            <a:endParaRPr lang="en-US" sz="1600"/>
          </a:p>
        </p:txBody>
      </p:sp>
    </p:spTree>
    <p:extLst>
      <p:ext uri="{BB962C8B-B14F-4D97-AF65-F5344CB8AC3E}">
        <p14:creationId xmlns:p14="http://schemas.microsoft.com/office/powerpoint/2010/main" val="1634947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597408"/>
            <a:ext cx="7132320" cy="384048"/>
          </a:xfrm>
          <a:prstGeom prst="rect">
            <a:avLst/>
          </a:prstGeom>
          <a:noFill/>
          <a:ln/>
        </p:spPr>
        <p:txBody>
          <a:bodyPr wrap="square" lIns="254" tIns="254" rIns="254" bIns="254" rtlCol="0" anchor="t">
            <a:normAutofit/>
          </a:bodyPr>
          <a:lstStyle/>
          <a:p>
            <a:pPr marL="0" indent="0" algn="l">
              <a:buNone/>
            </a:pPr>
            <a:r>
              <a:rPr lang="en-US" sz="2400" b="1">
                <a:solidFill>
                  <a:srgbClr val="0B1F33"/>
                </a:solidFill>
                <a:latin typeface="Aptos Display" pitchFamily="34" charset="0"/>
                <a:ea typeface="Aptos Display" pitchFamily="34" charset="-122"/>
                <a:cs typeface="Aptos Display" pitchFamily="34" charset="-120"/>
              </a:rPr>
              <a:t>Data Quality</a:t>
            </a:r>
            <a:endParaRPr lang="en-US" sz="2400"/>
          </a:p>
        </p:txBody>
      </p:sp>
      <p:sp>
        <p:nvSpPr>
          <p:cNvPr id="5" name="Shape 3"/>
          <p:cNvSpPr/>
          <p:nvPr/>
        </p:nvSpPr>
        <p:spPr>
          <a:xfrm>
            <a:off x="502920" y="1124712"/>
            <a:ext cx="11155680" cy="0"/>
          </a:xfrm>
          <a:prstGeom prst="line">
            <a:avLst/>
          </a:prstGeom>
          <a:noFill/>
          <a:ln w="9525">
            <a:solidFill>
              <a:srgbClr val="D9E2EC"/>
            </a:solidFill>
            <a:prstDash val="solid"/>
          </a:ln>
        </p:spPr>
      </p:sp>
      <p:sp>
        <p:nvSpPr>
          <p:cNvPr id="6" name="Shape 4"/>
          <p:cNvSpPr/>
          <p:nvPr/>
        </p:nvSpPr>
        <p:spPr>
          <a:xfrm>
            <a:off x="502920" y="6446520"/>
            <a:ext cx="11155680" cy="0"/>
          </a:xfrm>
          <a:prstGeom prst="line">
            <a:avLst/>
          </a:prstGeom>
          <a:noFill/>
          <a:ln w="9525">
            <a:solidFill>
              <a:srgbClr val="D9E2EC"/>
            </a:solidFill>
            <a:prstDash val="solid"/>
          </a:ln>
        </p:spPr>
      </p:sp>
      <p:sp>
        <p:nvSpPr>
          <p:cNvPr id="9" name="Text 7"/>
          <p:cNvSpPr/>
          <p:nvPr/>
        </p:nvSpPr>
        <p:spPr>
          <a:xfrm>
            <a:off x="685800" y="1417320"/>
            <a:ext cx="1417320" cy="411480"/>
          </a:xfrm>
          <a:prstGeom prst="rect">
            <a:avLst/>
          </a:prstGeom>
          <a:solidFill>
            <a:srgbClr val="FFFFFF"/>
          </a:solidFill>
          <a:ln w="6350">
            <a:solidFill>
              <a:srgbClr val="D9E2EC"/>
            </a:solidFill>
          </a:ln>
        </p:spPr>
        <p:txBody>
          <a:bodyPr wrap="square" lIns="1016" tIns="1016" rIns="1016" bIns="1016" rtlCol="0" anchor="ctr">
            <a:normAutofit/>
          </a:bodyPr>
          <a:lstStyle/>
          <a:p>
            <a:pPr marL="0" indent="0" algn="ctr">
              <a:buNone/>
            </a:pPr>
            <a:r>
              <a:rPr lang="en-US" sz="2000" b="1">
                <a:solidFill>
                  <a:srgbClr val="0EA5A4"/>
                </a:solidFill>
                <a:latin typeface="Aptos" pitchFamily="34" charset="0"/>
                <a:ea typeface="Aptos" pitchFamily="34" charset="-122"/>
                <a:cs typeface="Aptos" pitchFamily="34" charset="-120"/>
              </a:rPr>
              <a:t>80</a:t>
            </a:r>
            <a:endParaRPr lang="en-US" sz="2000"/>
          </a:p>
        </p:txBody>
      </p:sp>
      <p:sp>
        <p:nvSpPr>
          <p:cNvPr id="10" name="Text 8"/>
          <p:cNvSpPr/>
          <p:nvPr/>
        </p:nvSpPr>
        <p:spPr>
          <a:xfrm>
            <a:off x="685800" y="1883664"/>
            <a:ext cx="1417320" cy="164592"/>
          </a:xfrm>
          <a:prstGeom prst="rect">
            <a:avLst/>
          </a:prstGeom>
          <a:noFill/>
          <a:ln/>
        </p:spPr>
        <p:txBody>
          <a:bodyPr wrap="square" lIns="254" tIns="254" rIns="254" bIns="254" rtlCol="0" anchor="t">
            <a:normAutofit/>
          </a:bodyPr>
          <a:lstStyle/>
          <a:p>
            <a:pPr marL="0" indent="0" algn="ctr">
              <a:buNone/>
            </a:pPr>
            <a:r>
              <a:rPr lang="en-US" sz="750">
                <a:solidFill>
                  <a:srgbClr val="64748B"/>
                </a:solidFill>
                <a:latin typeface="Aptos" pitchFamily="34" charset="0"/>
                <a:ea typeface="Aptos" pitchFamily="34" charset="-122"/>
                <a:cs typeface="Aptos" pitchFamily="34" charset="-120"/>
              </a:rPr>
              <a:t>records</a:t>
            </a:r>
            <a:endParaRPr lang="en-US" sz="750"/>
          </a:p>
        </p:txBody>
      </p:sp>
      <p:sp>
        <p:nvSpPr>
          <p:cNvPr id="11" name="Text 9"/>
          <p:cNvSpPr/>
          <p:nvPr/>
        </p:nvSpPr>
        <p:spPr>
          <a:xfrm>
            <a:off x="2331720" y="1417320"/>
            <a:ext cx="1417320" cy="411480"/>
          </a:xfrm>
          <a:prstGeom prst="rect">
            <a:avLst/>
          </a:prstGeom>
          <a:solidFill>
            <a:srgbClr val="FFFFFF"/>
          </a:solidFill>
          <a:ln w="6350">
            <a:solidFill>
              <a:srgbClr val="D9E2EC"/>
            </a:solidFill>
          </a:ln>
        </p:spPr>
        <p:txBody>
          <a:bodyPr wrap="square" lIns="1016" tIns="1016" rIns="1016" bIns="1016" rtlCol="0" anchor="ctr">
            <a:normAutofit/>
          </a:bodyPr>
          <a:lstStyle/>
          <a:p>
            <a:pPr marL="0" indent="0" algn="ctr">
              <a:buNone/>
            </a:pPr>
            <a:r>
              <a:rPr lang="en-US" sz="2000" b="1">
                <a:solidFill>
                  <a:srgbClr val="2563EB"/>
                </a:solidFill>
                <a:latin typeface="Aptos" pitchFamily="34" charset="0"/>
                <a:ea typeface="Aptos" pitchFamily="34" charset="-122"/>
                <a:cs typeface="Aptos" pitchFamily="34" charset="-120"/>
              </a:rPr>
              <a:t>6</a:t>
            </a:r>
            <a:endParaRPr lang="en-US" sz="2000"/>
          </a:p>
        </p:txBody>
      </p:sp>
      <p:sp>
        <p:nvSpPr>
          <p:cNvPr id="12" name="Text 10"/>
          <p:cNvSpPr/>
          <p:nvPr/>
        </p:nvSpPr>
        <p:spPr>
          <a:xfrm>
            <a:off x="2331720" y="1883664"/>
            <a:ext cx="1417320" cy="164592"/>
          </a:xfrm>
          <a:prstGeom prst="rect">
            <a:avLst/>
          </a:prstGeom>
          <a:noFill/>
          <a:ln/>
        </p:spPr>
        <p:txBody>
          <a:bodyPr wrap="square" lIns="254" tIns="254" rIns="254" bIns="254" rtlCol="0" anchor="t">
            <a:normAutofit/>
          </a:bodyPr>
          <a:lstStyle/>
          <a:p>
            <a:pPr marL="0" indent="0" algn="ctr">
              <a:buNone/>
            </a:pPr>
            <a:r>
              <a:rPr lang="en-US" sz="750">
                <a:solidFill>
                  <a:srgbClr val="64748B"/>
                </a:solidFill>
                <a:latin typeface="Aptos" pitchFamily="34" charset="0"/>
                <a:ea typeface="Aptos" pitchFamily="34" charset="-122"/>
                <a:cs typeface="Aptos" pitchFamily="34" charset="-120"/>
              </a:rPr>
              <a:t>fields</a:t>
            </a:r>
            <a:endParaRPr lang="en-US" sz="750"/>
          </a:p>
        </p:txBody>
      </p:sp>
      <p:sp>
        <p:nvSpPr>
          <p:cNvPr id="13" name="Text 11"/>
          <p:cNvSpPr/>
          <p:nvPr/>
        </p:nvSpPr>
        <p:spPr>
          <a:xfrm>
            <a:off x="3977640" y="1417320"/>
            <a:ext cx="1417320" cy="411480"/>
          </a:xfrm>
          <a:prstGeom prst="rect">
            <a:avLst/>
          </a:prstGeom>
          <a:solidFill>
            <a:srgbClr val="FFFFFF"/>
          </a:solidFill>
          <a:ln w="6350">
            <a:solidFill>
              <a:srgbClr val="D9E2EC"/>
            </a:solidFill>
          </a:ln>
        </p:spPr>
        <p:txBody>
          <a:bodyPr wrap="square" lIns="1016" tIns="1016" rIns="1016" bIns="1016" rtlCol="0" anchor="ctr">
            <a:normAutofit/>
          </a:bodyPr>
          <a:lstStyle/>
          <a:p>
            <a:pPr marL="0" indent="0" algn="ctr">
              <a:buNone/>
            </a:pPr>
            <a:r>
              <a:rPr lang="en-US" sz="2000" b="1">
                <a:solidFill>
                  <a:srgbClr val="6A7D6A"/>
                </a:solidFill>
                <a:latin typeface="Aptos" pitchFamily="34" charset="0"/>
                <a:ea typeface="Aptos" pitchFamily="34" charset="-122"/>
                <a:cs typeface="Aptos" pitchFamily="34" charset="-120"/>
              </a:rPr>
              <a:t>0</a:t>
            </a:r>
            <a:endParaRPr lang="en-US" sz="2000"/>
          </a:p>
        </p:txBody>
      </p:sp>
      <p:sp>
        <p:nvSpPr>
          <p:cNvPr id="14" name="Text 12"/>
          <p:cNvSpPr/>
          <p:nvPr/>
        </p:nvSpPr>
        <p:spPr>
          <a:xfrm>
            <a:off x="3977640" y="1883664"/>
            <a:ext cx="1417320" cy="164592"/>
          </a:xfrm>
          <a:prstGeom prst="rect">
            <a:avLst/>
          </a:prstGeom>
          <a:noFill/>
          <a:ln/>
        </p:spPr>
        <p:txBody>
          <a:bodyPr wrap="square" lIns="254" tIns="254" rIns="254" bIns="254" rtlCol="0" anchor="t">
            <a:normAutofit/>
          </a:bodyPr>
          <a:lstStyle/>
          <a:p>
            <a:pPr marL="0" indent="0" algn="ctr">
              <a:buNone/>
            </a:pPr>
            <a:r>
              <a:rPr lang="en-US" sz="750">
                <a:solidFill>
                  <a:srgbClr val="64748B"/>
                </a:solidFill>
                <a:latin typeface="Aptos" pitchFamily="34" charset="0"/>
                <a:ea typeface="Aptos" pitchFamily="34" charset="-122"/>
                <a:cs typeface="Aptos" pitchFamily="34" charset="-120"/>
              </a:rPr>
              <a:t>missing values</a:t>
            </a:r>
            <a:endParaRPr lang="en-US" sz="750"/>
          </a:p>
        </p:txBody>
      </p:sp>
      <p:sp>
        <p:nvSpPr>
          <p:cNvPr id="15" name="Text 13"/>
          <p:cNvSpPr/>
          <p:nvPr/>
        </p:nvSpPr>
        <p:spPr>
          <a:xfrm>
            <a:off x="5623560" y="1417320"/>
            <a:ext cx="1417320" cy="411480"/>
          </a:xfrm>
          <a:prstGeom prst="rect">
            <a:avLst/>
          </a:prstGeom>
          <a:solidFill>
            <a:srgbClr val="FFFFFF"/>
          </a:solidFill>
          <a:ln w="6350">
            <a:solidFill>
              <a:srgbClr val="D9E2EC"/>
            </a:solidFill>
          </a:ln>
        </p:spPr>
        <p:txBody>
          <a:bodyPr wrap="square" lIns="1016" tIns="1016" rIns="1016" bIns="1016" rtlCol="0" anchor="ctr">
            <a:normAutofit/>
          </a:bodyPr>
          <a:lstStyle/>
          <a:p>
            <a:pPr marL="0" indent="0" algn="ctr">
              <a:buNone/>
            </a:pPr>
            <a:r>
              <a:rPr lang="en-US" sz="2000" b="1">
                <a:solidFill>
                  <a:srgbClr val="F5C542"/>
                </a:solidFill>
                <a:latin typeface="Aptos" pitchFamily="34" charset="0"/>
                <a:ea typeface="Aptos" pitchFamily="34" charset="-122"/>
                <a:cs typeface="Aptos" pitchFamily="34" charset="-120"/>
              </a:rPr>
              <a:t>0</a:t>
            </a:r>
            <a:endParaRPr lang="en-US" sz="2000"/>
          </a:p>
        </p:txBody>
      </p:sp>
      <p:sp>
        <p:nvSpPr>
          <p:cNvPr id="16" name="Text 14"/>
          <p:cNvSpPr/>
          <p:nvPr/>
        </p:nvSpPr>
        <p:spPr>
          <a:xfrm>
            <a:off x="5623560" y="1883664"/>
            <a:ext cx="1417320" cy="164592"/>
          </a:xfrm>
          <a:prstGeom prst="rect">
            <a:avLst/>
          </a:prstGeom>
          <a:noFill/>
          <a:ln/>
        </p:spPr>
        <p:txBody>
          <a:bodyPr wrap="square" lIns="254" tIns="254" rIns="254" bIns="254" rtlCol="0" anchor="t">
            <a:normAutofit/>
          </a:bodyPr>
          <a:lstStyle/>
          <a:p>
            <a:pPr marL="0" indent="0" algn="ctr">
              <a:buNone/>
            </a:pPr>
            <a:r>
              <a:rPr lang="en-US" sz="750">
                <a:solidFill>
                  <a:srgbClr val="64748B"/>
                </a:solidFill>
                <a:latin typeface="Aptos" pitchFamily="34" charset="0"/>
                <a:ea typeface="Aptos" pitchFamily="34" charset="-122"/>
                <a:cs typeface="Aptos" pitchFamily="34" charset="-120"/>
              </a:rPr>
              <a:t>duplicate IDs</a:t>
            </a:r>
            <a:endParaRPr lang="en-US" sz="750"/>
          </a:p>
        </p:txBody>
      </p:sp>
      <p:sp>
        <p:nvSpPr>
          <p:cNvPr id="17" name="Text 15"/>
          <p:cNvSpPr/>
          <p:nvPr/>
        </p:nvSpPr>
        <p:spPr>
          <a:xfrm>
            <a:off x="685800" y="2477008"/>
            <a:ext cx="1188720" cy="164592"/>
          </a:xfrm>
          <a:prstGeom prst="rect">
            <a:avLst/>
          </a:prstGeom>
          <a:noFill/>
          <a:ln/>
        </p:spPr>
        <p:txBody>
          <a:bodyPr wrap="square" lIns="254" tIns="254" rIns="254" bIns="254" rtlCol="0" anchor="t">
            <a:noAutofit/>
          </a:bodyPr>
          <a:lstStyle/>
          <a:p>
            <a:pPr marL="0" indent="0" algn="l">
              <a:buNone/>
            </a:pPr>
            <a:r>
              <a:rPr lang="en-US" sz="1600" b="1">
                <a:solidFill>
                  <a:srgbClr val="57BDA5"/>
                </a:solidFill>
                <a:latin typeface="Aptos"/>
                <a:ea typeface="Aptos" pitchFamily="34" charset="-122"/>
                <a:cs typeface="Aptos" pitchFamily="34" charset="-120"/>
              </a:rPr>
              <a:t>FINDINGS</a:t>
            </a:r>
            <a:endParaRPr lang="en-US" sz="1600">
              <a:solidFill>
                <a:srgbClr val="57BDA5"/>
              </a:solidFill>
              <a:latin typeface="Aptos"/>
            </a:endParaRPr>
          </a:p>
        </p:txBody>
      </p:sp>
      <p:sp>
        <p:nvSpPr>
          <p:cNvPr id="18" name="Shape 16"/>
          <p:cNvSpPr/>
          <p:nvPr/>
        </p:nvSpPr>
        <p:spPr>
          <a:xfrm>
            <a:off x="743712" y="3192272"/>
            <a:ext cx="82296" cy="82296"/>
          </a:xfrm>
          <a:prstGeom prst="ellipse">
            <a:avLst/>
          </a:prstGeom>
          <a:solidFill>
            <a:srgbClr val="0EA5A4"/>
          </a:solidFill>
          <a:ln w="12700">
            <a:solidFill>
              <a:srgbClr val="0EA5A4">
                <a:alpha val="0"/>
              </a:srgbClr>
            </a:solidFill>
            <a:prstDash val="solid"/>
          </a:ln>
        </p:spPr>
      </p:sp>
      <p:sp>
        <p:nvSpPr>
          <p:cNvPr id="19" name="Text 17"/>
          <p:cNvSpPr/>
          <p:nvPr/>
        </p:nvSpPr>
        <p:spPr>
          <a:xfrm>
            <a:off x="926592" y="3119120"/>
            <a:ext cx="4937760" cy="292608"/>
          </a:xfrm>
          <a:prstGeom prst="rect">
            <a:avLst/>
          </a:prstGeom>
          <a:noFill/>
          <a:ln/>
        </p:spPr>
        <p:txBody>
          <a:bodyPr wrap="square" lIns="254" tIns="254" rIns="254" bIns="254" rtlCol="0" anchor="t">
            <a:normAutofit/>
          </a:bodyPr>
          <a:lstStyle/>
          <a:p>
            <a:pPr marL="0" indent="0" algn="l">
              <a:buNone/>
            </a:pPr>
            <a:r>
              <a:rPr lang="en-US" sz="1600">
                <a:solidFill>
                  <a:srgbClr val="0B1F33"/>
                </a:solidFill>
                <a:latin typeface="Neue Haas Grotesk Text Pro"/>
                <a:ea typeface="Aptos" pitchFamily="34" charset="-122"/>
                <a:cs typeface="Aptos" pitchFamily="34" charset="-120"/>
              </a:rPr>
              <a:t>No missing values across all variables</a:t>
            </a:r>
            <a:endParaRPr lang="en-US" sz="1600">
              <a:latin typeface="Neue Haas Grotesk Text Pro"/>
            </a:endParaRPr>
          </a:p>
        </p:txBody>
      </p:sp>
      <p:sp>
        <p:nvSpPr>
          <p:cNvPr id="20" name="Shape 18"/>
          <p:cNvSpPr/>
          <p:nvPr/>
        </p:nvSpPr>
        <p:spPr>
          <a:xfrm>
            <a:off x="743712" y="3631184"/>
            <a:ext cx="82296" cy="82296"/>
          </a:xfrm>
          <a:prstGeom prst="ellipse">
            <a:avLst/>
          </a:prstGeom>
          <a:solidFill>
            <a:srgbClr val="0EA5A4"/>
          </a:solidFill>
          <a:ln w="12700">
            <a:solidFill>
              <a:srgbClr val="0EA5A4">
                <a:alpha val="0"/>
              </a:srgbClr>
            </a:solidFill>
            <a:prstDash val="solid"/>
          </a:ln>
        </p:spPr>
      </p:sp>
      <p:sp>
        <p:nvSpPr>
          <p:cNvPr id="21" name="Text 19"/>
          <p:cNvSpPr/>
          <p:nvPr/>
        </p:nvSpPr>
        <p:spPr>
          <a:xfrm>
            <a:off x="926592" y="3558032"/>
            <a:ext cx="4937760" cy="292608"/>
          </a:xfrm>
          <a:prstGeom prst="rect">
            <a:avLst/>
          </a:prstGeom>
          <a:noFill/>
          <a:ln/>
        </p:spPr>
        <p:txBody>
          <a:bodyPr wrap="square" lIns="254" tIns="254" rIns="254" bIns="254" rtlCol="0" anchor="t">
            <a:normAutofit/>
          </a:bodyPr>
          <a:lstStyle/>
          <a:p>
            <a:pPr marL="0" indent="0" algn="l">
              <a:buNone/>
            </a:pPr>
            <a:r>
              <a:rPr lang="en-US" sz="1600"/>
              <a:t>No duplicated record IDs</a:t>
            </a:r>
          </a:p>
        </p:txBody>
      </p:sp>
      <p:sp>
        <p:nvSpPr>
          <p:cNvPr id="22" name="Shape 20"/>
          <p:cNvSpPr/>
          <p:nvPr/>
        </p:nvSpPr>
        <p:spPr>
          <a:xfrm>
            <a:off x="743712" y="4070096"/>
            <a:ext cx="82296" cy="82296"/>
          </a:xfrm>
          <a:prstGeom prst="ellipse">
            <a:avLst/>
          </a:prstGeom>
          <a:solidFill>
            <a:srgbClr val="0EA5A4"/>
          </a:solidFill>
          <a:ln w="12700">
            <a:solidFill>
              <a:srgbClr val="0EA5A4">
                <a:alpha val="0"/>
              </a:srgbClr>
            </a:solidFill>
            <a:prstDash val="solid"/>
          </a:ln>
        </p:spPr>
      </p:sp>
      <p:sp>
        <p:nvSpPr>
          <p:cNvPr id="23" name="Text 21"/>
          <p:cNvSpPr/>
          <p:nvPr/>
        </p:nvSpPr>
        <p:spPr>
          <a:xfrm>
            <a:off x="926592" y="3996944"/>
            <a:ext cx="4937760" cy="292608"/>
          </a:xfrm>
          <a:prstGeom prst="rect">
            <a:avLst/>
          </a:prstGeom>
          <a:noFill/>
          <a:ln/>
        </p:spPr>
        <p:txBody>
          <a:bodyPr wrap="square" lIns="254" tIns="254" rIns="254" bIns="254" rtlCol="0" anchor="t">
            <a:normAutofit fontScale="92500"/>
          </a:bodyPr>
          <a:lstStyle/>
          <a:p>
            <a:pPr marL="0" indent="0" algn="l">
              <a:buNone/>
            </a:pPr>
            <a:r>
              <a:rPr lang="en-US" sz="1600">
                <a:solidFill>
                  <a:srgbClr val="0B1F33"/>
                </a:solidFill>
                <a:latin typeface="Neue Haas Grotesk Text Pro"/>
                <a:ea typeface="Aptos" pitchFamily="34" charset="-122"/>
                <a:cs typeface="Aptos" pitchFamily="34" charset="-120"/>
              </a:rPr>
              <a:t>The numerical variables were within reasonable ranges</a:t>
            </a:r>
            <a:endParaRPr lang="en-US" sz="1600">
              <a:latin typeface="Neue Haas Grotesk Text Pro"/>
            </a:endParaRPr>
          </a:p>
        </p:txBody>
      </p:sp>
      <p:sp>
        <p:nvSpPr>
          <p:cNvPr id="24" name="Shape 22"/>
          <p:cNvSpPr/>
          <p:nvPr/>
        </p:nvSpPr>
        <p:spPr>
          <a:xfrm>
            <a:off x="743712" y="4509008"/>
            <a:ext cx="82296" cy="82296"/>
          </a:xfrm>
          <a:prstGeom prst="ellipse">
            <a:avLst/>
          </a:prstGeom>
          <a:solidFill>
            <a:srgbClr val="0EA5A4"/>
          </a:solidFill>
          <a:ln w="12700">
            <a:solidFill>
              <a:srgbClr val="0EA5A4">
                <a:alpha val="0"/>
              </a:srgbClr>
            </a:solidFill>
            <a:prstDash val="solid"/>
          </a:ln>
        </p:spPr>
      </p:sp>
      <p:sp>
        <p:nvSpPr>
          <p:cNvPr id="25" name="Text 23"/>
          <p:cNvSpPr/>
          <p:nvPr/>
        </p:nvSpPr>
        <p:spPr>
          <a:xfrm>
            <a:off x="926592" y="4435856"/>
            <a:ext cx="4937760" cy="292608"/>
          </a:xfrm>
          <a:prstGeom prst="rect">
            <a:avLst/>
          </a:prstGeom>
          <a:noFill/>
          <a:ln/>
        </p:spPr>
        <p:txBody>
          <a:bodyPr wrap="square" lIns="254" tIns="254" rIns="254" bIns="254" rtlCol="0" anchor="t">
            <a:normAutofit/>
          </a:bodyPr>
          <a:lstStyle/>
          <a:p>
            <a:pPr marL="0" indent="0" algn="l">
              <a:buNone/>
            </a:pPr>
            <a:r>
              <a:rPr lang="en-US" sz="1600">
                <a:solidFill>
                  <a:srgbClr val="0B1F33"/>
                </a:solidFill>
                <a:latin typeface="Neue Haas Grotesk Text Pro"/>
                <a:ea typeface="Aptos" pitchFamily="34" charset="-122"/>
                <a:cs typeface="Aptos" pitchFamily="34" charset="-120"/>
              </a:rPr>
              <a:t>No obvious unusual observations were identified</a:t>
            </a:r>
            <a:endParaRPr lang="en-US" sz="1600">
              <a:latin typeface="Neue Haas Grotesk Text Pro"/>
            </a:endParaRPr>
          </a:p>
        </p:txBody>
      </p:sp>
      <p:sp>
        <p:nvSpPr>
          <p:cNvPr id="27" name="Text 25"/>
          <p:cNvSpPr/>
          <p:nvPr/>
        </p:nvSpPr>
        <p:spPr>
          <a:xfrm>
            <a:off x="671379" y="5108751"/>
            <a:ext cx="6156960" cy="272288"/>
          </a:xfrm>
          <a:prstGeom prst="rect">
            <a:avLst/>
          </a:prstGeom>
          <a:noFill/>
          <a:ln/>
        </p:spPr>
        <p:txBody>
          <a:bodyPr wrap="square" lIns="254" tIns="254" rIns="254" bIns="254" rtlCol="0" anchor="t">
            <a:noAutofit/>
          </a:bodyPr>
          <a:lstStyle/>
          <a:p>
            <a:pPr marL="0" indent="0" algn="l">
              <a:buNone/>
            </a:pPr>
            <a:r>
              <a:rPr lang="en-US" sz="1600" b="1">
                <a:solidFill>
                  <a:srgbClr val="0B1F33"/>
                </a:solidFill>
                <a:highlight>
                  <a:srgbClr val="FFFF00"/>
                </a:highlight>
                <a:latin typeface="Neue Haas Grotesk Text Pro"/>
                <a:ea typeface="Aptos" pitchFamily="34" charset="-122"/>
                <a:cs typeface="Aptos" pitchFamily="34" charset="-120"/>
              </a:rPr>
              <a:t>No records were removed before modeling from the clean baseline dataset</a:t>
            </a:r>
            <a:endParaRPr lang="en-US" sz="1600">
              <a:highlight>
                <a:srgbClr val="FFFF00"/>
              </a:highlight>
              <a:latin typeface="Neue Haas Grotesk Text Pro"/>
            </a:endParaRPr>
          </a:p>
        </p:txBody>
      </p:sp>
      <p:pic>
        <p:nvPicPr>
          <p:cNvPr id="42" name="Picture 41">
            <a:extLst>
              <a:ext uri="{FF2B5EF4-FFF2-40B4-BE49-F238E27FC236}">
                <a16:creationId xmlns:a16="http://schemas.microsoft.com/office/drawing/2014/main" id="{2F43EDA0-6EFB-E47B-6027-A237A6AD72AF}"/>
              </a:ext>
            </a:extLst>
          </p:cNvPr>
          <p:cNvPicPr>
            <a:picLocks noChangeAspect="1"/>
          </p:cNvPicPr>
          <p:nvPr/>
        </p:nvPicPr>
        <p:blipFill>
          <a:blip r:embed="rId3"/>
          <a:srcRect r="-207" b="-337"/>
          <a:stretch>
            <a:fillRect/>
          </a:stretch>
        </p:blipFill>
        <p:spPr>
          <a:xfrm>
            <a:off x="6965632" y="2092008"/>
            <a:ext cx="4123072" cy="2501270"/>
          </a:xfrm>
          <a:prstGeom prst="rect">
            <a:avLst/>
          </a:prstGeom>
        </p:spPr>
      </p:pic>
      <p:sp>
        <p:nvSpPr>
          <p:cNvPr id="3" name="Shape 16">
            <a:extLst>
              <a:ext uri="{FF2B5EF4-FFF2-40B4-BE49-F238E27FC236}">
                <a16:creationId xmlns:a16="http://schemas.microsoft.com/office/drawing/2014/main" id="{B4CC0FB7-2D02-6021-8026-146227C936A5}"/>
              </a:ext>
            </a:extLst>
          </p:cNvPr>
          <p:cNvSpPr/>
          <p:nvPr/>
        </p:nvSpPr>
        <p:spPr>
          <a:xfrm>
            <a:off x="743712" y="2816351"/>
            <a:ext cx="82296" cy="82296"/>
          </a:xfrm>
          <a:prstGeom prst="ellipse">
            <a:avLst/>
          </a:prstGeom>
          <a:solidFill>
            <a:srgbClr val="0EA5A4"/>
          </a:solidFill>
          <a:ln w="12700">
            <a:solidFill>
              <a:srgbClr val="0EA5A4">
                <a:alpha val="0"/>
              </a:srgbClr>
            </a:solidFill>
            <a:prstDash val="solid"/>
          </a:ln>
        </p:spPr>
      </p:sp>
      <p:sp>
        <p:nvSpPr>
          <p:cNvPr id="4" name="Text 17">
            <a:extLst>
              <a:ext uri="{FF2B5EF4-FFF2-40B4-BE49-F238E27FC236}">
                <a16:creationId xmlns:a16="http://schemas.microsoft.com/office/drawing/2014/main" id="{591003DA-FD54-8D0E-4F88-246A2EBDE16B}"/>
              </a:ext>
            </a:extLst>
          </p:cNvPr>
          <p:cNvSpPr/>
          <p:nvPr/>
        </p:nvSpPr>
        <p:spPr>
          <a:xfrm>
            <a:off x="926592" y="2743199"/>
            <a:ext cx="4937760" cy="292608"/>
          </a:xfrm>
          <a:prstGeom prst="rect">
            <a:avLst/>
          </a:prstGeom>
          <a:noFill/>
          <a:ln/>
        </p:spPr>
        <p:txBody>
          <a:bodyPr wrap="square" lIns="254" tIns="254" rIns="254" bIns="254" rtlCol="0" anchor="t">
            <a:normAutofit/>
          </a:bodyPr>
          <a:lstStyle/>
          <a:p>
            <a:r>
              <a:rPr lang="en-US" sz="1600">
                <a:solidFill>
                  <a:srgbClr val="0B1F33"/>
                </a:solidFill>
                <a:ea typeface="+mn-lt"/>
                <a:cs typeface="+mn-lt"/>
              </a:rPr>
              <a:t>The dataset contains 80 records and 6 fields </a:t>
            </a:r>
            <a:endParaRPr lang="en-US" sz="1600"/>
          </a:p>
        </p:txBody>
      </p:sp>
      <p:pic>
        <p:nvPicPr>
          <p:cNvPr id="29" name="Picture 28" descr="A computer code with text&#10;&#10;AI-generated content may be incorrect.">
            <a:extLst>
              <a:ext uri="{FF2B5EF4-FFF2-40B4-BE49-F238E27FC236}">
                <a16:creationId xmlns:a16="http://schemas.microsoft.com/office/drawing/2014/main" id="{BB2CDD6E-F6B5-D213-6366-EAF415CE2E3E}"/>
              </a:ext>
            </a:extLst>
          </p:cNvPr>
          <p:cNvPicPr>
            <a:picLocks noChangeAspect="1"/>
          </p:cNvPicPr>
          <p:nvPr/>
        </p:nvPicPr>
        <p:blipFill>
          <a:blip r:embed="rId4"/>
          <a:stretch>
            <a:fillRect/>
          </a:stretch>
        </p:blipFill>
        <p:spPr>
          <a:xfrm>
            <a:off x="6984562" y="4764517"/>
            <a:ext cx="4101864" cy="122924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505968"/>
            <a:ext cx="7132320" cy="384048"/>
          </a:xfrm>
          <a:prstGeom prst="rect">
            <a:avLst/>
          </a:prstGeom>
          <a:noFill/>
          <a:ln/>
        </p:spPr>
        <p:txBody>
          <a:bodyPr wrap="square" lIns="254" tIns="254" rIns="254" bIns="254" rtlCol="0" anchor="t">
            <a:normAutofit/>
          </a:bodyPr>
          <a:lstStyle/>
          <a:p>
            <a:pPr marL="0" indent="0" algn="l">
              <a:buNone/>
            </a:pPr>
            <a:r>
              <a:rPr lang="en-US" sz="2400" b="1">
                <a:solidFill>
                  <a:srgbClr val="0B1F33"/>
                </a:solidFill>
                <a:latin typeface="Aptos Display" pitchFamily="34" charset="0"/>
                <a:ea typeface="Aptos Display" pitchFamily="34" charset="-122"/>
                <a:cs typeface="Aptos Display" pitchFamily="34" charset="-120"/>
              </a:rPr>
              <a:t>Summary Statistics</a:t>
            </a:r>
            <a:endParaRPr lang="en-US" sz="2400"/>
          </a:p>
        </p:txBody>
      </p:sp>
      <p:sp>
        <p:nvSpPr>
          <p:cNvPr id="5" name="Shape 3"/>
          <p:cNvSpPr/>
          <p:nvPr/>
        </p:nvSpPr>
        <p:spPr>
          <a:xfrm>
            <a:off x="502920" y="1124712"/>
            <a:ext cx="11155680" cy="0"/>
          </a:xfrm>
          <a:prstGeom prst="line">
            <a:avLst/>
          </a:prstGeom>
          <a:noFill/>
          <a:ln w="9525">
            <a:solidFill>
              <a:srgbClr val="D9E2EC"/>
            </a:solidFill>
            <a:prstDash val="solid"/>
          </a:ln>
        </p:spPr>
      </p:sp>
      <p:sp>
        <p:nvSpPr>
          <p:cNvPr id="6" name="Shape 4"/>
          <p:cNvSpPr/>
          <p:nvPr/>
        </p:nvSpPr>
        <p:spPr>
          <a:xfrm>
            <a:off x="502920" y="6446520"/>
            <a:ext cx="11155680" cy="0"/>
          </a:xfrm>
          <a:prstGeom prst="line">
            <a:avLst/>
          </a:prstGeom>
          <a:noFill/>
          <a:ln w="9525">
            <a:solidFill>
              <a:srgbClr val="D9E2EC"/>
            </a:solidFill>
            <a:prstDash val="solid"/>
          </a:ln>
        </p:spPr>
      </p:sp>
      <p:pic>
        <p:nvPicPr>
          <p:cNvPr id="37" name="Picture 36">
            <a:extLst>
              <a:ext uri="{FF2B5EF4-FFF2-40B4-BE49-F238E27FC236}">
                <a16:creationId xmlns:a16="http://schemas.microsoft.com/office/drawing/2014/main" id="{28495EC7-45C2-3EDC-CE9C-2B029805246F}"/>
              </a:ext>
            </a:extLst>
          </p:cNvPr>
          <p:cNvPicPr>
            <a:picLocks noChangeAspect="1"/>
          </p:cNvPicPr>
          <p:nvPr/>
        </p:nvPicPr>
        <p:blipFill>
          <a:blip r:embed="rId3"/>
          <a:srcRect r="94"/>
          <a:stretch>
            <a:fillRect/>
          </a:stretch>
        </p:blipFill>
        <p:spPr>
          <a:xfrm>
            <a:off x="765772" y="1362142"/>
            <a:ext cx="10347907" cy="4613663"/>
          </a:xfrm>
          <a:prstGeom prst="rect">
            <a:avLst/>
          </a:prstGeom>
        </p:spPr>
      </p:pic>
      <p:sp>
        <p:nvSpPr>
          <p:cNvPr id="38" name="TextBox 37">
            <a:extLst>
              <a:ext uri="{FF2B5EF4-FFF2-40B4-BE49-F238E27FC236}">
                <a16:creationId xmlns:a16="http://schemas.microsoft.com/office/drawing/2014/main" id="{041E7053-5935-B97C-C9C9-DA63A705989A}"/>
              </a:ext>
            </a:extLst>
          </p:cNvPr>
          <p:cNvSpPr txBox="1"/>
          <p:nvPr/>
        </p:nvSpPr>
        <p:spPr>
          <a:xfrm>
            <a:off x="3405392" y="6103223"/>
            <a:ext cx="569976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b="1" u="none" strike="noStrike" baseline="0">
                <a:solidFill>
                  <a:srgbClr val="131313"/>
                </a:solidFill>
                <a:latin typeface="Neue Haas Grotesk Text Pro"/>
              </a:rPr>
              <a:t>Summary statistics generated with </a:t>
            </a:r>
            <a:r>
              <a:rPr lang="en-US" sz="1400" b="1" u="none" strike="noStrike" baseline="0" err="1">
                <a:solidFill>
                  <a:srgbClr val="131313"/>
                </a:solidFill>
                <a:latin typeface="Neue Haas Grotesk Text Pro"/>
              </a:rPr>
              <a:t>dataframe.describe</a:t>
            </a:r>
            <a:r>
              <a:rPr lang="en-US" sz="1400" b="1" u="none" strike="noStrike" baseline="0">
                <a:solidFill>
                  <a:srgbClr val="131313"/>
                </a:solidFill>
                <a:latin typeface="Neue Haas Grotesk Text Pro"/>
              </a:rPr>
              <a:t>()</a:t>
            </a:r>
            <a:r>
              <a:rPr lang="en-US" sz="1400" b="1">
                <a:solidFill>
                  <a:srgbClr val="000000"/>
                </a:solidFill>
                <a:latin typeface="Neue Haas Grotesk Text Pro"/>
                <a:ea typeface="Consolas"/>
                <a:cs typeface="Consolas"/>
              </a:rPr>
              <a:t>​</a:t>
            </a:r>
            <a:endParaRPr lang="en-US" sz="1400" b="1">
              <a:latin typeface="Neue Haas Grotesk Text Pro"/>
            </a:endParaRPr>
          </a:p>
          <a:p>
            <a:pPr algn="ctr"/>
            <a:endParaRPr lang="en-US" b="1"/>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384048"/>
            <a:ext cx="7132320" cy="384048"/>
          </a:xfrm>
          <a:prstGeom prst="rect">
            <a:avLst/>
          </a:prstGeom>
          <a:noFill/>
          <a:ln/>
        </p:spPr>
        <p:txBody>
          <a:bodyPr wrap="square" lIns="254" tIns="254" rIns="254" bIns="254" rtlCol="0" anchor="t">
            <a:normAutofit/>
          </a:bodyPr>
          <a:lstStyle/>
          <a:p>
            <a:pPr marL="0" indent="0" algn="l">
              <a:buNone/>
            </a:pPr>
            <a:r>
              <a:rPr lang="en-US" sz="2400" b="1">
                <a:solidFill>
                  <a:srgbClr val="0B1F33"/>
                </a:solidFill>
                <a:latin typeface="Aptos Display" pitchFamily="34" charset="0"/>
                <a:ea typeface="Aptos Display" pitchFamily="34" charset="-122"/>
                <a:cs typeface="Aptos Display" pitchFamily="34" charset="-120"/>
              </a:rPr>
              <a:t>Relationships in the Data</a:t>
            </a:r>
            <a:endParaRPr lang="en-US" sz="2400"/>
          </a:p>
        </p:txBody>
      </p:sp>
      <p:sp>
        <p:nvSpPr>
          <p:cNvPr id="5" name="Shape 3"/>
          <p:cNvSpPr/>
          <p:nvPr/>
        </p:nvSpPr>
        <p:spPr>
          <a:xfrm>
            <a:off x="502920" y="1124712"/>
            <a:ext cx="11155680" cy="0"/>
          </a:xfrm>
          <a:prstGeom prst="line">
            <a:avLst/>
          </a:prstGeom>
          <a:noFill/>
          <a:ln w="9525">
            <a:solidFill>
              <a:srgbClr val="D9E2EC"/>
            </a:solidFill>
            <a:prstDash val="solid"/>
          </a:ln>
        </p:spPr>
      </p:sp>
      <p:sp>
        <p:nvSpPr>
          <p:cNvPr id="6" name="Shape 4"/>
          <p:cNvSpPr/>
          <p:nvPr/>
        </p:nvSpPr>
        <p:spPr>
          <a:xfrm>
            <a:off x="502920" y="6446520"/>
            <a:ext cx="11155680" cy="0"/>
          </a:xfrm>
          <a:prstGeom prst="line">
            <a:avLst/>
          </a:prstGeom>
          <a:noFill/>
          <a:ln w="9525">
            <a:solidFill>
              <a:srgbClr val="D9E2EC"/>
            </a:solidFill>
            <a:prstDash val="solid"/>
          </a:ln>
        </p:spPr>
      </p:sp>
      <p:sp>
        <p:nvSpPr>
          <p:cNvPr id="9" name="Text 7"/>
          <p:cNvSpPr/>
          <p:nvPr/>
        </p:nvSpPr>
        <p:spPr>
          <a:xfrm>
            <a:off x="349108" y="1322027"/>
            <a:ext cx="5067588" cy="255760"/>
          </a:xfrm>
          <a:prstGeom prst="rect">
            <a:avLst/>
          </a:prstGeom>
          <a:noFill/>
          <a:ln/>
        </p:spPr>
        <p:txBody>
          <a:bodyPr wrap="square" lIns="254" tIns="254" rIns="254" bIns="254" rtlCol="0" anchor="t">
            <a:noAutofit/>
          </a:bodyPr>
          <a:lstStyle/>
          <a:p>
            <a:r>
              <a:rPr lang="en-US" b="1">
                <a:solidFill>
                  <a:srgbClr val="0EA5A4"/>
                </a:solidFill>
                <a:latin typeface="Aptos"/>
              </a:rPr>
              <a:t>PREDICTOR VS. PREDICTOR RELATIONSHIPS</a:t>
            </a:r>
          </a:p>
        </p:txBody>
      </p:sp>
      <p:sp>
        <p:nvSpPr>
          <p:cNvPr id="10" name="Shape 8"/>
          <p:cNvSpPr/>
          <p:nvPr/>
        </p:nvSpPr>
        <p:spPr>
          <a:xfrm>
            <a:off x="731520" y="1856232"/>
            <a:ext cx="82296" cy="82296"/>
          </a:xfrm>
          <a:prstGeom prst="ellipse">
            <a:avLst/>
          </a:prstGeom>
          <a:solidFill>
            <a:srgbClr val="2563EB"/>
          </a:solidFill>
          <a:ln w="12700">
            <a:solidFill>
              <a:srgbClr val="2563EB">
                <a:alpha val="0"/>
              </a:srgbClr>
            </a:solidFill>
            <a:prstDash val="solid"/>
          </a:ln>
        </p:spPr>
      </p:sp>
      <p:sp>
        <p:nvSpPr>
          <p:cNvPr id="11" name="Text 9"/>
          <p:cNvSpPr/>
          <p:nvPr/>
        </p:nvSpPr>
        <p:spPr>
          <a:xfrm>
            <a:off x="914400" y="1783080"/>
            <a:ext cx="4160520" cy="292608"/>
          </a:xfrm>
          <a:prstGeom prst="rect">
            <a:avLst/>
          </a:prstGeom>
          <a:noFill/>
          <a:ln/>
        </p:spPr>
        <p:txBody>
          <a:bodyPr wrap="square" lIns="254" tIns="254" rIns="254" bIns="254" rtlCol="0" anchor="t">
            <a:noAutofit/>
          </a:bodyPr>
          <a:lstStyle/>
          <a:p>
            <a:pPr marL="0" indent="0" algn="l">
              <a:buNone/>
            </a:pPr>
            <a:r>
              <a:rPr lang="en-US" sz="1600" b="1">
                <a:solidFill>
                  <a:srgbClr val="0B1F33"/>
                </a:solidFill>
                <a:latin typeface="Aptos"/>
                <a:ea typeface="Aptos" pitchFamily="34" charset="-122"/>
                <a:cs typeface="Aptos" pitchFamily="34" charset="-120"/>
              </a:rPr>
              <a:t>Correlation </a:t>
            </a:r>
            <a:r>
              <a:rPr lang="en-US" sz="1600">
                <a:solidFill>
                  <a:srgbClr val="0B1F33"/>
                </a:solidFill>
                <a:latin typeface="Aptos"/>
                <a:ea typeface="Aptos" pitchFamily="34" charset="-122"/>
                <a:cs typeface="Aptos" pitchFamily="34" charset="-120"/>
              </a:rPr>
              <a:t>is represented by a number ranging from </a:t>
            </a:r>
            <a:r>
              <a:rPr lang="en-US" sz="1600" b="1">
                <a:solidFill>
                  <a:srgbClr val="0B1F33"/>
                </a:solidFill>
                <a:latin typeface="Aptos"/>
                <a:ea typeface="Aptos" pitchFamily="34" charset="-122"/>
                <a:cs typeface="Aptos" pitchFamily="34" charset="-120"/>
              </a:rPr>
              <a:t>-1</a:t>
            </a:r>
            <a:r>
              <a:rPr lang="en-US" sz="1600">
                <a:solidFill>
                  <a:srgbClr val="0B1F33"/>
                </a:solidFill>
                <a:latin typeface="Aptos"/>
                <a:ea typeface="Aptos" pitchFamily="34" charset="-122"/>
                <a:cs typeface="Aptos" pitchFamily="34" charset="-120"/>
              </a:rPr>
              <a:t> to </a:t>
            </a:r>
            <a:r>
              <a:rPr lang="en-US" sz="1600" b="1">
                <a:solidFill>
                  <a:srgbClr val="0B1F33"/>
                </a:solidFill>
                <a:latin typeface="Aptos"/>
                <a:ea typeface="Aptos" pitchFamily="34" charset="-122"/>
                <a:cs typeface="Aptos" pitchFamily="34" charset="-120"/>
              </a:rPr>
              <a:t>1</a:t>
            </a:r>
            <a:endParaRPr lang="en-US" sz="1600" b="1">
              <a:latin typeface="Aptos"/>
            </a:endParaRPr>
          </a:p>
        </p:txBody>
      </p:sp>
      <p:sp>
        <p:nvSpPr>
          <p:cNvPr id="12" name="Shape 10"/>
          <p:cNvSpPr/>
          <p:nvPr/>
        </p:nvSpPr>
        <p:spPr>
          <a:xfrm>
            <a:off x="731520" y="2423160"/>
            <a:ext cx="82296" cy="82296"/>
          </a:xfrm>
          <a:prstGeom prst="ellipse">
            <a:avLst/>
          </a:prstGeom>
          <a:solidFill>
            <a:srgbClr val="2563EB"/>
          </a:solidFill>
          <a:ln w="12700">
            <a:solidFill>
              <a:srgbClr val="2563EB">
                <a:alpha val="0"/>
              </a:srgbClr>
            </a:solidFill>
            <a:prstDash val="solid"/>
          </a:ln>
        </p:spPr>
      </p:sp>
      <p:sp>
        <p:nvSpPr>
          <p:cNvPr id="13" name="Text 11"/>
          <p:cNvSpPr/>
          <p:nvPr/>
        </p:nvSpPr>
        <p:spPr>
          <a:xfrm>
            <a:off x="914400" y="2350008"/>
            <a:ext cx="4160520" cy="292608"/>
          </a:xfrm>
          <a:prstGeom prst="rect">
            <a:avLst/>
          </a:prstGeom>
          <a:noFill/>
          <a:ln/>
        </p:spPr>
        <p:txBody>
          <a:bodyPr wrap="square" lIns="254" tIns="254" rIns="254" bIns="254" rtlCol="0" anchor="t">
            <a:noAutofit/>
          </a:bodyPr>
          <a:lstStyle/>
          <a:p>
            <a:pPr marL="0" indent="0" algn="l">
              <a:buNone/>
            </a:pPr>
            <a:r>
              <a:rPr lang="en-US" sz="1600" b="1">
                <a:solidFill>
                  <a:srgbClr val="0B1F33"/>
                </a:solidFill>
                <a:latin typeface="Aptos"/>
                <a:ea typeface="Aptos" pitchFamily="34" charset="-122"/>
                <a:cs typeface="Aptos" pitchFamily="34" charset="-120"/>
              </a:rPr>
              <a:t>Closer to +1</a:t>
            </a:r>
            <a:r>
              <a:rPr lang="en-US" sz="1600">
                <a:solidFill>
                  <a:srgbClr val="0B1F33"/>
                </a:solidFill>
                <a:latin typeface="Aptos"/>
                <a:ea typeface="Aptos" pitchFamily="34" charset="-122"/>
                <a:cs typeface="Aptos" pitchFamily="34" charset="-120"/>
              </a:rPr>
              <a:t> indicates a </a:t>
            </a:r>
            <a:r>
              <a:rPr lang="en-US" sz="1600" b="1">
                <a:solidFill>
                  <a:srgbClr val="0B1F33"/>
                </a:solidFill>
                <a:latin typeface="Aptos"/>
                <a:ea typeface="Aptos" pitchFamily="34" charset="-122"/>
                <a:cs typeface="Aptos" pitchFamily="34" charset="-120"/>
              </a:rPr>
              <a:t>strong positive relationship</a:t>
            </a:r>
            <a:endParaRPr lang="en-US" sz="1600" b="1">
              <a:latin typeface="Aptos"/>
            </a:endParaRPr>
          </a:p>
        </p:txBody>
      </p:sp>
      <p:sp>
        <p:nvSpPr>
          <p:cNvPr id="14" name="Shape 12"/>
          <p:cNvSpPr/>
          <p:nvPr/>
        </p:nvSpPr>
        <p:spPr>
          <a:xfrm>
            <a:off x="731520" y="2990088"/>
            <a:ext cx="82296" cy="82296"/>
          </a:xfrm>
          <a:prstGeom prst="ellipse">
            <a:avLst/>
          </a:prstGeom>
          <a:solidFill>
            <a:srgbClr val="2563EB"/>
          </a:solidFill>
          <a:ln w="12700">
            <a:solidFill>
              <a:srgbClr val="2563EB">
                <a:alpha val="0"/>
              </a:srgbClr>
            </a:solidFill>
            <a:prstDash val="solid"/>
          </a:ln>
        </p:spPr>
      </p:sp>
      <p:sp>
        <p:nvSpPr>
          <p:cNvPr id="15" name="Text 13"/>
          <p:cNvSpPr/>
          <p:nvPr/>
        </p:nvSpPr>
        <p:spPr>
          <a:xfrm>
            <a:off x="914400" y="2916936"/>
            <a:ext cx="4160520" cy="292608"/>
          </a:xfrm>
          <a:prstGeom prst="rect">
            <a:avLst/>
          </a:prstGeom>
          <a:noFill/>
          <a:ln/>
        </p:spPr>
        <p:txBody>
          <a:bodyPr wrap="square" lIns="254" tIns="254" rIns="254" bIns="254" rtlCol="0" anchor="t">
            <a:noAutofit/>
          </a:bodyPr>
          <a:lstStyle/>
          <a:p>
            <a:pPr marL="0" indent="0" algn="l">
              <a:buNone/>
            </a:pPr>
            <a:r>
              <a:rPr lang="en-US" sz="1600" b="1">
                <a:solidFill>
                  <a:srgbClr val="0B1F33"/>
                </a:solidFill>
                <a:latin typeface="Aptos"/>
                <a:ea typeface="Aptos" pitchFamily="34" charset="-122"/>
                <a:cs typeface="Aptos" pitchFamily="34" charset="-120"/>
              </a:rPr>
              <a:t>Closer to -1</a:t>
            </a:r>
            <a:r>
              <a:rPr lang="en-US" sz="1600">
                <a:solidFill>
                  <a:srgbClr val="0B1F33"/>
                </a:solidFill>
                <a:latin typeface="Aptos"/>
                <a:ea typeface="Aptos" pitchFamily="34" charset="-122"/>
                <a:cs typeface="Aptos" pitchFamily="34" charset="-120"/>
              </a:rPr>
              <a:t> indicates a </a:t>
            </a:r>
            <a:r>
              <a:rPr lang="en-US" sz="1600" b="1">
                <a:solidFill>
                  <a:srgbClr val="0B1F33"/>
                </a:solidFill>
                <a:latin typeface="Aptos"/>
                <a:ea typeface="Aptos" pitchFamily="34" charset="-122"/>
                <a:cs typeface="Aptos" pitchFamily="34" charset="-120"/>
              </a:rPr>
              <a:t>strong negative relationship</a:t>
            </a:r>
            <a:endParaRPr lang="en-US" sz="1600" b="1">
              <a:latin typeface="Aptos"/>
            </a:endParaRPr>
          </a:p>
        </p:txBody>
      </p:sp>
      <p:sp>
        <p:nvSpPr>
          <p:cNvPr id="16" name="Shape 14"/>
          <p:cNvSpPr/>
          <p:nvPr/>
        </p:nvSpPr>
        <p:spPr>
          <a:xfrm>
            <a:off x="731520" y="3557016"/>
            <a:ext cx="82296" cy="82296"/>
          </a:xfrm>
          <a:prstGeom prst="ellipse">
            <a:avLst/>
          </a:prstGeom>
          <a:solidFill>
            <a:srgbClr val="2563EB"/>
          </a:solidFill>
          <a:ln w="12700">
            <a:solidFill>
              <a:srgbClr val="2563EB">
                <a:alpha val="0"/>
              </a:srgbClr>
            </a:solidFill>
            <a:prstDash val="solid"/>
          </a:ln>
        </p:spPr>
      </p:sp>
      <p:sp>
        <p:nvSpPr>
          <p:cNvPr id="17" name="Text 15"/>
          <p:cNvSpPr/>
          <p:nvPr/>
        </p:nvSpPr>
        <p:spPr>
          <a:xfrm>
            <a:off x="914400" y="3483864"/>
            <a:ext cx="4160520" cy="292608"/>
          </a:xfrm>
          <a:prstGeom prst="rect">
            <a:avLst/>
          </a:prstGeom>
          <a:noFill/>
          <a:ln/>
        </p:spPr>
        <p:txBody>
          <a:bodyPr wrap="square" lIns="254" tIns="254" rIns="254" bIns="254" rtlCol="0" anchor="t">
            <a:noAutofit/>
          </a:bodyPr>
          <a:lstStyle/>
          <a:p>
            <a:pPr marL="0" indent="0" algn="l">
              <a:buNone/>
            </a:pPr>
            <a:r>
              <a:rPr lang="en-US" sz="1600" b="1">
                <a:solidFill>
                  <a:srgbClr val="0B1F33"/>
                </a:solidFill>
                <a:latin typeface="Aptos"/>
                <a:ea typeface="Aptos" pitchFamily="34" charset="-122"/>
                <a:cs typeface="Aptos" pitchFamily="34" charset="-120"/>
              </a:rPr>
              <a:t>Closer to 0</a:t>
            </a:r>
            <a:r>
              <a:rPr lang="en-US" sz="1600">
                <a:solidFill>
                  <a:srgbClr val="0B1F33"/>
                </a:solidFill>
                <a:latin typeface="Aptos"/>
                <a:ea typeface="Aptos" pitchFamily="34" charset="-122"/>
                <a:cs typeface="Aptos" pitchFamily="34" charset="-120"/>
              </a:rPr>
              <a:t> indicates a </a:t>
            </a:r>
            <a:r>
              <a:rPr lang="en-US" sz="1600" b="1">
                <a:solidFill>
                  <a:srgbClr val="0B1F33"/>
                </a:solidFill>
                <a:latin typeface="Aptos"/>
                <a:ea typeface="Aptos" pitchFamily="34" charset="-122"/>
                <a:cs typeface="Aptos" pitchFamily="34" charset="-120"/>
              </a:rPr>
              <a:t>weak linear relationship</a:t>
            </a:r>
            <a:endParaRPr lang="en-US" sz="1600" b="1">
              <a:latin typeface="Aptos"/>
            </a:endParaRPr>
          </a:p>
        </p:txBody>
      </p:sp>
      <p:sp>
        <p:nvSpPr>
          <p:cNvPr id="20" name="Text 17"/>
          <p:cNvSpPr/>
          <p:nvPr/>
        </p:nvSpPr>
        <p:spPr>
          <a:xfrm>
            <a:off x="7585054" y="5674360"/>
            <a:ext cx="2926080" cy="201168"/>
          </a:xfrm>
          <a:prstGeom prst="rect">
            <a:avLst/>
          </a:prstGeom>
          <a:noFill/>
          <a:ln/>
        </p:spPr>
        <p:txBody>
          <a:bodyPr wrap="square" lIns="254" tIns="254" rIns="254" bIns="254" rtlCol="0" anchor="t">
            <a:normAutofit/>
          </a:bodyPr>
          <a:lstStyle/>
          <a:p>
            <a:pPr algn="ctr"/>
            <a:r>
              <a:rPr lang="en-US" sz="1200">
                <a:solidFill>
                  <a:srgbClr val="64748B"/>
                </a:solidFill>
                <a:latin typeface="Aptos"/>
                <a:ea typeface="Aptos" pitchFamily="34" charset="-122"/>
                <a:cs typeface="Aptos" pitchFamily="34" charset="-120"/>
              </a:rPr>
              <a:t>Heat map generated with seaborn</a:t>
            </a:r>
            <a:endParaRPr lang="en-US" sz="1200">
              <a:latin typeface="Aptos"/>
            </a:endParaRPr>
          </a:p>
        </p:txBody>
      </p:sp>
      <p:sp>
        <p:nvSpPr>
          <p:cNvPr id="21" name="Shape 14">
            <a:extLst>
              <a:ext uri="{FF2B5EF4-FFF2-40B4-BE49-F238E27FC236}">
                <a16:creationId xmlns:a16="http://schemas.microsoft.com/office/drawing/2014/main" id="{9FAA375C-A198-8309-5F90-94C08E58C01F}"/>
              </a:ext>
            </a:extLst>
          </p:cNvPr>
          <p:cNvSpPr/>
          <p:nvPr/>
        </p:nvSpPr>
        <p:spPr>
          <a:xfrm>
            <a:off x="690880" y="4075176"/>
            <a:ext cx="82296" cy="82296"/>
          </a:xfrm>
          <a:prstGeom prst="ellipse">
            <a:avLst/>
          </a:prstGeom>
          <a:solidFill>
            <a:srgbClr val="2563EB"/>
          </a:solidFill>
          <a:ln w="12700">
            <a:solidFill>
              <a:srgbClr val="2563EB">
                <a:alpha val="0"/>
              </a:srgbClr>
            </a:solidFill>
            <a:prstDash val="solid"/>
          </a:ln>
        </p:spPr>
      </p:sp>
      <p:sp>
        <p:nvSpPr>
          <p:cNvPr id="22" name="Text 15">
            <a:extLst>
              <a:ext uri="{FF2B5EF4-FFF2-40B4-BE49-F238E27FC236}">
                <a16:creationId xmlns:a16="http://schemas.microsoft.com/office/drawing/2014/main" id="{86D140FD-D336-57C3-5653-9047B4F2F50D}"/>
              </a:ext>
            </a:extLst>
          </p:cNvPr>
          <p:cNvSpPr/>
          <p:nvPr/>
        </p:nvSpPr>
        <p:spPr>
          <a:xfrm>
            <a:off x="914400" y="4012184"/>
            <a:ext cx="4160520" cy="292608"/>
          </a:xfrm>
          <a:prstGeom prst="rect">
            <a:avLst/>
          </a:prstGeom>
          <a:noFill/>
          <a:ln/>
        </p:spPr>
        <p:txBody>
          <a:bodyPr wrap="square" lIns="254" tIns="254" rIns="254" bIns="254" rtlCol="0" anchor="t">
            <a:noAutofit/>
          </a:bodyPr>
          <a:lstStyle/>
          <a:p>
            <a:r>
              <a:rPr lang="en-US" sz="1600">
                <a:solidFill>
                  <a:srgbClr val="0B1F33"/>
                </a:solidFill>
                <a:highlight>
                  <a:srgbClr val="FFFF00"/>
                </a:highlight>
                <a:ea typeface="+mn-lt"/>
                <a:cs typeface="+mn-lt"/>
              </a:rPr>
              <a:t>No two predictor variables have a strong correlation. </a:t>
            </a:r>
            <a:endParaRPr lang="en-US" sz="1600">
              <a:highlight>
                <a:srgbClr val="FFFF00"/>
              </a:highlight>
            </a:endParaRPr>
          </a:p>
        </p:txBody>
      </p:sp>
      <p:pic>
        <p:nvPicPr>
          <p:cNvPr id="7" name="Picture 6" descr="A graph of a heat map&#10;&#10;AI-generated content may be incorrect.">
            <a:extLst>
              <a:ext uri="{FF2B5EF4-FFF2-40B4-BE49-F238E27FC236}">
                <a16:creationId xmlns:a16="http://schemas.microsoft.com/office/drawing/2014/main" id="{655ADE3B-132D-C5D8-4D4B-580A883A4510}"/>
              </a:ext>
            </a:extLst>
          </p:cNvPr>
          <p:cNvPicPr>
            <a:picLocks noChangeAspect="1"/>
          </p:cNvPicPr>
          <p:nvPr/>
        </p:nvPicPr>
        <p:blipFill>
          <a:blip r:embed="rId3"/>
          <a:stretch>
            <a:fillRect/>
          </a:stretch>
        </p:blipFill>
        <p:spPr>
          <a:xfrm>
            <a:off x="5166362" y="1171263"/>
            <a:ext cx="6812409" cy="445858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577088"/>
            <a:ext cx="7132320" cy="384048"/>
          </a:xfrm>
          <a:prstGeom prst="rect">
            <a:avLst/>
          </a:prstGeom>
          <a:noFill/>
          <a:ln/>
        </p:spPr>
        <p:txBody>
          <a:bodyPr wrap="square" lIns="254" tIns="254" rIns="254" bIns="254" rtlCol="0" anchor="t">
            <a:normAutofit/>
          </a:bodyPr>
          <a:lstStyle/>
          <a:p>
            <a:pPr marL="0" indent="0" algn="l">
              <a:buNone/>
            </a:pPr>
            <a:r>
              <a:rPr lang="en-US" sz="2400" b="1">
                <a:solidFill>
                  <a:srgbClr val="0B1F33"/>
                </a:solidFill>
                <a:latin typeface="Aptos Display" pitchFamily="34" charset="0"/>
                <a:ea typeface="Aptos Display" pitchFamily="34" charset="-122"/>
                <a:cs typeface="Aptos Display" pitchFamily="34" charset="-120"/>
              </a:rPr>
              <a:t>Relationships in the Data</a:t>
            </a:r>
            <a:endParaRPr lang="en-US" sz="2400"/>
          </a:p>
        </p:txBody>
      </p:sp>
      <p:sp>
        <p:nvSpPr>
          <p:cNvPr id="5" name="Shape 3"/>
          <p:cNvSpPr/>
          <p:nvPr/>
        </p:nvSpPr>
        <p:spPr>
          <a:xfrm>
            <a:off x="502920" y="1124712"/>
            <a:ext cx="11155680" cy="0"/>
          </a:xfrm>
          <a:prstGeom prst="line">
            <a:avLst/>
          </a:prstGeom>
          <a:noFill/>
          <a:ln w="9525">
            <a:solidFill>
              <a:srgbClr val="D9E2EC"/>
            </a:solidFill>
            <a:prstDash val="solid"/>
          </a:ln>
        </p:spPr>
      </p:sp>
      <p:sp>
        <p:nvSpPr>
          <p:cNvPr id="6" name="Shape 4"/>
          <p:cNvSpPr/>
          <p:nvPr/>
        </p:nvSpPr>
        <p:spPr>
          <a:xfrm>
            <a:off x="502920" y="6609080"/>
            <a:ext cx="11155680" cy="0"/>
          </a:xfrm>
          <a:prstGeom prst="line">
            <a:avLst/>
          </a:prstGeom>
          <a:noFill/>
          <a:ln w="9525">
            <a:solidFill>
              <a:srgbClr val="D9E2EC"/>
            </a:solidFill>
            <a:prstDash val="solid"/>
          </a:ln>
        </p:spPr>
      </p:sp>
      <p:sp>
        <p:nvSpPr>
          <p:cNvPr id="9" name="Text 7"/>
          <p:cNvSpPr/>
          <p:nvPr/>
        </p:nvSpPr>
        <p:spPr>
          <a:xfrm>
            <a:off x="574040" y="1366520"/>
            <a:ext cx="4612640" cy="327152"/>
          </a:xfrm>
          <a:prstGeom prst="rect">
            <a:avLst/>
          </a:prstGeom>
          <a:noFill/>
          <a:ln/>
        </p:spPr>
        <p:txBody>
          <a:bodyPr wrap="square" lIns="254" tIns="254" rIns="254" bIns="254" rtlCol="0" anchor="t">
            <a:noAutofit/>
          </a:bodyPr>
          <a:lstStyle/>
          <a:p>
            <a:r>
              <a:rPr lang="en-US" b="1">
                <a:solidFill>
                  <a:srgbClr val="0EA5A4"/>
                </a:solidFill>
                <a:latin typeface="Aptos"/>
                <a:ea typeface="Aptos" pitchFamily="34" charset="-122"/>
                <a:cs typeface="Aptos" pitchFamily="34" charset="-120"/>
              </a:rPr>
              <a:t>PREDICTOR VS. TARGET RELATIONSHIP</a:t>
            </a:r>
            <a:endParaRPr lang="en-US">
              <a:latin typeface="Aptos"/>
            </a:endParaRPr>
          </a:p>
        </p:txBody>
      </p:sp>
      <p:sp>
        <p:nvSpPr>
          <p:cNvPr id="15" name="Text 11"/>
          <p:cNvSpPr/>
          <p:nvPr/>
        </p:nvSpPr>
        <p:spPr>
          <a:xfrm>
            <a:off x="4531360" y="6382512"/>
            <a:ext cx="3098800" cy="353568"/>
          </a:xfrm>
          <a:prstGeom prst="rect">
            <a:avLst/>
          </a:prstGeom>
          <a:noFill/>
          <a:ln/>
        </p:spPr>
        <p:txBody>
          <a:bodyPr wrap="square" lIns="254" tIns="254" rIns="254" bIns="254" rtlCol="0" anchor="t">
            <a:noAutofit/>
          </a:bodyPr>
          <a:lstStyle/>
          <a:p>
            <a:pPr algn="ctr"/>
            <a:r>
              <a:rPr lang="en-US" sz="1400">
                <a:solidFill>
                  <a:srgbClr val="64748B"/>
                </a:solidFill>
                <a:latin typeface="Aptos"/>
                <a:ea typeface="Aptos" pitchFamily="34" charset="-122"/>
                <a:cs typeface="Aptos" pitchFamily="34" charset="-120"/>
              </a:rPr>
              <a:t>Scatter plots generated with matplotlib</a:t>
            </a:r>
            <a:endParaRPr lang="en-US" sz="1400">
              <a:latin typeface="Aptos"/>
            </a:endParaRPr>
          </a:p>
        </p:txBody>
      </p:sp>
      <p:pic>
        <p:nvPicPr>
          <p:cNvPr id="17" name="Picture 16" descr="A comparison of a scatter plot&#10;&#10;AI-generated content may be incorrect.">
            <a:extLst>
              <a:ext uri="{FF2B5EF4-FFF2-40B4-BE49-F238E27FC236}">
                <a16:creationId xmlns:a16="http://schemas.microsoft.com/office/drawing/2014/main" id="{EE7F6560-CE27-F52A-0E1D-104DECFD97A0}"/>
              </a:ext>
            </a:extLst>
          </p:cNvPr>
          <p:cNvPicPr>
            <a:picLocks noChangeAspect="1"/>
          </p:cNvPicPr>
          <p:nvPr/>
        </p:nvPicPr>
        <p:blipFill>
          <a:blip r:embed="rId3"/>
          <a:stretch>
            <a:fillRect/>
          </a:stretch>
        </p:blipFill>
        <p:spPr>
          <a:xfrm>
            <a:off x="578404" y="3469640"/>
            <a:ext cx="10820400" cy="2891790"/>
          </a:xfrm>
          <a:prstGeom prst="rect">
            <a:avLst/>
          </a:prstGeom>
        </p:spPr>
      </p:pic>
      <p:sp>
        <p:nvSpPr>
          <p:cNvPr id="48" name="Shape 8">
            <a:extLst>
              <a:ext uri="{FF2B5EF4-FFF2-40B4-BE49-F238E27FC236}">
                <a16:creationId xmlns:a16="http://schemas.microsoft.com/office/drawing/2014/main" id="{28E84674-E60C-596A-39EC-33F083AC57F2}"/>
              </a:ext>
            </a:extLst>
          </p:cNvPr>
          <p:cNvSpPr/>
          <p:nvPr/>
        </p:nvSpPr>
        <p:spPr>
          <a:xfrm>
            <a:off x="690880" y="1886712"/>
            <a:ext cx="82296" cy="82296"/>
          </a:xfrm>
          <a:prstGeom prst="ellipse">
            <a:avLst/>
          </a:prstGeom>
          <a:solidFill>
            <a:srgbClr val="2563EB"/>
          </a:solidFill>
          <a:ln w="12700">
            <a:solidFill>
              <a:srgbClr val="2563EB">
                <a:alpha val="0"/>
              </a:srgbClr>
            </a:solidFill>
            <a:prstDash val="solid"/>
          </a:ln>
        </p:spPr>
      </p:sp>
      <p:sp>
        <p:nvSpPr>
          <p:cNvPr id="50" name="Text 9">
            <a:extLst>
              <a:ext uri="{FF2B5EF4-FFF2-40B4-BE49-F238E27FC236}">
                <a16:creationId xmlns:a16="http://schemas.microsoft.com/office/drawing/2014/main" id="{7C4DDB10-E3B1-5F6C-8E49-57D257937C4D}"/>
              </a:ext>
            </a:extLst>
          </p:cNvPr>
          <p:cNvSpPr/>
          <p:nvPr/>
        </p:nvSpPr>
        <p:spPr>
          <a:xfrm>
            <a:off x="901909" y="1720621"/>
            <a:ext cx="6387891" cy="479985"/>
          </a:xfrm>
          <a:prstGeom prst="rect">
            <a:avLst/>
          </a:prstGeom>
          <a:noFill/>
          <a:ln/>
        </p:spPr>
        <p:txBody>
          <a:bodyPr wrap="square" lIns="254" tIns="254" rIns="254" bIns="254" rtlCol="0" anchor="t">
            <a:noAutofit/>
          </a:bodyPr>
          <a:lstStyle/>
          <a:p>
            <a:r>
              <a:rPr lang="en-US" sz="1600" b="1">
                <a:solidFill>
                  <a:srgbClr val="0B1F33"/>
                </a:solidFill>
                <a:ea typeface="+mn-lt"/>
                <a:cs typeface="+mn-lt"/>
              </a:rPr>
              <a:t>Predictor </a:t>
            </a:r>
            <a:r>
              <a:rPr lang="en-US" sz="1600" i="1" err="1">
                <a:solidFill>
                  <a:srgbClr val="0B1F33"/>
                </a:solidFill>
                <a:latin typeface="Consolas"/>
                <a:ea typeface="+mn-lt"/>
                <a:cs typeface="+mn-lt"/>
              </a:rPr>
              <a:t>Hours_Studied</a:t>
            </a:r>
            <a:r>
              <a:rPr lang="en-US" sz="1600">
                <a:solidFill>
                  <a:srgbClr val="0B1F33"/>
                </a:solidFill>
                <a:ea typeface="+mn-lt"/>
                <a:cs typeface="+mn-lt"/>
              </a:rPr>
              <a:t> had the strongest positive correlation with </a:t>
            </a:r>
            <a:r>
              <a:rPr lang="en-US" sz="1600" b="1">
                <a:solidFill>
                  <a:srgbClr val="0B1F33"/>
                </a:solidFill>
                <a:ea typeface="+mn-lt"/>
                <a:cs typeface="+mn-lt"/>
              </a:rPr>
              <a:t>target </a:t>
            </a:r>
            <a:r>
              <a:rPr lang="en-US" sz="1600" i="1" err="1">
                <a:solidFill>
                  <a:srgbClr val="0B1F33"/>
                </a:solidFill>
                <a:latin typeface="Consolas"/>
                <a:ea typeface="+mn-lt"/>
                <a:cs typeface="+mn-lt"/>
              </a:rPr>
              <a:t>Exam_Score</a:t>
            </a:r>
            <a:r>
              <a:rPr lang="en-US" sz="1600">
                <a:solidFill>
                  <a:srgbClr val="0B1F33"/>
                </a:solidFill>
                <a:ea typeface="+mn-lt"/>
                <a:cs typeface="+mn-lt"/>
              </a:rPr>
              <a:t> at approximately </a:t>
            </a:r>
            <a:r>
              <a:rPr lang="en-US" sz="1600" b="1">
                <a:solidFill>
                  <a:srgbClr val="0B1F33"/>
                </a:solidFill>
                <a:ea typeface="+mn-lt"/>
                <a:cs typeface="+mn-lt"/>
              </a:rPr>
              <a:t>0.72</a:t>
            </a:r>
            <a:r>
              <a:rPr lang="en-US" sz="1600">
                <a:solidFill>
                  <a:srgbClr val="0B1F33"/>
                </a:solidFill>
                <a:ea typeface="+mn-lt"/>
                <a:cs typeface="+mn-lt"/>
              </a:rPr>
              <a:t> </a:t>
            </a:r>
            <a:endParaRPr lang="en-US" sz="1600"/>
          </a:p>
        </p:txBody>
      </p:sp>
      <p:sp>
        <p:nvSpPr>
          <p:cNvPr id="52" name="Shape 10">
            <a:extLst>
              <a:ext uri="{FF2B5EF4-FFF2-40B4-BE49-F238E27FC236}">
                <a16:creationId xmlns:a16="http://schemas.microsoft.com/office/drawing/2014/main" id="{729F3078-613A-F19E-6F1B-304BF9A650A7}"/>
              </a:ext>
            </a:extLst>
          </p:cNvPr>
          <p:cNvSpPr/>
          <p:nvPr/>
        </p:nvSpPr>
        <p:spPr>
          <a:xfrm>
            <a:off x="690880" y="2484120"/>
            <a:ext cx="82296" cy="82296"/>
          </a:xfrm>
          <a:prstGeom prst="ellipse">
            <a:avLst/>
          </a:prstGeom>
          <a:solidFill>
            <a:srgbClr val="2563EB"/>
          </a:solidFill>
          <a:ln w="12700">
            <a:solidFill>
              <a:srgbClr val="2563EB">
                <a:alpha val="0"/>
              </a:srgbClr>
            </a:solidFill>
            <a:prstDash val="solid"/>
          </a:ln>
        </p:spPr>
      </p:sp>
      <p:sp>
        <p:nvSpPr>
          <p:cNvPr id="54" name="Text 11">
            <a:extLst>
              <a:ext uri="{FF2B5EF4-FFF2-40B4-BE49-F238E27FC236}">
                <a16:creationId xmlns:a16="http://schemas.microsoft.com/office/drawing/2014/main" id="{353F3720-29E2-28E5-90AB-989EA7A83539}"/>
              </a:ext>
            </a:extLst>
          </p:cNvPr>
          <p:cNvSpPr/>
          <p:nvPr/>
        </p:nvSpPr>
        <p:spPr>
          <a:xfrm>
            <a:off x="914400" y="2350008"/>
            <a:ext cx="5633720" cy="292608"/>
          </a:xfrm>
          <a:prstGeom prst="rect">
            <a:avLst/>
          </a:prstGeom>
          <a:noFill/>
          <a:ln/>
        </p:spPr>
        <p:txBody>
          <a:bodyPr wrap="square" lIns="254" tIns="254" rIns="254" bIns="254" rtlCol="0" anchor="t">
            <a:noAutofit/>
          </a:bodyPr>
          <a:lstStyle/>
          <a:p>
            <a:r>
              <a:rPr lang="en-US" sz="1600">
                <a:solidFill>
                  <a:srgbClr val="0B1F33"/>
                </a:solidFill>
                <a:ea typeface="+mn-lt"/>
                <a:cs typeface="+mn-lt"/>
              </a:rPr>
              <a:t>High</a:t>
            </a:r>
            <a:r>
              <a:rPr lang="en-US" sz="1600" b="1">
                <a:solidFill>
                  <a:srgbClr val="0B1F33"/>
                </a:solidFill>
                <a:ea typeface="+mn-lt"/>
                <a:cs typeface="+mn-lt"/>
              </a:rPr>
              <a:t> correlation</a:t>
            </a:r>
            <a:r>
              <a:rPr lang="en-US" sz="1600">
                <a:solidFill>
                  <a:srgbClr val="0B1F33"/>
                </a:solidFill>
                <a:ea typeface="+mn-lt"/>
                <a:cs typeface="+mn-lt"/>
              </a:rPr>
              <a:t> is represented by a cloud shaped like a diagonal line</a:t>
            </a:r>
            <a:endParaRPr lang="en-US" sz="1600" b="1">
              <a:solidFill>
                <a:srgbClr val="0B1F33"/>
              </a:solidFill>
            </a:endParaRPr>
          </a:p>
        </p:txBody>
      </p:sp>
      <p:sp>
        <p:nvSpPr>
          <p:cNvPr id="56" name="Shape 12">
            <a:extLst>
              <a:ext uri="{FF2B5EF4-FFF2-40B4-BE49-F238E27FC236}">
                <a16:creationId xmlns:a16="http://schemas.microsoft.com/office/drawing/2014/main" id="{DDDC6BF6-8465-7D97-D4C9-33888499652D}"/>
              </a:ext>
            </a:extLst>
          </p:cNvPr>
          <p:cNvSpPr/>
          <p:nvPr/>
        </p:nvSpPr>
        <p:spPr>
          <a:xfrm>
            <a:off x="688548" y="3088690"/>
            <a:ext cx="82296" cy="82296"/>
          </a:xfrm>
          <a:prstGeom prst="ellipse">
            <a:avLst/>
          </a:prstGeom>
          <a:solidFill>
            <a:srgbClr val="2563EB"/>
          </a:solidFill>
          <a:ln w="12700">
            <a:solidFill>
              <a:srgbClr val="2563EB">
                <a:alpha val="0"/>
              </a:srgbClr>
            </a:solidFill>
            <a:prstDash val="solid"/>
          </a:ln>
        </p:spPr>
      </p:sp>
      <p:sp>
        <p:nvSpPr>
          <p:cNvPr id="58" name="Text 13">
            <a:extLst>
              <a:ext uri="{FF2B5EF4-FFF2-40B4-BE49-F238E27FC236}">
                <a16:creationId xmlns:a16="http://schemas.microsoft.com/office/drawing/2014/main" id="{6A6E2697-2E04-BD72-833E-C7B2E4B6FD94}"/>
              </a:ext>
            </a:extLst>
          </p:cNvPr>
          <p:cNvSpPr/>
          <p:nvPr/>
        </p:nvSpPr>
        <p:spPr>
          <a:xfrm>
            <a:off x="901908" y="2944418"/>
            <a:ext cx="5999480" cy="292608"/>
          </a:xfrm>
          <a:prstGeom prst="rect">
            <a:avLst/>
          </a:prstGeom>
          <a:noFill/>
          <a:ln/>
        </p:spPr>
        <p:txBody>
          <a:bodyPr wrap="square" lIns="254" tIns="254" rIns="254" bIns="254" rtlCol="0" anchor="t">
            <a:noAutofit/>
          </a:bodyPr>
          <a:lstStyle/>
          <a:p>
            <a:r>
              <a:rPr lang="en-US" sz="1600">
                <a:solidFill>
                  <a:srgbClr val="0B1F33"/>
                </a:solidFill>
                <a:highlight>
                  <a:srgbClr val="FFFF00"/>
                </a:highlight>
                <a:ea typeface="+mn-lt"/>
                <a:cs typeface="+mn-lt"/>
              </a:rPr>
              <a:t>Time dedicated to the class predictors are the most correlated with the target </a:t>
            </a:r>
            <a:endParaRPr lang="en-US" sz="1600">
              <a:highlight>
                <a:srgbClr val="FFFF00"/>
              </a:highlight>
              <a:ea typeface="+mn-lt"/>
              <a:cs typeface="+mn-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06E6D447-1A2F-C68E-ED30-1B8D30441BE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24B4B17-CF20-FAD5-BEDF-7D3BC10DFAA6}"/>
              </a:ext>
            </a:extLst>
          </p:cNvPr>
          <p:cNvSpPr/>
          <p:nvPr/>
        </p:nvSpPr>
        <p:spPr>
          <a:xfrm>
            <a:off x="502920" y="577088"/>
            <a:ext cx="7132320" cy="384048"/>
          </a:xfrm>
          <a:prstGeom prst="rect">
            <a:avLst/>
          </a:prstGeom>
          <a:noFill/>
          <a:ln/>
        </p:spPr>
        <p:txBody>
          <a:bodyPr wrap="square" lIns="254" tIns="254" rIns="254" bIns="254" rtlCol="0" anchor="t">
            <a:normAutofit/>
          </a:bodyPr>
          <a:lstStyle/>
          <a:p>
            <a:r>
              <a:rPr lang="en-US" sz="2400" b="1">
                <a:solidFill>
                  <a:srgbClr val="0B1F33"/>
                </a:solidFill>
                <a:latin typeface="Aptos Display"/>
              </a:rPr>
              <a:t>Outliers in the Data</a:t>
            </a:r>
          </a:p>
        </p:txBody>
      </p:sp>
      <p:sp>
        <p:nvSpPr>
          <p:cNvPr id="5" name="Shape 3">
            <a:extLst>
              <a:ext uri="{FF2B5EF4-FFF2-40B4-BE49-F238E27FC236}">
                <a16:creationId xmlns:a16="http://schemas.microsoft.com/office/drawing/2014/main" id="{0923F6F1-4CD5-5860-FD59-57F1249B2026}"/>
              </a:ext>
            </a:extLst>
          </p:cNvPr>
          <p:cNvSpPr/>
          <p:nvPr/>
        </p:nvSpPr>
        <p:spPr>
          <a:xfrm>
            <a:off x="502920" y="1124712"/>
            <a:ext cx="11155680" cy="0"/>
          </a:xfrm>
          <a:prstGeom prst="line">
            <a:avLst/>
          </a:prstGeom>
          <a:noFill/>
          <a:ln w="9525">
            <a:solidFill>
              <a:srgbClr val="D9E2EC"/>
            </a:solidFill>
            <a:prstDash val="solid"/>
          </a:ln>
        </p:spPr>
      </p:sp>
      <p:sp>
        <p:nvSpPr>
          <p:cNvPr id="6" name="Shape 4">
            <a:extLst>
              <a:ext uri="{FF2B5EF4-FFF2-40B4-BE49-F238E27FC236}">
                <a16:creationId xmlns:a16="http://schemas.microsoft.com/office/drawing/2014/main" id="{0994214D-BD91-E0A6-3DAC-A04D1D823A35}"/>
              </a:ext>
            </a:extLst>
          </p:cNvPr>
          <p:cNvSpPr/>
          <p:nvPr/>
        </p:nvSpPr>
        <p:spPr>
          <a:xfrm>
            <a:off x="502920" y="6609080"/>
            <a:ext cx="11155680" cy="0"/>
          </a:xfrm>
          <a:prstGeom prst="line">
            <a:avLst/>
          </a:prstGeom>
          <a:noFill/>
          <a:ln w="9525">
            <a:solidFill>
              <a:srgbClr val="D9E2EC"/>
            </a:solidFill>
            <a:prstDash val="solid"/>
          </a:ln>
        </p:spPr>
      </p:sp>
      <p:sp>
        <p:nvSpPr>
          <p:cNvPr id="48" name="Shape 8">
            <a:extLst>
              <a:ext uri="{FF2B5EF4-FFF2-40B4-BE49-F238E27FC236}">
                <a16:creationId xmlns:a16="http://schemas.microsoft.com/office/drawing/2014/main" id="{2C0FCE2D-60A8-0200-B462-B03605FC7788}"/>
              </a:ext>
            </a:extLst>
          </p:cNvPr>
          <p:cNvSpPr/>
          <p:nvPr/>
        </p:nvSpPr>
        <p:spPr>
          <a:xfrm>
            <a:off x="690880" y="1815115"/>
            <a:ext cx="82296" cy="82296"/>
          </a:xfrm>
          <a:prstGeom prst="ellipse">
            <a:avLst/>
          </a:prstGeom>
          <a:solidFill>
            <a:srgbClr val="2563EB"/>
          </a:solidFill>
          <a:ln w="12700">
            <a:solidFill>
              <a:srgbClr val="2563EB">
                <a:alpha val="0"/>
              </a:srgbClr>
            </a:solidFill>
            <a:prstDash val="solid"/>
          </a:ln>
        </p:spPr>
      </p:sp>
      <p:sp>
        <p:nvSpPr>
          <p:cNvPr id="50" name="Text 9">
            <a:extLst>
              <a:ext uri="{FF2B5EF4-FFF2-40B4-BE49-F238E27FC236}">
                <a16:creationId xmlns:a16="http://schemas.microsoft.com/office/drawing/2014/main" id="{3F399CFD-7187-CA58-B82E-CC8D13003E8C}"/>
              </a:ext>
            </a:extLst>
          </p:cNvPr>
          <p:cNvSpPr/>
          <p:nvPr/>
        </p:nvSpPr>
        <p:spPr>
          <a:xfrm>
            <a:off x="901909" y="2390567"/>
            <a:ext cx="8479555" cy="479985"/>
          </a:xfrm>
          <a:prstGeom prst="rect">
            <a:avLst/>
          </a:prstGeom>
          <a:noFill/>
          <a:ln/>
        </p:spPr>
        <p:txBody>
          <a:bodyPr wrap="square" lIns="254" tIns="254" rIns="254" bIns="254" rtlCol="0" anchor="t">
            <a:noAutofit/>
          </a:bodyPr>
          <a:lstStyle/>
          <a:p>
            <a:r>
              <a:rPr lang="en-US" sz="1600" b="1">
                <a:solidFill>
                  <a:srgbClr val="0B1F33"/>
                </a:solidFill>
              </a:rPr>
              <a:t>Outliers </a:t>
            </a:r>
            <a:r>
              <a:rPr lang="en-US" sz="1600">
                <a:solidFill>
                  <a:srgbClr val="0B1F33"/>
                </a:solidFill>
              </a:rPr>
              <a:t>in the data are discovered by utilizing </a:t>
            </a:r>
            <a:r>
              <a:rPr lang="en-US" sz="1600" b="1">
                <a:solidFill>
                  <a:srgbClr val="0B1F33"/>
                </a:solidFill>
              </a:rPr>
              <a:t>IQR</a:t>
            </a:r>
            <a:r>
              <a:rPr lang="en-US" sz="1600">
                <a:solidFill>
                  <a:srgbClr val="0B1F33"/>
                </a:solidFill>
              </a:rPr>
              <a:t> (</a:t>
            </a:r>
            <a:r>
              <a:rPr lang="en-US" sz="1600" b="1" u="sng" err="1">
                <a:solidFill>
                  <a:srgbClr val="0B1F33"/>
                </a:solidFill>
              </a:rPr>
              <a:t>I</a:t>
            </a:r>
            <a:r>
              <a:rPr lang="en-US" sz="1600" err="1">
                <a:solidFill>
                  <a:srgbClr val="0B1F33"/>
                </a:solidFill>
              </a:rPr>
              <a:t>nter</a:t>
            </a:r>
            <a:r>
              <a:rPr lang="en-US" sz="1600" b="1" u="sng" err="1">
                <a:solidFill>
                  <a:srgbClr val="0B1F33"/>
                </a:solidFill>
              </a:rPr>
              <a:t>Q</a:t>
            </a:r>
            <a:r>
              <a:rPr lang="en-US" sz="1600" err="1">
                <a:solidFill>
                  <a:srgbClr val="0B1F33"/>
                </a:solidFill>
              </a:rPr>
              <a:t>uartile</a:t>
            </a:r>
            <a:r>
              <a:rPr lang="en-US" sz="1600">
                <a:solidFill>
                  <a:srgbClr val="0B1F33"/>
                </a:solidFill>
              </a:rPr>
              <a:t> </a:t>
            </a:r>
            <a:r>
              <a:rPr lang="en-US" sz="1600" b="1" u="sng">
                <a:solidFill>
                  <a:srgbClr val="0B1F33"/>
                </a:solidFill>
              </a:rPr>
              <a:t>R</a:t>
            </a:r>
            <a:r>
              <a:rPr lang="en-US" sz="1600">
                <a:solidFill>
                  <a:srgbClr val="0B1F33"/>
                </a:solidFill>
              </a:rPr>
              <a:t>ange). The value of IQR is determined by subtracting </a:t>
            </a:r>
            <a:r>
              <a:rPr lang="en-US" sz="1600" b="1">
                <a:solidFill>
                  <a:srgbClr val="0B1F33"/>
                </a:solidFill>
              </a:rPr>
              <a:t>Q1</a:t>
            </a:r>
            <a:r>
              <a:rPr lang="en-US" sz="1600">
                <a:solidFill>
                  <a:srgbClr val="0B1F33"/>
                </a:solidFill>
              </a:rPr>
              <a:t> (Quartile 1, 25th percentile) from </a:t>
            </a:r>
            <a:r>
              <a:rPr lang="en-US" sz="1600" b="1">
                <a:solidFill>
                  <a:srgbClr val="0B1F33"/>
                </a:solidFill>
              </a:rPr>
              <a:t>Q3</a:t>
            </a:r>
            <a:r>
              <a:rPr lang="en-US" sz="1600">
                <a:solidFill>
                  <a:srgbClr val="0B1F33"/>
                </a:solidFill>
              </a:rPr>
              <a:t> (75% percentile)</a:t>
            </a:r>
          </a:p>
        </p:txBody>
      </p:sp>
      <p:sp>
        <p:nvSpPr>
          <p:cNvPr id="52" name="Shape 10">
            <a:extLst>
              <a:ext uri="{FF2B5EF4-FFF2-40B4-BE49-F238E27FC236}">
                <a16:creationId xmlns:a16="http://schemas.microsoft.com/office/drawing/2014/main" id="{627B05F1-16B2-C2EB-3E50-B58E3B2715D6}"/>
              </a:ext>
            </a:extLst>
          </p:cNvPr>
          <p:cNvSpPr/>
          <p:nvPr/>
        </p:nvSpPr>
        <p:spPr>
          <a:xfrm>
            <a:off x="690880" y="2484120"/>
            <a:ext cx="82296" cy="82296"/>
          </a:xfrm>
          <a:prstGeom prst="ellipse">
            <a:avLst/>
          </a:prstGeom>
          <a:solidFill>
            <a:srgbClr val="2563EB"/>
          </a:solidFill>
          <a:ln w="12700">
            <a:solidFill>
              <a:srgbClr val="2563EB">
                <a:alpha val="0"/>
              </a:srgbClr>
            </a:solidFill>
            <a:prstDash val="solid"/>
          </a:ln>
        </p:spPr>
      </p:sp>
      <p:sp>
        <p:nvSpPr>
          <p:cNvPr id="54" name="Text 11">
            <a:extLst>
              <a:ext uri="{FF2B5EF4-FFF2-40B4-BE49-F238E27FC236}">
                <a16:creationId xmlns:a16="http://schemas.microsoft.com/office/drawing/2014/main" id="{8FCE1F44-3131-1BD0-A1CD-47182FE42065}"/>
              </a:ext>
            </a:extLst>
          </p:cNvPr>
          <p:cNvSpPr/>
          <p:nvPr/>
        </p:nvSpPr>
        <p:spPr>
          <a:xfrm>
            <a:off x="873487" y="1710746"/>
            <a:ext cx="5633720" cy="292608"/>
          </a:xfrm>
          <a:prstGeom prst="rect">
            <a:avLst/>
          </a:prstGeom>
          <a:noFill/>
          <a:ln/>
        </p:spPr>
        <p:txBody>
          <a:bodyPr wrap="square" lIns="254" tIns="254" rIns="254" bIns="254" rtlCol="0" anchor="t">
            <a:noAutofit/>
          </a:bodyPr>
          <a:lstStyle/>
          <a:p>
            <a:r>
              <a:rPr lang="en-US" sz="1600">
                <a:solidFill>
                  <a:srgbClr val="0B1F33"/>
                </a:solidFill>
              </a:rPr>
              <a:t>An</a:t>
            </a:r>
            <a:r>
              <a:rPr lang="en-US" sz="1600" b="1">
                <a:solidFill>
                  <a:srgbClr val="0B1F33"/>
                </a:solidFill>
              </a:rPr>
              <a:t> outlier </a:t>
            </a:r>
            <a:r>
              <a:rPr lang="en-US" sz="1600">
                <a:solidFill>
                  <a:srgbClr val="0B1F33"/>
                </a:solidFill>
              </a:rPr>
              <a:t>is a data point that sits far away from the rest of the data</a:t>
            </a:r>
          </a:p>
        </p:txBody>
      </p:sp>
      <p:sp>
        <p:nvSpPr>
          <p:cNvPr id="56" name="Shape 12">
            <a:extLst>
              <a:ext uri="{FF2B5EF4-FFF2-40B4-BE49-F238E27FC236}">
                <a16:creationId xmlns:a16="http://schemas.microsoft.com/office/drawing/2014/main" id="{915D8E84-BE93-3355-A8BC-5601AB6C74BD}"/>
              </a:ext>
            </a:extLst>
          </p:cNvPr>
          <p:cNvSpPr/>
          <p:nvPr/>
        </p:nvSpPr>
        <p:spPr>
          <a:xfrm>
            <a:off x="688548" y="3139830"/>
            <a:ext cx="82296" cy="82296"/>
          </a:xfrm>
          <a:prstGeom prst="ellipse">
            <a:avLst/>
          </a:prstGeom>
          <a:solidFill>
            <a:srgbClr val="2563EB"/>
          </a:solidFill>
          <a:ln w="12700">
            <a:solidFill>
              <a:srgbClr val="2563EB">
                <a:alpha val="0"/>
              </a:srgbClr>
            </a:solidFill>
            <a:prstDash val="solid"/>
          </a:ln>
        </p:spPr>
      </p:sp>
      <p:sp>
        <p:nvSpPr>
          <p:cNvPr id="58" name="Text 13">
            <a:extLst>
              <a:ext uri="{FF2B5EF4-FFF2-40B4-BE49-F238E27FC236}">
                <a16:creationId xmlns:a16="http://schemas.microsoft.com/office/drawing/2014/main" id="{4B63B1BC-5D20-DD56-0518-83D3DFA5EB4D}"/>
              </a:ext>
            </a:extLst>
          </p:cNvPr>
          <p:cNvSpPr/>
          <p:nvPr/>
        </p:nvSpPr>
        <p:spPr>
          <a:xfrm>
            <a:off x="901908" y="3036472"/>
            <a:ext cx="5999480" cy="292608"/>
          </a:xfrm>
          <a:prstGeom prst="rect">
            <a:avLst/>
          </a:prstGeom>
          <a:noFill/>
          <a:ln/>
        </p:spPr>
        <p:txBody>
          <a:bodyPr wrap="square" lIns="254" tIns="254" rIns="254" bIns="254" rtlCol="0" anchor="t">
            <a:noAutofit/>
          </a:bodyPr>
          <a:lstStyle/>
          <a:p>
            <a:r>
              <a:rPr lang="en-US" sz="1600">
                <a:solidFill>
                  <a:srgbClr val="0B1F33"/>
                </a:solidFill>
                <a:ea typeface="+mn-lt"/>
                <a:cs typeface="+mn-lt"/>
              </a:rPr>
              <a:t>To calculate the </a:t>
            </a:r>
            <a:r>
              <a:rPr lang="en-US" sz="1600" b="1">
                <a:solidFill>
                  <a:srgbClr val="0B1F33"/>
                </a:solidFill>
                <a:ea typeface="+mn-lt"/>
                <a:cs typeface="+mn-lt"/>
              </a:rPr>
              <a:t>fences</a:t>
            </a:r>
            <a:r>
              <a:rPr lang="en-US" sz="1600">
                <a:solidFill>
                  <a:srgbClr val="0B1F33"/>
                </a:solidFill>
                <a:ea typeface="+mn-lt"/>
                <a:cs typeface="+mn-lt"/>
              </a:rPr>
              <a:t> (upper and lower bounds of acceptable values):</a:t>
            </a:r>
          </a:p>
        </p:txBody>
      </p:sp>
      <p:pic>
        <p:nvPicPr>
          <p:cNvPr id="3" name="Picture 2">
            <a:extLst>
              <a:ext uri="{FF2B5EF4-FFF2-40B4-BE49-F238E27FC236}">
                <a16:creationId xmlns:a16="http://schemas.microsoft.com/office/drawing/2014/main" id="{043E626D-A66E-E228-CA27-BF18AE308B3D}"/>
              </a:ext>
            </a:extLst>
          </p:cNvPr>
          <p:cNvPicPr>
            <a:picLocks noChangeAspect="1"/>
          </p:cNvPicPr>
          <p:nvPr/>
        </p:nvPicPr>
        <p:blipFill>
          <a:blip r:embed="rId3"/>
          <a:stretch>
            <a:fillRect/>
          </a:stretch>
        </p:blipFill>
        <p:spPr>
          <a:xfrm>
            <a:off x="4566885" y="3533628"/>
            <a:ext cx="7405208" cy="2741576"/>
          </a:xfrm>
          <a:prstGeom prst="rect">
            <a:avLst/>
          </a:prstGeom>
        </p:spPr>
      </p:pic>
      <p:sp>
        <p:nvSpPr>
          <p:cNvPr id="4" name="Shape 12">
            <a:extLst>
              <a:ext uri="{FF2B5EF4-FFF2-40B4-BE49-F238E27FC236}">
                <a16:creationId xmlns:a16="http://schemas.microsoft.com/office/drawing/2014/main" id="{9704516B-7C8B-E3CF-6A52-7A614F682114}"/>
              </a:ext>
            </a:extLst>
          </p:cNvPr>
          <p:cNvSpPr/>
          <p:nvPr/>
        </p:nvSpPr>
        <p:spPr>
          <a:xfrm>
            <a:off x="1005621" y="4254703"/>
            <a:ext cx="82296" cy="82296"/>
          </a:xfrm>
          <a:prstGeom prst="ellipse">
            <a:avLst/>
          </a:prstGeom>
          <a:solidFill>
            <a:srgbClr val="2563EB"/>
          </a:solidFill>
          <a:ln w="12700">
            <a:solidFill>
              <a:srgbClr val="2563EB">
                <a:alpha val="0"/>
              </a:srgbClr>
            </a:solidFill>
            <a:prstDash val="solid"/>
          </a:ln>
        </p:spPr>
      </p:sp>
      <p:sp>
        <p:nvSpPr>
          <p:cNvPr id="7" name="Shape 12">
            <a:extLst>
              <a:ext uri="{FF2B5EF4-FFF2-40B4-BE49-F238E27FC236}">
                <a16:creationId xmlns:a16="http://schemas.microsoft.com/office/drawing/2014/main" id="{40488853-E57B-5147-F1FD-B97DC5722286}"/>
              </a:ext>
            </a:extLst>
          </p:cNvPr>
          <p:cNvSpPr/>
          <p:nvPr/>
        </p:nvSpPr>
        <p:spPr>
          <a:xfrm>
            <a:off x="1005622" y="3773977"/>
            <a:ext cx="82296" cy="82296"/>
          </a:xfrm>
          <a:prstGeom prst="ellipse">
            <a:avLst/>
          </a:prstGeom>
          <a:solidFill>
            <a:srgbClr val="2563EB"/>
          </a:solidFill>
          <a:ln w="12700">
            <a:solidFill>
              <a:srgbClr val="2563EB">
                <a:alpha val="0"/>
              </a:srgbClr>
            </a:solidFill>
            <a:prstDash val="solid"/>
          </a:ln>
        </p:spPr>
      </p:sp>
      <p:sp>
        <p:nvSpPr>
          <p:cNvPr id="8" name="TextBox 7">
            <a:extLst>
              <a:ext uri="{FF2B5EF4-FFF2-40B4-BE49-F238E27FC236}">
                <a16:creationId xmlns:a16="http://schemas.microsoft.com/office/drawing/2014/main" id="{656625D3-1775-A0BC-D552-E5C26D24ED32}"/>
              </a:ext>
            </a:extLst>
          </p:cNvPr>
          <p:cNvSpPr txBox="1"/>
          <p:nvPr/>
        </p:nvSpPr>
        <p:spPr>
          <a:xfrm>
            <a:off x="1266472" y="3645395"/>
            <a:ext cx="3034703"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t>Lower fence</a:t>
            </a:r>
            <a:r>
              <a:rPr lang="en-US" sz="1600"/>
              <a:t> = Q1 – 1.5 x IQR</a:t>
            </a:r>
            <a:endParaRPr lang="en-US" sz="1600">
              <a:solidFill>
                <a:srgbClr val="000000"/>
              </a:solidFill>
            </a:endParaRPr>
          </a:p>
        </p:txBody>
      </p:sp>
      <p:sp>
        <p:nvSpPr>
          <p:cNvPr id="11" name="TextBox 10">
            <a:extLst>
              <a:ext uri="{FF2B5EF4-FFF2-40B4-BE49-F238E27FC236}">
                <a16:creationId xmlns:a16="http://schemas.microsoft.com/office/drawing/2014/main" id="{A32A5A72-6A49-C69E-2748-CA01A21A6EE8}"/>
              </a:ext>
            </a:extLst>
          </p:cNvPr>
          <p:cNvSpPr txBox="1"/>
          <p:nvPr/>
        </p:nvSpPr>
        <p:spPr>
          <a:xfrm>
            <a:off x="1268295" y="4134745"/>
            <a:ext cx="6096000" cy="6155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a:solidFill>
                  <a:srgbClr val="131313"/>
                </a:solidFill>
                <a:latin typeface="Neue Haas Grotesk Text Pro"/>
              </a:rPr>
              <a:t>Upper fence</a:t>
            </a:r>
            <a:r>
              <a:rPr lang="en-US" sz="1600" b="0" i="0" u="none" strike="noStrike" baseline="0">
                <a:solidFill>
                  <a:srgbClr val="131313"/>
                </a:solidFill>
                <a:latin typeface="Neue Haas Grotesk Text Pro"/>
              </a:rPr>
              <a:t> = </a:t>
            </a:r>
            <a:r>
              <a:rPr lang="en-US" sz="1600">
                <a:solidFill>
                  <a:srgbClr val="131313"/>
                </a:solidFill>
                <a:latin typeface="Neue Haas Grotesk Text Pro"/>
              </a:rPr>
              <a:t>Q3</a:t>
            </a:r>
            <a:r>
              <a:rPr lang="en-US" sz="1600" b="0" i="0" u="none" strike="noStrike" baseline="0">
                <a:solidFill>
                  <a:srgbClr val="131313"/>
                </a:solidFill>
                <a:latin typeface="Neue Haas Grotesk Text Pro"/>
              </a:rPr>
              <a:t> </a:t>
            </a:r>
            <a:r>
              <a:rPr lang="en-US" sz="1600">
                <a:solidFill>
                  <a:srgbClr val="131313"/>
                </a:solidFill>
                <a:latin typeface="Neue Haas Grotesk Text Pro"/>
              </a:rPr>
              <a:t>+</a:t>
            </a:r>
            <a:r>
              <a:rPr lang="en-US" sz="1600" b="0" i="0" u="none" strike="noStrike" baseline="0">
                <a:solidFill>
                  <a:srgbClr val="131313"/>
                </a:solidFill>
                <a:latin typeface="Neue Haas Grotesk Text Pro"/>
              </a:rPr>
              <a:t> 1.5 x IQR</a:t>
            </a:r>
            <a:r>
              <a:rPr sz="1600" b="0" i="0">
                <a:solidFill>
                  <a:srgbClr val="000000"/>
                </a:solidFill>
                <a:latin typeface="Neue Haas Grotesk Text Pro"/>
                <a:ea typeface="Neue Haas Grotesk Text Pro"/>
                <a:cs typeface="Neue Haas Grotesk Text Pro"/>
              </a:rPr>
              <a:t>​</a:t>
            </a:r>
            <a:endParaRPr lang="en-US"/>
          </a:p>
          <a:p>
            <a:pPr algn="ctr"/>
            <a:endParaRPr lang="en-US"/>
          </a:p>
        </p:txBody>
      </p:sp>
      <p:sp>
        <p:nvSpPr>
          <p:cNvPr id="12" name="Shape 8">
            <a:extLst>
              <a:ext uri="{FF2B5EF4-FFF2-40B4-BE49-F238E27FC236}">
                <a16:creationId xmlns:a16="http://schemas.microsoft.com/office/drawing/2014/main" id="{F31E8A20-7F01-89D2-5E46-AF2C21056B82}"/>
              </a:ext>
            </a:extLst>
          </p:cNvPr>
          <p:cNvSpPr/>
          <p:nvPr/>
        </p:nvSpPr>
        <p:spPr>
          <a:xfrm>
            <a:off x="690880" y="4822202"/>
            <a:ext cx="82296" cy="82296"/>
          </a:xfrm>
          <a:prstGeom prst="ellipse">
            <a:avLst/>
          </a:prstGeom>
          <a:solidFill>
            <a:srgbClr val="2563EB"/>
          </a:solidFill>
          <a:ln w="12700">
            <a:solidFill>
              <a:srgbClr val="2563EB">
                <a:alpha val="0"/>
              </a:srgbClr>
            </a:solidFill>
            <a:prstDash val="solid"/>
          </a:ln>
        </p:spPr>
      </p:sp>
      <p:sp>
        <p:nvSpPr>
          <p:cNvPr id="14" name="TextBox 13">
            <a:extLst>
              <a:ext uri="{FF2B5EF4-FFF2-40B4-BE49-F238E27FC236}">
                <a16:creationId xmlns:a16="http://schemas.microsoft.com/office/drawing/2014/main" id="{C38A4778-0AF6-D594-AB51-DEB9FD927EAF}"/>
              </a:ext>
            </a:extLst>
          </p:cNvPr>
          <p:cNvSpPr txBox="1"/>
          <p:nvPr/>
        </p:nvSpPr>
        <p:spPr>
          <a:xfrm>
            <a:off x="874510" y="4687067"/>
            <a:ext cx="3569638" cy="86177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highlight>
                  <a:srgbClr val="FFFF00"/>
                </a:highlight>
              </a:rPr>
              <a:t>Our baseline dataset contained no outlier values across all variables</a:t>
            </a:r>
          </a:p>
          <a:p>
            <a:pPr algn="ctr"/>
            <a:endParaRPr lang="en-US"/>
          </a:p>
        </p:txBody>
      </p:sp>
    </p:spTree>
    <p:extLst>
      <p:ext uri="{BB962C8B-B14F-4D97-AF65-F5344CB8AC3E}">
        <p14:creationId xmlns:p14="http://schemas.microsoft.com/office/powerpoint/2010/main" val="42584051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597408"/>
            <a:ext cx="7132320" cy="384048"/>
          </a:xfrm>
          <a:prstGeom prst="rect">
            <a:avLst/>
          </a:prstGeom>
          <a:noFill/>
          <a:ln/>
        </p:spPr>
        <p:txBody>
          <a:bodyPr wrap="square" lIns="254" tIns="254" rIns="254" bIns="254" rtlCol="0" anchor="t">
            <a:normAutofit/>
          </a:bodyPr>
          <a:lstStyle/>
          <a:p>
            <a:r>
              <a:rPr lang="en-US" sz="2400" b="1">
                <a:solidFill>
                  <a:srgbClr val="0B1F33"/>
                </a:solidFill>
                <a:latin typeface="Aptos Display"/>
                <a:ea typeface="Aptos Display" pitchFamily="34" charset="-122"/>
                <a:cs typeface="Aptos Display" pitchFamily="34" charset="-120"/>
              </a:rPr>
              <a:t>Unscaled Linear Regression</a:t>
            </a:r>
            <a:endParaRPr lang="en-US" sz="2400">
              <a:latin typeface="Aptos Display"/>
            </a:endParaRPr>
          </a:p>
        </p:txBody>
      </p:sp>
      <p:sp>
        <p:nvSpPr>
          <p:cNvPr id="5" name="Shape 3"/>
          <p:cNvSpPr/>
          <p:nvPr/>
        </p:nvSpPr>
        <p:spPr>
          <a:xfrm>
            <a:off x="502920" y="1124712"/>
            <a:ext cx="11155680" cy="0"/>
          </a:xfrm>
          <a:prstGeom prst="line">
            <a:avLst/>
          </a:prstGeom>
          <a:noFill/>
          <a:ln w="9525">
            <a:solidFill>
              <a:srgbClr val="D9E2EC"/>
            </a:solidFill>
            <a:prstDash val="solid"/>
          </a:ln>
        </p:spPr>
      </p:sp>
      <p:sp>
        <p:nvSpPr>
          <p:cNvPr id="6" name="Shape 4"/>
          <p:cNvSpPr/>
          <p:nvPr/>
        </p:nvSpPr>
        <p:spPr>
          <a:xfrm>
            <a:off x="502920" y="6446520"/>
            <a:ext cx="11155680" cy="0"/>
          </a:xfrm>
          <a:prstGeom prst="line">
            <a:avLst/>
          </a:prstGeom>
          <a:noFill/>
          <a:ln w="9525">
            <a:solidFill>
              <a:srgbClr val="D9E2EC"/>
            </a:solidFill>
            <a:prstDash val="solid"/>
          </a:ln>
        </p:spPr>
      </p:sp>
      <p:sp>
        <p:nvSpPr>
          <p:cNvPr id="8" name="Text 6"/>
          <p:cNvSpPr/>
          <p:nvPr/>
        </p:nvSpPr>
        <p:spPr>
          <a:xfrm>
            <a:off x="10424160" y="6537960"/>
            <a:ext cx="1188720" cy="201168"/>
          </a:xfrm>
          <a:prstGeom prst="rect">
            <a:avLst/>
          </a:prstGeom>
          <a:noFill/>
          <a:ln/>
        </p:spPr>
        <p:txBody>
          <a:bodyPr wrap="square" lIns="254" tIns="254" rIns="254" bIns="254" rtlCol="0" anchor="t">
            <a:normAutofit/>
          </a:bodyPr>
          <a:lstStyle/>
          <a:p>
            <a:pPr marL="0" indent="0" algn="r">
              <a:buNone/>
            </a:pPr>
            <a:r>
              <a:rPr lang="en-US" sz="750">
                <a:solidFill>
                  <a:srgbClr val="64748B"/>
                </a:solidFill>
                <a:latin typeface="Aptos" pitchFamily="34" charset="0"/>
                <a:ea typeface="Aptos" pitchFamily="34" charset="-122"/>
                <a:cs typeface="Aptos" pitchFamily="34" charset="-120"/>
              </a:rPr>
              <a:t>Group 1: Baseline · 7</a:t>
            </a:r>
            <a:endParaRPr lang="en-US" sz="750"/>
          </a:p>
        </p:txBody>
      </p:sp>
      <p:sp>
        <p:nvSpPr>
          <p:cNvPr id="9" name="Text 7"/>
          <p:cNvSpPr/>
          <p:nvPr/>
        </p:nvSpPr>
        <p:spPr>
          <a:xfrm>
            <a:off x="502920" y="1361440"/>
            <a:ext cx="4267200" cy="154432"/>
          </a:xfrm>
          <a:prstGeom prst="rect">
            <a:avLst/>
          </a:prstGeom>
          <a:noFill/>
          <a:ln/>
        </p:spPr>
        <p:txBody>
          <a:bodyPr wrap="square" lIns="254" tIns="254" rIns="254" bIns="254" rtlCol="0" anchor="t">
            <a:noAutofit/>
          </a:bodyPr>
          <a:lstStyle/>
          <a:p>
            <a:r>
              <a:rPr lang="en-US" sz="1400">
                <a:solidFill>
                  <a:srgbClr val="0EA5A4"/>
                </a:solidFill>
                <a:ea typeface="+mn-lt"/>
                <a:cs typeface="+mn-lt"/>
              </a:rPr>
              <a:t>The fitted model was approximately: </a:t>
            </a:r>
            <a:endParaRPr lang="en-US" sz="1400"/>
          </a:p>
        </p:txBody>
      </p:sp>
      <p:sp>
        <p:nvSpPr>
          <p:cNvPr id="10" name="Text 8"/>
          <p:cNvSpPr/>
          <p:nvPr/>
        </p:nvSpPr>
        <p:spPr>
          <a:xfrm>
            <a:off x="502920" y="1711960"/>
            <a:ext cx="10866120" cy="841248"/>
          </a:xfrm>
          <a:prstGeom prst="rect">
            <a:avLst/>
          </a:prstGeom>
          <a:solidFill>
            <a:srgbClr val="0B1F33"/>
          </a:solidFill>
          <a:ln w="6350">
            <a:solidFill>
              <a:srgbClr val="0B1F33"/>
            </a:solidFill>
          </a:ln>
        </p:spPr>
        <p:txBody>
          <a:bodyPr wrap="square" lIns="1016" tIns="1016" rIns="1016" bIns="1016" rtlCol="0" anchor="ctr">
            <a:normAutofit/>
          </a:bodyPr>
          <a:lstStyle/>
          <a:p>
            <a:r>
              <a:rPr lang="en-US" b="1">
                <a:solidFill>
                  <a:srgbClr val="FFFFFF"/>
                </a:solidFill>
                <a:latin typeface="Aptos"/>
                <a:ea typeface="Aptos" pitchFamily="34" charset="-122"/>
                <a:cs typeface="Aptos" pitchFamily="34" charset="-120"/>
              </a:rPr>
              <a:t>     Exam Score = 9.225 + 1.584(Hours Studied) + 0.345(Attendance) + 0.942(Sleep) + 1.067(Assignments)</a:t>
            </a:r>
            <a:endParaRPr lang="en-US">
              <a:latin typeface="Aptos"/>
            </a:endParaRPr>
          </a:p>
        </p:txBody>
      </p:sp>
      <p:sp>
        <p:nvSpPr>
          <p:cNvPr id="22" name="Text 20"/>
          <p:cNvSpPr/>
          <p:nvPr/>
        </p:nvSpPr>
        <p:spPr>
          <a:xfrm>
            <a:off x="523240" y="2796032"/>
            <a:ext cx="1828800" cy="164592"/>
          </a:xfrm>
          <a:prstGeom prst="rect">
            <a:avLst/>
          </a:prstGeom>
          <a:noFill/>
          <a:ln/>
        </p:spPr>
        <p:txBody>
          <a:bodyPr wrap="square" lIns="254" tIns="254" rIns="254" bIns="254" rtlCol="0" anchor="t">
            <a:noAutofit/>
          </a:bodyPr>
          <a:lstStyle/>
          <a:p>
            <a:pPr marL="0" indent="0" algn="l">
              <a:buNone/>
            </a:pPr>
            <a:r>
              <a:rPr lang="en-US" sz="1400" b="1">
                <a:solidFill>
                  <a:srgbClr val="0EA5A4"/>
                </a:solidFill>
                <a:latin typeface="Aptos"/>
                <a:ea typeface="Aptos" pitchFamily="34" charset="-122"/>
                <a:cs typeface="Aptos" pitchFamily="34" charset="-120"/>
              </a:rPr>
              <a:t>INTERPRETATION</a:t>
            </a:r>
            <a:endParaRPr lang="en-US" sz="1400">
              <a:latin typeface="Aptos"/>
            </a:endParaRPr>
          </a:p>
        </p:txBody>
      </p:sp>
      <p:sp>
        <p:nvSpPr>
          <p:cNvPr id="23" name="Shape 21"/>
          <p:cNvSpPr/>
          <p:nvPr/>
        </p:nvSpPr>
        <p:spPr>
          <a:xfrm>
            <a:off x="568960" y="3180080"/>
            <a:ext cx="82296" cy="82296"/>
          </a:xfrm>
          <a:prstGeom prst="ellipse">
            <a:avLst/>
          </a:prstGeom>
          <a:solidFill>
            <a:srgbClr val="0EA5A4"/>
          </a:solidFill>
          <a:ln w="12700">
            <a:solidFill>
              <a:srgbClr val="0EA5A4">
                <a:alpha val="0"/>
              </a:srgbClr>
            </a:solidFill>
            <a:prstDash val="solid"/>
          </a:ln>
        </p:spPr>
      </p:sp>
      <p:sp>
        <p:nvSpPr>
          <p:cNvPr id="24" name="Text 22"/>
          <p:cNvSpPr/>
          <p:nvPr/>
        </p:nvSpPr>
        <p:spPr>
          <a:xfrm>
            <a:off x="751840" y="3106928"/>
            <a:ext cx="9784080" cy="292608"/>
          </a:xfrm>
          <a:prstGeom prst="rect">
            <a:avLst/>
          </a:prstGeom>
          <a:noFill/>
          <a:ln/>
        </p:spPr>
        <p:txBody>
          <a:bodyPr wrap="square" lIns="254" tIns="254" rIns="254" bIns="254" rtlCol="0" anchor="t">
            <a:normAutofit/>
          </a:bodyPr>
          <a:lstStyle/>
          <a:p>
            <a:r>
              <a:rPr lang="en-US" sz="1600">
                <a:solidFill>
                  <a:srgbClr val="0B1F33"/>
                </a:solidFill>
                <a:ea typeface="+mn-lt"/>
                <a:cs typeface="+mn-lt"/>
              </a:rPr>
              <a:t>The model uses all four predictors to estimate </a:t>
            </a:r>
            <a:r>
              <a:rPr lang="en-US" sz="1600" i="1" err="1">
                <a:solidFill>
                  <a:srgbClr val="0B1F33"/>
                </a:solidFill>
                <a:latin typeface="Consolas"/>
                <a:ea typeface="+mn-lt"/>
                <a:cs typeface="+mn-lt"/>
              </a:rPr>
              <a:t>Exam_Score</a:t>
            </a:r>
            <a:endParaRPr lang="en-US" sz="1600" i="1" err="1">
              <a:latin typeface="Consolas"/>
            </a:endParaRPr>
          </a:p>
        </p:txBody>
      </p:sp>
      <p:sp>
        <p:nvSpPr>
          <p:cNvPr id="25" name="Shape 23"/>
          <p:cNvSpPr/>
          <p:nvPr/>
        </p:nvSpPr>
        <p:spPr>
          <a:xfrm>
            <a:off x="548640" y="4059260"/>
            <a:ext cx="82296" cy="82296"/>
          </a:xfrm>
          <a:prstGeom prst="ellipse">
            <a:avLst/>
          </a:prstGeom>
          <a:solidFill>
            <a:srgbClr val="0EA5A4"/>
          </a:solidFill>
          <a:ln w="12700">
            <a:solidFill>
              <a:srgbClr val="0EA5A4">
                <a:alpha val="0"/>
              </a:srgbClr>
            </a:solidFill>
            <a:prstDash val="solid"/>
          </a:ln>
        </p:spPr>
      </p:sp>
      <p:sp>
        <p:nvSpPr>
          <p:cNvPr id="26" name="Text 24"/>
          <p:cNvSpPr/>
          <p:nvPr/>
        </p:nvSpPr>
        <p:spPr>
          <a:xfrm>
            <a:off x="751388" y="4470186"/>
            <a:ext cx="11295589" cy="130215"/>
          </a:xfrm>
          <a:prstGeom prst="rect">
            <a:avLst/>
          </a:prstGeom>
          <a:noFill/>
          <a:ln/>
        </p:spPr>
        <p:txBody>
          <a:bodyPr wrap="square" lIns="254" tIns="254" rIns="254" bIns="254" rtlCol="0" anchor="t">
            <a:noAutofit/>
          </a:bodyPr>
          <a:lstStyle/>
          <a:p>
            <a:pPr marL="0" indent="0" algn="l">
              <a:buNone/>
            </a:pPr>
            <a:r>
              <a:rPr lang="en-US" sz="1600">
                <a:solidFill>
                  <a:srgbClr val="0B1F33"/>
                </a:solidFill>
                <a:latin typeface="Neue Haas Grotesk Text Pro"/>
                <a:ea typeface="Aptos" pitchFamily="34" charset="-122"/>
                <a:cs typeface="Aptos" pitchFamily="34" charset="-120"/>
              </a:rPr>
              <a:t>Holding the other predictors constant, one additional hour studied was associated with about a </a:t>
            </a:r>
            <a:r>
              <a:rPr lang="en-US" sz="1600" b="1">
                <a:solidFill>
                  <a:srgbClr val="0B1F33"/>
                </a:solidFill>
                <a:latin typeface="Neue Haas Grotesk Text Pro"/>
                <a:ea typeface="Aptos" pitchFamily="34" charset="-122"/>
                <a:cs typeface="Aptos" pitchFamily="34" charset="-120"/>
              </a:rPr>
              <a:t>1.58-point increase</a:t>
            </a:r>
            <a:r>
              <a:rPr lang="en-US" sz="1600">
                <a:solidFill>
                  <a:srgbClr val="0B1F33"/>
                </a:solidFill>
                <a:latin typeface="Neue Haas Grotesk Text Pro"/>
                <a:ea typeface="Aptos" pitchFamily="34" charset="-122"/>
                <a:cs typeface="Aptos" pitchFamily="34" charset="-120"/>
              </a:rPr>
              <a:t> in predicted exam score</a:t>
            </a:r>
            <a:endParaRPr lang="en-US" sz="1600">
              <a:latin typeface="Neue Haas Grotesk Text Pro"/>
            </a:endParaRPr>
          </a:p>
        </p:txBody>
      </p:sp>
      <p:sp>
        <p:nvSpPr>
          <p:cNvPr id="27" name="Shape 25"/>
          <p:cNvSpPr/>
          <p:nvPr/>
        </p:nvSpPr>
        <p:spPr>
          <a:xfrm>
            <a:off x="548640" y="4562181"/>
            <a:ext cx="82296" cy="82296"/>
          </a:xfrm>
          <a:prstGeom prst="ellipse">
            <a:avLst/>
          </a:prstGeom>
          <a:solidFill>
            <a:srgbClr val="57BDA5"/>
          </a:solidFill>
          <a:ln w="12700">
            <a:solidFill>
              <a:srgbClr val="57BDA5">
                <a:alpha val="0"/>
              </a:srgbClr>
            </a:solidFill>
            <a:prstDash val="solid"/>
          </a:ln>
        </p:spPr>
      </p:sp>
      <p:sp>
        <p:nvSpPr>
          <p:cNvPr id="28" name="Text 26"/>
          <p:cNvSpPr/>
          <p:nvPr/>
        </p:nvSpPr>
        <p:spPr>
          <a:xfrm>
            <a:off x="731520" y="4478801"/>
            <a:ext cx="9784080" cy="292608"/>
          </a:xfrm>
          <a:prstGeom prst="rect">
            <a:avLst/>
          </a:prstGeom>
          <a:noFill/>
          <a:ln/>
        </p:spPr>
        <p:txBody>
          <a:bodyPr wrap="square" lIns="254" tIns="254" rIns="254" bIns="254" rtlCol="0" anchor="t">
            <a:normAutofit/>
          </a:bodyPr>
          <a:lstStyle/>
          <a:p>
            <a:endParaRPr lang="en-US" sz="1600">
              <a:solidFill>
                <a:srgbClr val="0B1F33"/>
              </a:solidFill>
              <a:latin typeface="Aptos"/>
            </a:endParaRPr>
          </a:p>
        </p:txBody>
      </p:sp>
      <p:sp>
        <p:nvSpPr>
          <p:cNvPr id="31" name="Shape 21">
            <a:extLst>
              <a:ext uri="{FF2B5EF4-FFF2-40B4-BE49-F238E27FC236}">
                <a16:creationId xmlns:a16="http://schemas.microsoft.com/office/drawing/2014/main" id="{CF7A4468-51A0-CEA6-E757-CABBC4098D23}"/>
              </a:ext>
            </a:extLst>
          </p:cNvPr>
          <p:cNvSpPr/>
          <p:nvPr/>
        </p:nvSpPr>
        <p:spPr>
          <a:xfrm>
            <a:off x="558799" y="3586480"/>
            <a:ext cx="82296" cy="82296"/>
          </a:xfrm>
          <a:prstGeom prst="ellipse">
            <a:avLst/>
          </a:prstGeom>
          <a:solidFill>
            <a:srgbClr val="0EA5A4"/>
          </a:solidFill>
          <a:ln w="12700">
            <a:solidFill>
              <a:srgbClr val="0EA5A4">
                <a:alpha val="0"/>
              </a:srgbClr>
            </a:solidFill>
            <a:prstDash val="solid"/>
          </a:ln>
        </p:spPr>
      </p:sp>
      <p:sp>
        <p:nvSpPr>
          <p:cNvPr id="32" name="Text 22">
            <a:extLst>
              <a:ext uri="{FF2B5EF4-FFF2-40B4-BE49-F238E27FC236}">
                <a16:creationId xmlns:a16="http://schemas.microsoft.com/office/drawing/2014/main" id="{3AEF6E99-7F3C-DC11-F9B3-E47052E6BB08}"/>
              </a:ext>
            </a:extLst>
          </p:cNvPr>
          <p:cNvSpPr/>
          <p:nvPr/>
        </p:nvSpPr>
        <p:spPr>
          <a:xfrm>
            <a:off x="751907" y="3968482"/>
            <a:ext cx="9784080" cy="292608"/>
          </a:xfrm>
          <a:prstGeom prst="rect">
            <a:avLst/>
          </a:prstGeom>
          <a:noFill/>
          <a:ln/>
        </p:spPr>
        <p:txBody>
          <a:bodyPr wrap="square" lIns="254" tIns="254" rIns="254" bIns="254" rtlCol="0" anchor="t">
            <a:normAutofit/>
          </a:bodyPr>
          <a:lstStyle/>
          <a:p>
            <a:r>
              <a:rPr lang="en-US" sz="1600" err="1">
                <a:solidFill>
                  <a:srgbClr val="0B1F33"/>
                </a:solidFill>
                <a:latin typeface="Neue Haas Grotesk Text Pro"/>
                <a:ea typeface="Aptos" pitchFamily="34" charset="-122"/>
                <a:cs typeface="Aptos" pitchFamily="34" charset="-120"/>
              </a:rPr>
              <a:t>Hours_Studied</a:t>
            </a:r>
            <a:r>
              <a:rPr lang="en-US" sz="1600">
                <a:solidFill>
                  <a:srgbClr val="0B1F33"/>
                </a:solidFill>
                <a:latin typeface="Neue Haas Grotesk Text Pro"/>
                <a:ea typeface="Aptos" pitchFamily="34" charset="-122"/>
                <a:cs typeface="Aptos" pitchFamily="34" charset="-120"/>
              </a:rPr>
              <a:t> had the greatest coefficient in the unscaled model</a:t>
            </a:r>
            <a:endParaRPr lang="en-US" sz="1600">
              <a:solidFill>
                <a:srgbClr val="131313"/>
              </a:solidFill>
              <a:latin typeface="Neue Haas Grotesk Text Pro"/>
              <a:ea typeface="Aptos" pitchFamily="34" charset="-122"/>
              <a:cs typeface="Aptos" pitchFamily="34" charset="-120"/>
            </a:endParaRPr>
          </a:p>
        </p:txBody>
      </p:sp>
      <p:sp>
        <p:nvSpPr>
          <p:cNvPr id="3" name="TextBox 2">
            <a:extLst>
              <a:ext uri="{FF2B5EF4-FFF2-40B4-BE49-F238E27FC236}">
                <a16:creationId xmlns:a16="http://schemas.microsoft.com/office/drawing/2014/main" id="{0858BA35-CD53-871A-1A15-85A2B164B761}"/>
              </a:ext>
            </a:extLst>
          </p:cNvPr>
          <p:cNvSpPr txBox="1"/>
          <p:nvPr/>
        </p:nvSpPr>
        <p:spPr>
          <a:xfrm>
            <a:off x="644376" y="3444342"/>
            <a:ext cx="1010544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0B1F33"/>
                </a:solidFill>
                <a:latin typeface="Neue Haas Grotesk Text Pro"/>
                <a:ea typeface="Cambria"/>
                <a:cs typeface="+mn-lt"/>
              </a:rPr>
              <a:t>The larger the coefficient, the more linear correlation its respective </a:t>
            </a:r>
            <a:r>
              <a:rPr lang="en-US" sz="1600" b="1">
                <a:solidFill>
                  <a:srgbClr val="0B1F33"/>
                </a:solidFill>
                <a:latin typeface="Neue Haas Grotesk Text Pro"/>
                <a:ea typeface="Cambria"/>
                <a:cs typeface="+mn-lt"/>
              </a:rPr>
              <a:t>predictor</a:t>
            </a:r>
            <a:r>
              <a:rPr lang="en-US" sz="1600">
                <a:solidFill>
                  <a:srgbClr val="0B1F33"/>
                </a:solidFill>
                <a:latin typeface="Neue Haas Grotesk Text Pro"/>
                <a:ea typeface="Cambria"/>
                <a:cs typeface="+mn-lt"/>
              </a:rPr>
              <a:t> has to the </a:t>
            </a:r>
            <a:r>
              <a:rPr lang="en-US" sz="1600" b="1">
                <a:solidFill>
                  <a:srgbClr val="0B1F33"/>
                </a:solidFill>
                <a:latin typeface="Neue Haas Grotesk Text Pro"/>
                <a:ea typeface="Cambria"/>
                <a:cs typeface="+mn-lt"/>
              </a:rPr>
              <a:t>target</a:t>
            </a:r>
          </a:p>
          <a:p>
            <a:pPr algn="ctr"/>
            <a:endParaRPr lang="en-US" sz="16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384048"/>
            <a:ext cx="7132320" cy="384048"/>
          </a:xfrm>
          <a:prstGeom prst="rect">
            <a:avLst/>
          </a:prstGeom>
          <a:noFill/>
          <a:ln/>
        </p:spPr>
        <p:txBody>
          <a:bodyPr wrap="square" lIns="254" tIns="254" rIns="254" bIns="254" rtlCol="0" anchor="t">
            <a:normAutofit/>
          </a:bodyPr>
          <a:lstStyle/>
          <a:p>
            <a:pPr marL="0" indent="0" algn="l">
              <a:buNone/>
            </a:pPr>
            <a:r>
              <a:rPr lang="en-US" sz="2400" b="1">
                <a:solidFill>
                  <a:srgbClr val="0B1F33"/>
                </a:solidFill>
                <a:latin typeface="Aptos Display" pitchFamily="34" charset="0"/>
                <a:ea typeface="Aptos Display" pitchFamily="34" charset="-122"/>
                <a:cs typeface="Aptos Display" pitchFamily="34" charset="-120"/>
              </a:rPr>
              <a:t>Standardized Regression and Elastic Net</a:t>
            </a:r>
            <a:endParaRPr lang="en-US" sz="2400"/>
          </a:p>
        </p:txBody>
      </p:sp>
      <p:sp>
        <p:nvSpPr>
          <p:cNvPr id="5" name="Shape 3"/>
          <p:cNvSpPr/>
          <p:nvPr/>
        </p:nvSpPr>
        <p:spPr>
          <a:xfrm>
            <a:off x="502920" y="1124712"/>
            <a:ext cx="11155680" cy="0"/>
          </a:xfrm>
          <a:prstGeom prst="line">
            <a:avLst/>
          </a:prstGeom>
          <a:noFill/>
          <a:ln w="9525">
            <a:solidFill>
              <a:srgbClr val="D9E2EC"/>
            </a:solidFill>
            <a:prstDash val="solid"/>
          </a:ln>
        </p:spPr>
      </p:sp>
      <p:sp>
        <p:nvSpPr>
          <p:cNvPr id="6" name="Shape 4"/>
          <p:cNvSpPr/>
          <p:nvPr/>
        </p:nvSpPr>
        <p:spPr>
          <a:xfrm>
            <a:off x="502920" y="6446520"/>
            <a:ext cx="11155680" cy="0"/>
          </a:xfrm>
          <a:prstGeom prst="line">
            <a:avLst/>
          </a:prstGeom>
          <a:noFill/>
          <a:ln w="9525">
            <a:solidFill>
              <a:srgbClr val="D9E2EC"/>
            </a:solidFill>
            <a:prstDash val="solid"/>
          </a:ln>
        </p:spPr>
      </p:sp>
      <p:sp>
        <p:nvSpPr>
          <p:cNvPr id="9" name="Text 7"/>
          <p:cNvSpPr/>
          <p:nvPr/>
        </p:nvSpPr>
        <p:spPr>
          <a:xfrm>
            <a:off x="502920" y="1397000"/>
            <a:ext cx="2540000" cy="93472"/>
          </a:xfrm>
          <a:prstGeom prst="rect">
            <a:avLst/>
          </a:prstGeom>
          <a:noFill/>
          <a:ln/>
        </p:spPr>
        <p:txBody>
          <a:bodyPr wrap="square" lIns="254" tIns="254" rIns="254" bIns="254" rtlCol="0" anchor="t">
            <a:noAutofit/>
          </a:bodyPr>
          <a:lstStyle/>
          <a:p>
            <a:pPr marL="0" indent="0" algn="l">
              <a:buNone/>
            </a:pPr>
            <a:r>
              <a:rPr lang="en-US" sz="1400" b="1">
                <a:solidFill>
                  <a:srgbClr val="0EA5A4"/>
                </a:solidFill>
                <a:latin typeface="Aptos"/>
                <a:ea typeface="Aptos" pitchFamily="34" charset="-122"/>
                <a:cs typeface="Aptos" pitchFamily="34" charset="-120"/>
              </a:rPr>
              <a:t>STANDARDIZED RANKING</a:t>
            </a:r>
            <a:endParaRPr lang="en-US" sz="1400">
              <a:latin typeface="Aptos"/>
            </a:endParaRPr>
          </a:p>
        </p:txBody>
      </p:sp>
      <p:sp>
        <p:nvSpPr>
          <p:cNvPr id="10" name="Text 8"/>
          <p:cNvSpPr/>
          <p:nvPr/>
        </p:nvSpPr>
        <p:spPr>
          <a:xfrm>
            <a:off x="685800" y="1755648"/>
            <a:ext cx="3520440" cy="457200"/>
          </a:xfrm>
          <a:prstGeom prst="rect">
            <a:avLst/>
          </a:prstGeom>
          <a:solidFill>
            <a:srgbClr val="D9F5F3"/>
          </a:solidFill>
          <a:ln w="6350">
            <a:solidFill>
              <a:srgbClr val="D9E2EC"/>
            </a:solidFill>
          </a:ln>
        </p:spPr>
        <p:txBody>
          <a:bodyPr wrap="square" lIns="1016" tIns="1016" rIns="1016" bIns="1016" rtlCol="0" anchor="ctr">
            <a:normAutofit/>
          </a:bodyPr>
          <a:lstStyle/>
          <a:p>
            <a:pPr marL="0" indent="0" algn="l">
              <a:buNone/>
            </a:pPr>
            <a:r>
              <a:rPr lang="en-US" sz="1300" b="1">
                <a:solidFill>
                  <a:srgbClr val="0B1F33"/>
                </a:solidFill>
                <a:latin typeface="Aptos" pitchFamily="34" charset="0"/>
                <a:ea typeface="Aptos" pitchFamily="34" charset="-122"/>
                <a:cs typeface="Aptos" pitchFamily="34" charset="-120"/>
              </a:rPr>
              <a:t>1. Hours_Studied</a:t>
            </a:r>
            <a:endParaRPr lang="en-US" sz="1300"/>
          </a:p>
        </p:txBody>
      </p:sp>
      <p:sp>
        <p:nvSpPr>
          <p:cNvPr id="11" name="Text 9"/>
          <p:cNvSpPr/>
          <p:nvPr/>
        </p:nvSpPr>
        <p:spPr>
          <a:xfrm>
            <a:off x="685800" y="2377440"/>
            <a:ext cx="3520440" cy="457200"/>
          </a:xfrm>
          <a:prstGeom prst="rect">
            <a:avLst/>
          </a:prstGeom>
          <a:solidFill>
            <a:srgbClr val="FFFFFF"/>
          </a:solidFill>
          <a:ln w="6350">
            <a:solidFill>
              <a:srgbClr val="D9E2EC"/>
            </a:solidFill>
          </a:ln>
        </p:spPr>
        <p:txBody>
          <a:bodyPr wrap="square" lIns="1016" tIns="1016" rIns="1016" bIns="1016" rtlCol="0" anchor="ctr">
            <a:normAutofit/>
          </a:bodyPr>
          <a:lstStyle/>
          <a:p>
            <a:pPr marL="0" indent="0" algn="l">
              <a:buNone/>
            </a:pPr>
            <a:r>
              <a:rPr lang="en-US" sz="1300">
                <a:solidFill>
                  <a:srgbClr val="0B1F33"/>
                </a:solidFill>
                <a:latin typeface="Aptos" pitchFamily="34" charset="0"/>
                <a:ea typeface="Aptos" pitchFamily="34" charset="-122"/>
                <a:cs typeface="Aptos" pitchFamily="34" charset="-120"/>
              </a:rPr>
              <a:t>2. Attendance_Percent</a:t>
            </a:r>
            <a:endParaRPr lang="en-US" sz="1300"/>
          </a:p>
        </p:txBody>
      </p:sp>
      <p:sp>
        <p:nvSpPr>
          <p:cNvPr id="12" name="Text 10"/>
          <p:cNvSpPr/>
          <p:nvPr/>
        </p:nvSpPr>
        <p:spPr>
          <a:xfrm>
            <a:off x="685800" y="2999232"/>
            <a:ext cx="3520440" cy="457200"/>
          </a:xfrm>
          <a:prstGeom prst="rect">
            <a:avLst/>
          </a:prstGeom>
          <a:solidFill>
            <a:srgbClr val="FFFFFF"/>
          </a:solidFill>
          <a:ln w="6350">
            <a:solidFill>
              <a:srgbClr val="D9E2EC"/>
            </a:solidFill>
          </a:ln>
        </p:spPr>
        <p:txBody>
          <a:bodyPr wrap="square" lIns="1016" tIns="1016" rIns="1016" bIns="1016" rtlCol="0" anchor="ctr">
            <a:normAutofit/>
          </a:bodyPr>
          <a:lstStyle/>
          <a:p>
            <a:pPr marL="0" indent="0" algn="l">
              <a:buNone/>
            </a:pPr>
            <a:r>
              <a:rPr lang="en-US" sz="1300">
                <a:solidFill>
                  <a:srgbClr val="0B1F33"/>
                </a:solidFill>
                <a:latin typeface="Aptos" pitchFamily="34" charset="0"/>
                <a:ea typeface="Aptos" pitchFamily="34" charset="-122"/>
                <a:cs typeface="Aptos" pitchFamily="34" charset="-120"/>
              </a:rPr>
              <a:t>3. Assignments_Completed</a:t>
            </a:r>
            <a:endParaRPr lang="en-US" sz="1300"/>
          </a:p>
        </p:txBody>
      </p:sp>
      <p:sp>
        <p:nvSpPr>
          <p:cNvPr id="13" name="Text 11"/>
          <p:cNvSpPr/>
          <p:nvPr/>
        </p:nvSpPr>
        <p:spPr>
          <a:xfrm>
            <a:off x="685800" y="3621024"/>
            <a:ext cx="3520440" cy="457200"/>
          </a:xfrm>
          <a:prstGeom prst="rect">
            <a:avLst/>
          </a:prstGeom>
          <a:solidFill>
            <a:srgbClr val="FFFFFF"/>
          </a:solidFill>
          <a:ln w="6350">
            <a:solidFill>
              <a:srgbClr val="D9E2EC"/>
            </a:solidFill>
          </a:ln>
        </p:spPr>
        <p:txBody>
          <a:bodyPr wrap="square" lIns="1016" tIns="1016" rIns="1016" bIns="1016" rtlCol="0" anchor="ctr">
            <a:normAutofit/>
          </a:bodyPr>
          <a:lstStyle/>
          <a:p>
            <a:pPr marL="0" indent="0" algn="l">
              <a:buNone/>
            </a:pPr>
            <a:r>
              <a:rPr lang="en-US" sz="1300">
                <a:solidFill>
                  <a:srgbClr val="0B1F33"/>
                </a:solidFill>
                <a:latin typeface="Aptos" pitchFamily="34" charset="0"/>
                <a:ea typeface="Aptos" pitchFamily="34" charset="-122"/>
                <a:cs typeface="Aptos" pitchFamily="34" charset="-120"/>
              </a:rPr>
              <a:t>4. Sleep_Hours</a:t>
            </a:r>
            <a:endParaRPr lang="en-US" sz="1300"/>
          </a:p>
        </p:txBody>
      </p:sp>
      <p:sp>
        <p:nvSpPr>
          <p:cNvPr id="21" name="Shape 8">
            <a:extLst>
              <a:ext uri="{FF2B5EF4-FFF2-40B4-BE49-F238E27FC236}">
                <a16:creationId xmlns:a16="http://schemas.microsoft.com/office/drawing/2014/main" id="{1654DB4B-05AC-2FCF-4261-40C5A137B357}"/>
              </a:ext>
            </a:extLst>
          </p:cNvPr>
          <p:cNvSpPr/>
          <p:nvPr/>
        </p:nvSpPr>
        <p:spPr>
          <a:xfrm>
            <a:off x="5547995" y="1777198"/>
            <a:ext cx="93726" cy="101346"/>
          </a:xfrm>
          <a:prstGeom prst="ellipse">
            <a:avLst/>
          </a:prstGeom>
          <a:solidFill>
            <a:srgbClr val="2563EB"/>
          </a:solidFill>
          <a:ln w="12700">
            <a:solidFill>
              <a:srgbClr val="2563EB">
                <a:alpha val="0"/>
              </a:srgbClr>
            </a:solidFill>
            <a:prstDash val="solid"/>
          </a:ln>
        </p:spPr>
      </p:sp>
      <p:sp>
        <p:nvSpPr>
          <p:cNvPr id="23" name="Text 9">
            <a:extLst>
              <a:ext uri="{FF2B5EF4-FFF2-40B4-BE49-F238E27FC236}">
                <a16:creationId xmlns:a16="http://schemas.microsoft.com/office/drawing/2014/main" id="{F52C0159-D02E-472D-A40C-9ACD9E219CB4}"/>
              </a:ext>
            </a:extLst>
          </p:cNvPr>
          <p:cNvSpPr/>
          <p:nvPr/>
        </p:nvSpPr>
        <p:spPr>
          <a:xfrm>
            <a:off x="5740400" y="1681480"/>
            <a:ext cx="5806440" cy="292608"/>
          </a:xfrm>
          <a:prstGeom prst="rect">
            <a:avLst/>
          </a:prstGeom>
          <a:noFill/>
          <a:ln/>
        </p:spPr>
        <p:txBody>
          <a:bodyPr wrap="square" lIns="254" tIns="254" rIns="254" bIns="254" rtlCol="0" anchor="t">
            <a:noAutofit/>
          </a:bodyPr>
          <a:lstStyle/>
          <a:p>
            <a:r>
              <a:rPr lang="en-US" sz="1600">
                <a:solidFill>
                  <a:srgbClr val="0B1F33"/>
                </a:solidFill>
                <a:ea typeface="+mn-lt"/>
                <a:cs typeface="+mn-lt"/>
              </a:rPr>
              <a:t>Standardization placed all predictors on the same scale, making the coefficient sizes easier to compare</a:t>
            </a:r>
            <a:endParaRPr lang="en-US">
              <a:ea typeface="+mn-lt"/>
              <a:cs typeface="+mn-lt"/>
            </a:endParaRPr>
          </a:p>
        </p:txBody>
      </p:sp>
      <p:sp>
        <p:nvSpPr>
          <p:cNvPr id="25" name="Shape 10">
            <a:extLst>
              <a:ext uri="{FF2B5EF4-FFF2-40B4-BE49-F238E27FC236}">
                <a16:creationId xmlns:a16="http://schemas.microsoft.com/office/drawing/2014/main" id="{0F4EBC4F-4BD0-D1EB-DC87-647602A00256}"/>
              </a:ext>
            </a:extLst>
          </p:cNvPr>
          <p:cNvSpPr/>
          <p:nvPr/>
        </p:nvSpPr>
        <p:spPr>
          <a:xfrm>
            <a:off x="5557520" y="2321560"/>
            <a:ext cx="112776" cy="82296"/>
          </a:xfrm>
          <a:prstGeom prst="ellipse">
            <a:avLst/>
          </a:prstGeom>
          <a:solidFill>
            <a:srgbClr val="2563EB"/>
          </a:solidFill>
          <a:ln w="12700">
            <a:solidFill>
              <a:srgbClr val="2563EB">
                <a:alpha val="0"/>
              </a:srgbClr>
            </a:solidFill>
            <a:prstDash val="solid"/>
          </a:ln>
        </p:spPr>
      </p:sp>
      <p:sp>
        <p:nvSpPr>
          <p:cNvPr id="27" name="Text 11">
            <a:extLst>
              <a:ext uri="{FF2B5EF4-FFF2-40B4-BE49-F238E27FC236}">
                <a16:creationId xmlns:a16="http://schemas.microsoft.com/office/drawing/2014/main" id="{A297DE8F-A9FC-5457-8FA7-218AC73E71B2}"/>
              </a:ext>
            </a:extLst>
          </p:cNvPr>
          <p:cNvSpPr/>
          <p:nvPr/>
        </p:nvSpPr>
        <p:spPr>
          <a:xfrm>
            <a:off x="5721350" y="2219833"/>
            <a:ext cx="5854065" cy="587883"/>
          </a:xfrm>
          <a:prstGeom prst="rect">
            <a:avLst/>
          </a:prstGeom>
          <a:noFill/>
          <a:ln/>
        </p:spPr>
        <p:txBody>
          <a:bodyPr wrap="square" lIns="254" tIns="254" rIns="254" bIns="254" rtlCol="0" anchor="t">
            <a:noAutofit/>
          </a:bodyPr>
          <a:lstStyle/>
          <a:p>
            <a:r>
              <a:rPr lang="en-US" sz="1600">
                <a:solidFill>
                  <a:srgbClr val="0B1F33"/>
                </a:solidFill>
                <a:ea typeface="+mn-lt"/>
                <a:cs typeface="+mn-lt"/>
              </a:rPr>
              <a:t>Elastic Net selected an l1_ratio of </a:t>
            </a:r>
            <a:r>
              <a:rPr lang="en-US" sz="1600" b="1">
                <a:solidFill>
                  <a:srgbClr val="0B1F33"/>
                </a:solidFill>
                <a:ea typeface="+mn-lt"/>
                <a:cs typeface="+mn-lt"/>
              </a:rPr>
              <a:t>0.5</a:t>
            </a:r>
            <a:r>
              <a:rPr lang="en-US" sz="1600">
                <a:solidFill>
                  <a:srgbClr val="0B1F33"/>
                </a:solidFill>
                <a:ea typeface="+mn-lt"/>
                <a:cs typeface="+mn-lt"/>
              </a:rPr>
              <a:t> and an alpha of approximately </a:t>
            </a:r>
            <a:r>
              <a:rPr lang="en-US" sz="1600" b="1">
                <a:solidFill>
                  <a:srgbClr val="0B1F33"/>
                </a:solidFill>
                <a:ea typeface="+mn-lt"/>
                <a:cs typeface="+mn-lt"/>
              </a:rPr>
              <a:t>0.043. </a:t>
            </a:r>
            <a:endParaRPr lang="en-US" sz="1600" b="1"/>
          </a:p>
        </p:txBody>
      </p:sp>
      <p:sp>
        <p:nvSpPr>
          <p:cNvPr id="29" name="Shape 12">
            <a:extLst>
              <a:ext uri="{FF2B5EF4-FFF2-40B4-BE49-F238E27FC236}">
                <a16:creationId xmlns:a16="http://schemas.microsoft.com/office/drawing/2014/main" id="{3A3C1F1E-03B0-8CDF-6EF4-07F8F6968973}"/>
              </a:ext>
            </a:extLst>
          </p:cNvPr>
          <p:cNvSpPr/>
          <p:nvPr/>
        </p:nvSpPr>
        <p:spPr>
          <a:xfrm>
            <a:off x="5557520" y="2955163"/>
            <a:ext cx="112776" cy="82296"/>
          </a:xfrm>
          <a:prstGeom prst="ellipse">
            <a:avLst/>
          </a:prstGeom>
          <a:solidFill>
            <a:srgbClr val="2563EB"/>
          </a:solidFill>
          <a:ln w="12700">
            <a:solidFill>
              <a:srgbClr val="2563EB">
                <a:alpha val="0"/>
              </a:srgbClr>
            </a:solidFill>
            <a:prstDash val="solid"/>
          </a:ln>
        </p:spPr>
      </p:sp>
      <p:sp>
        <p:nvSpPr>
          <p:cNvPr id="31" name="Text 13">
            <a:extLst>
              <a:ext uri="{FF2B5EF4-FFF2-40B4-BE49-F238E27FC236}">
                <a16:creationId xmlns:a16="http://schemas.microsoft.com/office/drawing/2014/main" id="{E05AD030-0F9E-C540-1825-B3AA9E2A1114}"/>
              </a:ext>
            </a:extLst>
          </p:cNvPr>
          <p:cNvSpPr/>
          <p:nvPr/>
        </p:nvSpPr>
        <p:spPr>
          <a:xfrm>
            <a:off x="5740400" y="2882011"/>
            <a:ext cx="5806440" cy="292608"/>
          </a:xfrm>
          <a:prstGeom prst="rect">
            <a:avLst/>
          </a:prstGeom>
          <a:noFill/>
          <a:ln/>
        </p:spPr>
        <p:txBody>
          <a:bodyPr wrap="square" lIns="254" tIns="254" rIns="254" bIns="254" rtlCol="0" anchor="t">
            <a:normAutofit/>
          </a:bodyPr>
          <a:lstStyle/>
          <a:p>
            <a:r>
              <a:rPr lang="en-US" sz="1600">
                <a:solidFill>
                  <a:srgbClr val="0B1F33"/>
                </a:solidFill>
                <a:ea typeface="+mn-lt"/>
                <a:cs typeface="+mn-lt"/>
              </a:rPr>
              <a:t>Elastic Net slightly reduced the coefficient sizes. </a:t>
            </a:r>
            <a:endParaRPr lang="en-US" sz="1600">
              <a:ea typeface="+mn-lt"/>
              <a:cs typeface="+mn-lt"/>
            </a:endParaRPr>
          </a:p>
        </p:txBody>
      </p:sp>
      <p:sp>
        <p:nvSpPr>
          <p:cNvPr id="33" name="Shape 14">
            <a:extLst>
              <a:ext uri="{FF2B5EF4-FFF2-40B4-BE49-F238E27FC236}">
                <a16:creationId xmlns:a16="http://schemas.microsoft.com/office/drawing/2014/main" id="{0174CA83-E79B-989F-52B1-233DD94F9948}"/>
              </a:ext>
            </a:extLst>
          </p:cNvPr>
          <p:cNvSpPr/>
          <p:nvPr/>
        </p:nvSpPr>
        <p:spPr>
          <a:xfrm>
            <a:off x="5557520" y="3455416"/>
            <a:ext cx="112776" cy="82296"/>
          </a:xfrm>
          <a:prstGeom prst="ellipse">
            <a:avLst/>
          </a:prstGeom>
          <a:solidFill>
            <a:srgbClr val="2563EB"/>
          </a:solidFill>
          <a:ln w="12700">
            <a:solidFill>
              <a:srgbClr val="2563EB">
                <a:alpha val="0"/>
              </a:srgbClr>
            </a:solidFill>
            <a:prstDash val="solid"/>
          </a:ln>
        </p:spPr>
      </p:sp>
      <p:sp>
        <p:nvSpPr>
          <p:cNvPr id="35" name="Text 15">
            <a:extLst>
              <a:ext uri="{FF2B5EF4-FFF2-40B4-BE49-F238E27FC236}">
                <a16:creationId xmlns:a16="http://schemas.microsoft.com/office/drawing/2014/main" id="{1C465B1F-1759-25EE-1A40-83EA39025369}"/>
              </a:ext>
            </a:extLst>
          </p:cNvPr>
          <p:cNvSpPr/>
          <p:nvPr/>
        </p:nvSpPr>
        <p:spPr>
          <a:xfrm>
            <a:off x="5740400" y="3382264"/>
            <a:ext cx="5806440" cy="292608"/>
          </a:xfrm>
          <a:prstGeom prst="rect">
            <a:avLst/>
          </a:prstGeom>
          <a:noFill/>
          <a:ln/>
        </p:spPr>
        <p:txBody>
          <a:bodyPr wrap="square" lIns="254" tIns="254" rIns="254" bIns="254" rtlCol="0" anchor="t">
            <a:normAutofit/>
          </a:bodyPr>
          <a:lstStyle/>
          <a:p>
            <a:r>
              <a:rPr lang="en-US" sz="1600">
                <a:solidFill>
                  <a:srgbClr val="0B1F33"/>
                </a:solidFill>
                <a:ea typeface="+mn-lt"/>
                <a:cs typeface="+mn-lt"/>
              </a:rPr>
              <a:t>None of the coefficients were reduced to zero. </a:t>
            </a:r>
            <a:endParaRPr lang="en-US" sz="1600"/>
          </a:p>
        </p:txBody>
      </p:sp>
      <p:sp>
        <p:nvSpPr>
          <p:cNvPr id="37" name="Shape 14">
            <a:extLst>
              <a:ext uri="{FF2B5EF4-FFF2-40B4-BE49-F238E27FC236}">
                <a16:creationId xmlns:a16="http://schemas.microsoft.com/office/drawing/2014/main" id="{944B5158-D35C-9500-EFED-95DD375C8BFB}"/>
              </a:ext>
            </a:extLst>
          </p:cNvPr>
          <p:cNvSpPr/>
          <p:nvPr/>
        </p:nvSpPr>
        <p:spPr>
          <a:xfrm>
            <a:off x="5568020" y="3973576"/>
            <a:ext cx="112776" cy="82296"/>
          </a:xfrm>
          <a:prstGeom prst="ellipse">
            <a:avLst/>
          </a:prstGeom>
          <a:solidFill>
            <a:srgbClr val="2563EB"/>
          </a:solidFill>
          <a:ln w="12700">
            <a:solidFill>
              <a:srgbClr val="2563EB">
                <a:alpha val="0"/>
              </a:srgbClr>
            </a:solidFill>
            <a:prstDash val="solid"/>
          </a:ln>
        </p:spPr>
      </p:sp>
      <p:sp>
        <p:nvSpPr>
          <p:cNvPr id="39" name="Text 15">
            <a:extLst>
              <a:ext uri="{FF2B5EF4-FFF2-40B4-BE49-F238E27FC236}">
                <a16:creationId xmlns:a16="http://schemas.microsoft.com/office/drawing/2014/main" id="{27B9D038-6551-4045-56DA-D58E6D227E9C}"/>
              </a:ext>
            </a:extLst>
          </p:cNvPr>
          <p:cNvSpPr/>
          <p:nvPr/>
        </p:nvSpPr>
        <p:spPr>
          <a:xfrm>
            <a:off x="5791540" y="3910584"/>
            <a:ext cx="5806440" cy="292608"/>
          </a:xfrm>
          <a:prstGeom prst="rect">
            <a:avLst/>
          </a:prstGeom>
          <a:noFill/>
          <a:ln/>
        </p:spPr>
        <p:txBody>
          <a:bodyPr wrap="square" lIns="254" tIns="254" rIns="254" bIns="254" rtlCol="0" anchor="t">
            <a:normAutofit fontScale="92500"/>
          </a:bodyPr>
          <a:lstStyle/>
          <a:p>
            <a:r>
              <a:rPr lang="en-US" sz="1600">
                <a:solidFill>
                  <a:srgbClr val="0B1F33"/>
                </a:solidFill>
                <a:ea typeface="+mn-lt"/>
                <a:cs typeface="+mn-lt"/>
              </a:rPr>
              <a:t>The predictor ranking stayed the same after applying Elastic Net</a:t>
            </a: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597408"/>
            <a:ext cx="7132320" cy="384048"/>
          </a:xfrm>
          <a:prstGeom prst="rect">
            <a:avLst/>
          </a:prstGeom>
          <a:noFill/>
          <a:ln/>
        </p:spPr>
        <p:txBody>
          <a:bodyPr wrap="square" lIns="254" tIns="254" rIns="254" bIns="254" rtlCol="0" anchor="t">
            <a:normAutofit/>
          </a:bodyPr>
          <a:lstStyle/>
          <a:p>
            <a:pPr marL="0" indent="0" algn="l">
              <a:buNone/>
            </a:pPr>
            <a:r>
              <a:rPr lang="en-US" sz="2400" b="1">
                <a:solidFill>
                  <a:srgbClr val="0B1F33"/>
                </a:solidFill>
                <a:latin typeface="Aptos Display" pitchFamily="34" charset="0"/>
                <a:ea typeface="Aptos Display" pitchFamily="34" charset="-122"/>
                <a:cs typeface="Aptos Display" pitchFamily="34" charset="-120"/>
              </a:rPr>
              <a:t>Model Evaluation</a:t>
            </a:r>
            <a:endParaRPr lang="en-US" sz="2400"/>
          </a:p>
        </p:txBody>
      </p:sp>
      <p:sp>
        <p:nvSpPr>
          <p:cNvPr id="5" name="Shape 3"/>
          <p:cNvSpPr/>
          <p:nvPr/>
        </p:nvSpPr>
        <p:spPr>
          <a:xfrm>
            <a:off x="502920" y="1124712"/>
            <a:ext cx="11155680" cy="0"/>
          </a:xfrm>
          <a:prstGeom prst="line">
            <a:avLst/>
          </a:prstGeom>
          <a:noFill/>
          <a:ln w="9525">
            <a:solidFill>
              <a:srgbClr val="D9E2EC"/>
            </a:solidFill>
            <a:prstDash val="solid"/>
          </a:ln>
        </p:spPr>
      </p:sp>
      <p:sp>
        <p:nvSpPr>
          <p:cNvPr id="6" name="Shape 4"/>
          <p:cNvSpPr/>
          <p:nvPr/>
        </p:nvSpPr>
        <p:spPr>
          <a:xfrm>
            <a:off x="502920" y="6660111"/>
            <a:ext cx="11155680" cy="0"/>
          </a:xfrm>
          <a:prstGeom prst="line">
            <a:avLst/>
          </a:prstGeom>
          <a:noFill/>
          <a:ln w="9525">
            <a:solidFill>
              <a:srgbClr val="D9E2EC"/>
            </a:solidFill>
            <a:prstDash val="solid"/>
          </a:ln>
        </p:spPr>
      </p:sp>
      <p:sp>
        <p:nvSpPr>
          <p:cNvPr id="10" name="Shape 8"/>
          <p:cNvSpPr/>
          <p:nvPr/>
        </p:nvSpPr>
        <p:spPr>
          <a:xfrm>
            <a:off x="721360" y="1851152"/>
            <a:ext cx="82296" cy="82296"/>
          </a:xfrm>
          <a:prstGeom prst="ellipse">
            <a:avLst/>
          </a:prstGeom>
          <a:solidFill>
            <a:srgbClr val="0EA5A4"/>
          </a:solidFill>
          <a:ln w="12700">
            <a:solidFill>
              <a:srgbClr val="0EA5A4">
                <a:alpha val="0"/>
              </a:srgbClr>
            </a:solidFill>
            <a:prstDash val="solid"/>
          </a:ln>
        </p:spPr>
      </p:sp>
      <p:sp>
        <p:nvSpPr>
          <p:cNvPr id="11" name="Text 9"/>
          <p:cNvSpPr/>
          <p:nvPr/>
        </p:nvSpPr>
        <p:spPr>
          <a:xfrm>
            <a:off x="904240" y="1778000"/>
            <a:ext cx="10058400" cy="292608"/>
          </a:xfrm>
          <a:prstGeom prst="rect">
            <a:avLst/>
          </a:prstGeom>
          <a:noFill/>
          <a:ln/>
        </p:spPr>
        <p:txBody>
          <a:bodyPr wrap="square" lIns="254" tIns="254" rIns="254" bIns="254" rtlCol="0" anchor="t">
            <a:normAutofit/>
          </a:bodyPr>
          <a:lstStyle/>
          <a:p>
            <a:pPr marL="0" indent="0" algn="l">
              <a:buNone/>
            </a:pPr>
            <a:r>
              <a:rPr lang="en-US" sz="1600">
                <a:solidFill>
                  <a:srgbClr val="0B1F33"/>
                </a:solidFill>
                <a:latin typeface="Aptos"/>
                <a:ea typeface="Aptos" pitchFamily="34" charset="-122"/>
                <a:cs typeface="Aptos" pitchFamily="34" charset="-120"/>
              </a:rPr>
              <a:t>Elastic Net had a slightly lower MAE, but the difference was very small.</a:t>
            </a:r>
            <a:endParaRPr lang="en-US" sz="1600">
              <a:latin typeface="Aptos"/>
            </a:endParaRPr>
          </a:p>
        </p:txBody>
      </p:sp>
      <p:sp>
        <p:nvSpPr>
          <p:cNvPr id="12" name="Shape 10"/>
          <p:cNvSpPr/>
          <p:nvPr/>
        </p:nvSpPr>
        <p:spPr>
          <a:xfrm>
            <a:off x="731520" y="2331720"/>
            <a:ext cx="82296" cy="82296"/>
          </a:xfrm>
          <a:prstGeom prst="ellipse">
            <a:avLst/>
          </a:prstGeom>
          <a:solidFill>
            <a:srgbClr val="0EA5A4"/>
          </a:solidFill>
          <a:ln w="12700">
            <a:solidFill>
              <a:srgbClr val="0EA5A4">
                <a:alpha val="0"/>
              </a:srgbClr>
            </a:solidFill>
            <a:prstDash val="solid"/>
          </a:ln>
        </p:spPr>
      </p:sp>
      <p:sp>
        <p:nvSpPr>
          <p:cNvPr id="13" name="Text 11"/>
          <p:cNvSpPr/>
          <p:nvPr/>
        </p:nvSpPr>
        <p:spPr>
          <a:xfrm>
            <a:off x="914400" y="2258568"/>
            <a:ext cx="10068560" cy="292608"/>
          </a:xfrm>
          <a:prstGeom prst="rect">
            <a:avLst/>
          </a:prstGeom>
          <a:noFill/>
          <a:ln/>
        </p:spPr>
        <p:txBody>
          <a:bodyPr wrap="square" lIns="254" tIns="254" rIns="254" bIns="254" rtlCol="0" anchor="t">
            <a:normAutofit/>
          </a:bodyPr>
          <a:lstStyle/>
          <a:p>
            <a:pPr marL="0" indent="0" algn="l">
              <a:buNone/>
            </a:pPr>
            <a:r>
              <a:rPr lang="en-US" sz="1600">
                <a:solidFill>
                  <a:srgbClr val="0B1F33"/>
                </a:solidFill>
                <a:latin typeface="Aptos"/>
                <a:ea typeface="Aptos" pitchFamily="34" charset="-122"/>
                <a:cs typeface="Aptos" pitchFamily="34" charset="-120"/>
              </a:rPr>
              <a:t>Standardizing Linear Regression did not change its prediction performance.</a:t>
            </a:r>
            <a:endParaRPr lang="en-US" sz="1600">
              <a:latin typeface="Aptos"/>
            </a:endParaRPr>
          </a:p>
        </p:txBody>
      </p:sp>
      <p:sp>
        <p:nvSpPr>
          <p:cNvPr id="14" name="Shape 12"/>
          <p:cNvSpPr/>
          <p:nvPr/>
        </p:nvSpPr>
        <p:spPr>
          <a:xfrm>
            <a:off x="714202" y="2789428"/>
            <a:ext cx="82296" cy="82296"/>
          </a:xfrm>
          <a:prstGeom prst="ellipse">
            <a:avLst/>
          </a:prstGeom>
          <a:solidFill>
            <a:srgbClr val="0EA5A4"/>
          </a:solidFill>
          <a:ln w="12700">
            <a:solidFill>
              <a:srgbClr val="0EA5A4">
                <a:alpha val="0"/>
              </a:srgbClr>
            </a:solidFill>
            <a:prstDash val="solid"/>
          </a:ln>
        </p:spPr>
      </p:sp>
      <p:sp>
        <p:nvSpPr>
          <p:cNvPr id="15" name="Text 13"/>
          <p:cNvSpPr/>
          <p:nvPr/>
        </p:nvSpPr>
        <p:spPr>
          <a:xfrm>
            <a:off x="897082" y="2716276"/>
            <a:ext cx="10068560" cy="292608"/>
          </a:xfrm>
          <a:prstGeom prst="rect">
            <a:avLst/>
          </a:prstGeom>
          <a:noFill/>
          <a:ln/>
        </p:spPr>
        <p:txBody>
          <a:bodyPr wrap="square" lIns="254" tIns="254" rIns="254" bIns="254" rtlCol="0" anchor="t">
            <a:noAutofit/>
          </a:bodyPr>
          <a:lstStyle/>
          <a:p>
            <a:pPr marL="0" indent="0" algn="l">
              <a:buNone/>
            </a:pPr>
            <a:r>
              <a:rPr lang="en-US" sz="1600">
                <a:solidFill>
                  <a:srgbClr val="0B1F33"/>
                </a:solidFill>
                <a:latin typeface="Aptos"/>
                <a:ea typeface="Aptos" pitchFamily="34" charset="-122"/>
                <a:cs typeface="Aptos" pitchFamily="34" charset="-120"/>
              </a:rPr>
              <a:t>An R² of about </a:t>
            </a:r>
            <a:r>
              <a:rPr lang="en-US" sz="1600" b="1">
                <a:solidFill>
                  <a:srgbClr val="0B1F33"/>
                </a:solidFill>
                <a:latin typeface="Aptos"/>
                <a:ea typeface="Aptos" pitchFamily="34" charset="-122"/>
                <a:cs typeface="Aptos" pitchFamily="34" charset="-120"/>
              </a:rPr>
              <a:t>0.75</a:t>
            </a:r>
            <a:r>
              <a:rPr lang="en-US" sz="1600">
                <a:solidFill>
                  <a:srgbClr val="0B1F33"/>
                </a:solidFill>
                <a:latin typeface="Aptos"/>
                <a:ea typeface="Aptos" pitchFamily="34" charset="-122"/>
                <a:cs typeface="Aptos" pitchFamily="34" charset="-120"/>
              </a:rPr>
              <a:t> shows that the models explained a substantial amount of variation in exam scores.</a:t>
            </a:r>
            <a:endParaRPr lang="en-US" sz="1600">
              <a:latin typeface="Aptos"/>
            </a:endParaRPr>
          </a:p>
        </p:txBody>
      </p:sp>
      <p:sp>
        <p:nvSpPr>
          <p:cNvPr id="17" name="Text 14"/>
          <p:cNvSpPr/>
          <p:nvPr/>
        </p:nvSpPr>
        <p:spPr>
          <a:xfrm>
            <a:off x="5214620" y="3503930"/>
            <a:ext cx="1905000" cy="673989"/>
          </a:xfrm>
          <a:prstGeom prst="rect">
            <a:avLst/>
          </a:prstGeom>
          <a:solidFill>
            <a:srgbClr val="6A7D6A"/>
          </a:solidFill>
          <a:ln w="6350">
            <a:solidFill>
              <a:srgbClr val="D9E2EC"/>
            </a:solidFill>
          </a:ln>
        </p:spPr>
        <p:txBody>
          <a:bodyPr wrap="square" lIns="762" tIns="762" rIns="762" bIns="762" rtlCol="0" anchor="ctr">
            <a:normAutofit/>
          </a:bodyPr>
          <a:lstStyle/>
          <a:p>
            <a:pPr marL="0" indent="0" algn="l">
              <a:buNone/>
            </a:pPr>
            <a:r>
              <a:rPr lang="en-US" sz="950" b="1">
                <a:solidFill>
                  <a:srgbClr val="FFFFFF"/>
                </a:solidFill>
                <a:latin typeface="Aptos"/>
                <a:ea typeface="Aptos" pitchFamily="34" charset="-122"/>
                <a:cs typeface="Aptos" pitchFamily="34" charset="-120"/>
              </a:rPr>
              <a:t>Model</a:t>
            </a:r>
            <a:endParaRPr lang="en-US" sz="950">
              <a:latin typeface="Aptos"/>
            </a:endParaRPr>
          </a:p>
        </p:txBody>
      </p:sp>
      <p:sp>
        <p:nvSpPr>
          <p:cNvPr id="18" name="Text 15"/>
          <p:cNvSpPr/>
          <p:nvPr/>
        </p:nvSpPr>
        <p:spPr>
          <a:xfrm>
            <a:off x="6833870" y="3503930"/>
            <a:ext cx="1794510" cy="673989"/>
          </a:xfrm>
          <a:prstGeom prst="rect">
            <a:avLst/>
          </a:prstGeom>
          <a:solidFill>
            <a:srgbClr val="6A7D6A"/>
          </a:solidFill>
          <a:ln w="6350">
            <a:solidFill>
              <a:srgbClr val="D9E2EC"/>
            </a:solidFill>
          </a:ln>
        </p:spPr>
        <p:txBody>
          <a:bodyPr wrap="square" lIns="762" tIns="762" rIns="762" bIns="762" rtlCol="0" anchor="ctr">
            <a:normAutofit/>
          </a:bodyPr>
          <a:lstStyle/>
          <a:p>
            <a:pPr marL="0" indent="0" algn="ctr">
              <a:buNone/>
            </a:pPr>
            <a:r>
              <a:rPr lang="en-US" sz="970" b="1">
                <a:solidFill>
                  <a:srgbClr val="FFFFFF"/>
                </a:solidFill>
                <a:latin typeface="Aptos" pitchFamily="34" charset="0"/>
                <a:ea typeface="Aptos" pitchFamily="34" charset="-122"/>
                <a:cs typeface="Aptos" pitchFamily="34" charset="-120"/>
              </a:rPr>
              <a:t>MAE Mean</a:t>
            </a:r>
            <a:endParaRPr lang="en-US" sz="970"/>
          </a:p>
          <a:p>
            <a:pPr marL="0" indent="0" algn="ctr">
              <a:buNone/>
            </a:pPr>
            <a:r>
              <a:rPr lang="en-US" sz="970" b="1">
                <a:solidFill>
                  <a:srgbClr val="FFFFFF"/>
                </a:solidFill>
                <a:latin typeface="Aptos" pitchFamily="34" charset="0"/>
                <a:ea typeface="Aptos" pitchFamily="34" charset="-122"/>
                <a:cs typeface="Aptos" pitchFamily="34" charset="-120"/>
              </a:rPr>
              <a:t>(SD)</a:t>
            </a:r>
            <a:endParaRPr lang="en-US" sz="970"/>
          </a:p>
        </p:txBody>
      </p:sp>
      <p:sp>
        <p:nvSpPr>
          <p:cNvPr id="19" name="Text 16"/>
          <p:cNvSpPr/>
          <p:nvPr/>
        </p:nvSpPr>
        <p:spPr>
          <a:xfrm>
            <a:off x="8323580" y="3503930"/>
            <a:ext cx="1905000" cy="673989"/>
          </a:xfrm>
          <a:prstGeom prst="rect">
            <a:avLst/>
          </a:prstGeom>
          <a:solidFill>
            <a:srgbClr val="6A7D6A"/>
          </a:solidFill>
          <a:ln w="6350">
            <a:solidFill>
              <a:srgbClr val="D9E2EC"/>
            </a:solidFill>
          </a:ln>
        </p:spPr>
        <p:txBody>
          <a:bodyPr wrap="square" lIns="762" tIns="762" rIns="762" bIns="762" rtlCol="0" anchor="ctr">
            <a:normAutofit/>
          </a:bodyPr>
          <a:lstStyle/>
          <a:p>
            <a:pPr marL="0" indent="0" algn="ctr">
              <a:buNone/>
            </a:pPr>
            <a:r>
              <a:rPr lang="en-US" sz="970" b="1">
                <a:solidFill>
                  <a:srgbClr val="FFFFFF"/>
                </a:solidFill>
                <a:latin typeface="Aptos" pitchFamily="34" charset="0"/>
                <a:ea typeface="Aptos" pitchFamily="34" charset="-122"/>
                <a:cs typeface="Aptos" pitchFamily="34" charset="-120"/>
              </a:rPr>
              <a:t>RMSE Mean</a:t>
            </a:r>
            <a:endParaRPr lang="en-US" sz="970"/>
          </a:p>
          <a:p>
            <a:pPr marL="0" indent="0" algn="ctr">
              <a:buNone/>
            </a:pPr>
            <a:r>
              <a:rPr lang="en-US" sz="970" b="1">
                <a:solidFill>
                  <a:srgbClr val="FFFFFF"/>
                </a:solidFill>
                <a:latin typeface="Aptos" pitchFamily="34" charset="0"/>
                <a:ea typeface="Aptos" pitchFamily="34" charset="-122"/>
                <a:cs typeface="Aptos" pitchFamily="34" charset="-120"/>
              </a:rPr>
              <a:t>(SD)</a:t>
            </a:r>
            <a:endParaRPr lang="en-US" sz="970"/>
          </a:p>
        </p:txBody>
      </p:sp>
      <p:sp>
        <p:nvSpPr>
          <p:cNvPr id="20" name="Text 17"/>
          <p:cNvSpPr/>
          <p:nvPr/>
        </p:nvSpPr>
        <p:spPr>
          <a:xfrm>
            <a:off x="9971405" y="3503930"/>
            <a:ext cx="1628775" cy="673989"/>
          </a:xfrm>
          <a:prstGeom prst="rect">
            <a:avLst/>
          </a:prstGeom>
          <a:solidFill>
            <a:srgbClr val="6A7D6A"/>
          </a:solidFill>
          <a:ln w="6350">
            <a:solidFill>
              <a:srgbClr val="D9E2EC"/>
            </a:solidFill>
          </a:ln>
        </p:spPr>
        <p:txBody>
          <a:bodyPr wrap="square" lIns="762" tIns="762" rIns="762" bIns="762" rtlCol="0" anchor="ctr">
            <a:normAutofit/>
          </a:bodyPr>
          <a:lstStyle/>
          <a:p>
            <a:pPr marL="0" indent="0" algn="ctr">
              <a:buNone/>
            </a:pPr>
            <a:r>
              <a:rPr lang="en-US" sz="970" b="1">
                <a:solidFill>
                  <a:srgbClr val="FFFFFF"/>
                </a:solidFill>
                <a:latin typeface="Aptos" pitchFamily="34" charset="0"/>
                <a:ea typeface="Aptos" pitchFamily="34" charset="-122"/>
                <a:cs typeface="Aptos" pitchFamily="34" charset="-120"/>
              </a:rPr>
              <a:t>R² Mean</a:t>
            </a:r>
            <a:endParaRPr lang="en-US" sz="970"/>
          </a:p>
          <a:p>
            <a:pPr marL="0" indent="0" algn="ctr">
              <a:buNone/>
            </a:pPr>
            <a:r>
              <a:rPr lang="en-US" sz="970" b="1">
                <a:solidFill>
                  <a:srgbClr val="FFFFFF"/>
                </a:solidFill>
                <a:latin typeface="Aptos" pitchFamily="34" charset="0"/>
                <a:ea typeface="Aptos" pitchFamily="34" charset="-122"/>
                <a:cs typeface="Aptos" pitchFamily="34" charset="-120"/>
              </a:rPr>
              <a:t>(SD)</a:t>
            </a:r>
            <a:endParaRPr lang="en-US" sz="970"/>
          </a:p>
        </p:txBody>
      </p:sp>
      <p:sp>
        <p:nvSpPr>
          <p:cNvPr id="21" name="Text 18"/>
          <p:cNvSpPr/>
          <p:nvPr/>
        </p:nvSpPr>
        <p:spPr>
          <a:xfrm>
            <a:off x="5214620" y="3873119"/>
            <a:ext cx="1905000" cy="816864"/>
          </a:xfrm>
          <a:prstGeom prst="rect">
            <a:avLst/>
          </a:prstGeom>
          <a:solidFill>
            <a:srgbClr val="FFFFFF"/>
          </a:solidFill>
          <a:ln w="6350">
            <a:solidFill>
              <a:srgbClr val="D9E2EC"/>
            </a:solidFill>
          </a:ln>
        </p:spPr>
        <p:txBody>
          <a:bodyPr wrap="square" lIns="762" tIns="762" rIns="762" bIns="762" rtlCol="0" anchor="ctr">
            <a:normAutofit/>
          </a:bodyPr>
          <a:lstStyle/>
          <a:p>
            <a:pPr marL="0" indent="0" algn="l">
              <a:buNone/>
            </a:pPr>
            <a:r>
              <a:rPr lang="en-US" sz="1020">
                <a:solidFill>
                  <a:srgbClr val="0B1F33"/>
                </a:solidFill>
                <a:latin typeface="Aptos" pitchFamily="34" charset="0"/>
                <a:ea typeface="Aptos" pitchFamily="34" charset="-122"/>
                <a:cs typeface="Aptos" pitchFamily="34" charset="-120"/>
              </a:rPr>
              <a:t>Unscaled LR</a:t>
            </a:r>
            <a:endParaRPr lang="en-US" sz="1020"/>
          </a:p>
        </p:txBody>
      </p:sp>
      <p:sp>
        <p:nvSpPr>
          <p:cNvPr id="22" name="Text 19"/>
          <p:cNvSpPr/>
          <p:nvPr/>
        </p:nvSpPr>
        <p:spPr>
          <a:xfrm>
            <a:off x="6833870" y="3873119"/>
            <a:ext cx="1794510" cy="816864"/>
          </a:xfrm>
          <a:prstGeom prst="rect">
            <a:avLst/>
          </a:prstGeom>
          <a:solidFill>
            <a:srgbClr val="FFFFFF"/>
          </a:solidFill>
          <a:ln w="6350">
            <a:solidFill>
              <a:srgbClr val="D9E2EC"/>
            </a:solidFill>
          </a:ln>
        </p:spPr>
        <p:txBody>
          <a:bodyPr wrap="square" lIns="762" tIns="762" rIns="762" bIns="762" rtlCol="0" anchor="ctr">
            <a:normAutofit/>
          </a:bodyPr>
          <a:lstStyle/>
          <a:p>
            <a:pPr marL="0" indent="0" algn="ctr">
              <a:buNone/>
            </a:pPr>
            <a:r>
              <a:rPr lang="en-US" sz="1020">
                <a:solidFill>
                  <a:srgbClr val="0B1F33"/>
                </a:solidFill>
                <a:latin typeface="Aptos" pitchFamily="34" charset="0"/>
                <a:ea typeface="Aptos" pitchFamily="34" charset="-122"/>
                <a:cs typeface="Aptos" pitchFamily="34" charset="-120"/>
              </a:rPr>
              <a:t>3.084 (0.459)</a:t>
            </a:r>
            <a:endParaRPr lang="en-US" sz="1020"/>
          </a:p>
        </p:txBody>
      </p:sp>
      <p:sp>
        <p:nvSpPr>
          <p:cNvPr id="23" name="Text 20"/>
          <p:cNvSpPr/>
          <p:nvPr/>
        </p:nvSpPr>
        <p:spPr>
          <a:xfrm>
            <a:off x="8323580" y="3873119"/>
            <a:ext cx="1905000" cy="816864"/>
          </a:xfrm>
          <a:prstGeom prst="rect">
            <a:avLst/>
          </a:prstGeom>
          <a:solidFill>
            <a:srgbClr val="FFFFFF"/>
          </a:solidFill>
          <a:ln w="6350">
            <a:solidFill>
              <a:srgbClr val="D9E2EC"/>
            </a:solidFill>
          </a:ln>
        </p:spPr>
        <p:txBody>
          <a:bodyPr wrap="square" lIns="762" tIns="762" rIns="762" bIns="762" rtlCol="0" anchor="ctr">
            <a:normAutofit/>
          </a:bodyPr>
          <a:lstStyle/>
          <a:p>
            <a:pPr marL="0" indent="0" algn="ctr">
              <a:buNone/>
            </a:pPr>
            <a:r>
              <a:rPr lang="en-US" sz="1020">
                <a:solidFill>
                  <a:srgbClr val="0B1F33"/>
                </a:solidFill>
                <a:latin typeface="Aptos" pitchFamily="34" charset="0"/>
                <a:ea typeface="Aptos" pitchFamily="34" charset="-122"/>
                <a:cs typeface="Aptos" pitchFamily="34" charset="-120"/>
              </a:rPr>
              <a:t>3.766 (0.507)</a:t>
            </a:r>
            <a:endParaRPr lang="en-US" sz="1020"/>
          </a:p>
        </p:txBody>
      </p:sp>
      <p:sp>
        <p:nvSpPr>
          <p:cNvPr id="24" name="Text 21"/>
          <p:cNvSpPr/>
          <p:nvPr/>
        </p:nvSpPr>
        <p:spPr>
          <a:xfrm>
            <a:off x="9971405" y="3873119"/>
            <a:ext cx="1628775" cy="816864"/>
          </a:xfrm>
          <a:prstGeom prst="rect">
            <a:avLst/>
          </a:prstGeom>
          <a:solidFill>
            <a:srgbClr val="FFFFFF"/>
          </a:solidFill>
          <a:ln w="6350">
            <a:solidFill>
              <a:srgbClr val="D9E2EC"/>
            </a:solidFill>
          </a:ln>
        </p:spPr>
        <p:txBody>
          <a:bodyPr wrap="square" lIns="762" tIns="762" rIns="762" bIns="762" rtlCol="0" anchor="ctr">
            <a:normAutofit/>
          </a:bodyPr>
          <a:lstStyle/>
          <a:p>
            <a:pPr marL="0" indent="0" algn="ctr">
              <a:buNone/>
            </a:pPr>
            <a:r>
              <a:rPr lang="en-US" sz="1020">
                <a:solidFill>
                  <a:srgbClr val="0B1F33"/>
                </a:solidFill>
                <a:latin typeface="Aptos" pitchFamily="34" charset="0"/>
                <a:ea typeface="Aptos" pitchFamily="34" charset="-122"/>
                <a:cs typeface="Aptos" pitchFamily="34" charset="-120"/>
              </a:rPr>
              <a:t>0.753 (0.065)</a:t>
            </a:r>
            <a:endParaRPr lang="en-US" sz="1020"/>
          </a:p>
        </p:txBody>
      </p:sp>
      <p:sp>
        <p:nvSpPr>
          <p:cNvPr id="25" name="Text 22"/>
          <p:cNvSpPr/>
          <p:nvPr/>
        </p:nvSpPr>
        <p:spPr>
          <a:xfrm>
            <a:off x="5214620" y="4375658"/>
            <a:ext cx="1905000" cy="826389"/>
          </a:xfrm>
          <a:prstGeom prst="rect">
            <a:avLst/>
          </a:prstGeom>
          <a:solidFill>
            <a:srgbClr val="FFFFFF"/>
          </a:solidFill>
          <a:ln w="6350">
            <a:solidFill>
              <a:srgbClr val="D9E2EC"/>
            </a:solidFill>
          </a:ln>
        </p:spPr>
        <p:txBody>
          <a:bodyPr wrap="square" lIns="762" tIns="762" rIns="762" bIns="762" rtlCol="0" anchor="ctr">
            <a:normAutofit/>
          </a:bodyPr>
          <a:lstStyle/>
          <a:p>
            <a:pPr marL="0" indent="0" algn="l">
              <a:buNone/>
            </a:pPr>
            <a:r>
              <a:rPr lang="en-US" sz="1020">
                <a:solidFill>
                  <a:srgbClr val="0B1F33"/>
                </a:solidFill>
                <a:latin typeface="Aptos" pitchFamily="34" charset="0"/>
                <a:ea typeface="Aptos" pitchFamily="34" charset="-122"/>
                <a:cs typeface="Aptos" pitchFamily="34" charset="-120"/>
              </a:rPr>
              <a:t>Standardized LR</a:t>
            </a:r>
            <a:endParaRPr lang="en-US" sz="1020"/>
          </a:p>
        </p:txBody>
      </p:sp>
      <p:sp>
        <p:nvSpPr>
          <p:cNvPr id="26" name="Text 23"/>
          <p:cNvSpPr/>
          <p:nvPr/>
        </p:nvSpPr>
        <p:spPr>
          <a:xfrm>
            <a:off x="6833870" y="4375658"/>
            <a:ext cx="1794510" cy="826389"/>
          </a:xfrm>
          <a:prstGeom prst="rect">
            <a:avLst/>
          </a:prstGeom>
          <a:solidFill>
            <a:srgbClr val="FFFFFF"/>
          </a:solidFill>
          <a:ln w="6350">
            <a:solidFill>
              <a:srgbClr val="D9E2EC"/>
            </a:solidFill>
          </a:ln>
        </p:spPr>
        <p:txBody>
          <a:bodyPr wrap="square" lIns="762" tIns="762" rIns="762" bIns="762" rtlCol="0" anchor="ctr">
            <a:normAutofit/>
          </a:bodyPr>
          <a:lstStyle/>
          <a:p>
            <a:pPr marL="0" indent="0" algn="ctr">
              <a:buNone/>
            </a:pPr>
            <a:r>
              <a:rPr lang="en-US" sz="1020">
                <a:solidFill>
                  <a:srgbClr val="0B1F33"/>
                </a:solidFill>
                <a:latin typeface="Aptos" pitchFamily="34" charset="0"/>
                <a:ea typeface="Aptos" pitchFamily="34" charset="-122"/>
                <a:cs typeface="Aptos" pitchFamily="34" charset="-120"/>
              </a:rPr>
              <a:t>3.084 (0.459)</a:t>
            </a:r>
            <a:endParaRPr lang="en-US" sz="1020"/>
          </a:p>
        </p:txBody>
      </p:sp>
      <p:sp>
        <p:nvSpPr>
          <p:cNvPr id="27" name="Text 24"/>
          <p:cNvSpPr/>
          <p:nvPr/>
        </p:nvSpPr>
        <p:spPr>
          <a:xfrm>
            <a:off x="8323580" y="4375658"/>
            <a:ext cx="1905000" cy="826389"/>
          </a:xfrm>
          <a:prstGeom prst="rect">
            <a:avLst/>
          </a:prstGeom>
          <a:solidFill>
            <a:srgbClr val="FFFFFF"/>
          </a:solidFill>
          <a:ln w="6350">
            <a:solidFill>
              <a:srgbClr val="D9E2EC"/>
            </a:solidFill>
          </a:ln>
        </p:spPr>
        <p:txBody>
          <a:bodyPr wrap="square" lIns="762" tIns="762" rIns="762" bIns="762" rtlCol="0" anchor="ctr">
            <a:normAutofit/>
          </a:bodyPr>
          <a:lstStyle/>
          <a:p>
            <a:pPr marL="0" indent="0" algn="ctr">
              <a:buNone/>
            </a:pPr>
            <a:r>
              <a:rPr lang="en-US" sz="1020">
                <a:solidFill>
                  <a:srgbClr val="0B1F33"/>
                </a:solidFill>
                <a:latin typeface="Aptos" pitchFamily="34" charset="0"/>
                <a:ea typeface="Aptos" pitchFamily="34" charset="-122"/>
                <a:cs typeface="Aptos" pitchFamily="34" charset="-120"/>
              </a:rPr>
              <a:t>3.766 (0.507)</a:t>
            </a:r>
            <a:endParaRPr lang="en-US" sz="1020"/>
          </a:p>
        </p:txBody>
      </p:sp>
      <p:sp>
        <p:nvSpPr>
          <p:cNvPr id="28" name="Text 25"/>
          <p:cNvSpPr/>
          <p:nvPr/>
        </p:nvSpPr>
        <p:spPr>
          <a:xfrm>
            <a:off x="9971405" y="4375658"/>
            <a:ext cx="1628775" cy="826389"/>
          </a:xfrm>
          <a:prstGeom prst="rect">
            <a:avLst/>
          </a:prstGeom>
          <a:solidFill>
            <a:srgbClr val="FFFFFF"/>
          </a:solidFill>
          <a:ln w="6350">
            <a:solidFill>
              <a:srgbClr val="D9E2EC"/>
            </a:solidFill>
          </a:ln>
        </p:spPr>
        <p:txBody>
          <a:bodyPr wrap="square" lIns="762" tIns="762" rIns="762" bIns="762" rtlCol="0" anchor="ctr">
            <a:normAutofit/>
          </a:bodyPr>
          <a:lstStyle/>
          <a:p>
            <a:pPr marL="0" indent="0" algn="ctr">
              <a:buNone/>
            </a:pPr>
            <a:r>
              <a:rPr lang="en-US" sz="1020">
                <a:solidFill>
                  <a:srgbClr val="0B1F33"/>
                </a:solidFill>
                <a:latin typeface="Aptos" pitchFamily="34" charset="0"/>
                <a:ea typeface="Aptos" pitchFamily="34" charset="-122"/>
                <a:cs typeface="Aptos" pitchFamily="34" charset="-120"/>
              </a:rPr>
              <a:t>0.753 (0.065)</a:t>
            </a:r>
            <a:endParaRPr lang="en-US" sz="1020"/>
          </a:p>
        </p:txBody>
      </p:sp>
      <p:sp>
        <p:nvSpPr>
          <p:cNvPr id="29" name="Text 26"/>
          <p:cNvSpPr/>
          <p:nvPr/>
        </p:nvSpPr>
        <p:spPr>
          <a:xfrm>
            <a:off x="5214620" y="4887722"/>
            <a:ext cx="1905000" cy="826389"/>
          </a:xfrm>
          <a:prstGeom prst="rect">
            <a:avLst/>
          </a:prstGeom>
          <a:solidFill>
            <a:srgbClr val="FFFFFF"/>
          </a:solidFill>
          <a:ln w="6350">
            <a:solidFill>
              <a:srgbClr val="D9E2EC"/>
            </a:solidFill>
          </a:ln>
        </p:spPr>
        <p:txBody>
          <a:bodyPr wrap="square" lIns="762" tIns="762" rIns="762" bIns="762" rtlCol="0" anchor="ctr">
            <a:normAutofit/>
          </a:bodyPr>
          <a:lstStyle/>
          <a:p>
            <a:pPr marL="0" indent="0" algn="l">
              <a:buNone/>
            </a:pPr>
            <a:r>
              <a:rPr lang="en-US" sz="1020">
                <a:solidFill>
                  <a:srgbClr val="0B1F33"/>
                </a:solidFill>
                <a:latin typeface="Aptos" pitchFamily="34" charset="0"/>
                <a:ea typeface="Aptos" pitchFamily="34" charset="-122"/>
                <a:cs typeface="Aptos" pitchFamily="34" charset="-120"/>
              </a:rPr>
              <a:t>Elastic Net</a:t>
            </a:r>
            <a:endParaRPr lang="en-US" sz="1020"/>
          </a:p>
        </p:txBody>
      </p:sp>
      <p:sp>
        <p:nvSpPr>
          <p:cNvPr id="30" name="Text 27"/>
          <p:cNvSpPr/>
          <p:nvPr/>
        </p:nvSpPr>
        <p:spPr>
          <a:xfrm>
            <a:off x="6833870" y="4887722"/>
            <a:ext cx="1794510" cy="826389"/>
          </a:xfrm>
          <a:prstGeom prst="rect">
            <a:avLst/>
          </a:prstGeom>
          <a:solidFill>
            <a:srgbClr val="FFFFFF"/>
          </a:solidFill>
          <a:ln w="6350">
            <a:solidFill>
              <a:srgbClr val="D9E2EC"/>
            </a:solidFill>
          </a:ln>
        </p:spPr>
        <p:txBody>
          <a:bodyPr wrap="square" lIns="762" tIns="762" rIns="762" bIns="762" rtlCol="0" anchor="ctr">
            <a:normAutofit/>
          </a:bodyPr>
          <a:lstStyle/>
          <a:p>
            <a:pPr marL="0" indent="0" algn="ctr">
              <a:buNone/>
            </a:pPr>
            <a:r>
              <a:rPr lang="en-US" sz="1020">
                <a:solidFill>
                  <a:srgbClr val="0B1F33"/>
                </a:solidFill>
                <a:latin typeface="Aptos" pitchFamily="34" charset="0"/>
                <a:ea typeface="Aptos" pitchFamily="34" charset="-122"/>
                <a:cs typeface="Aptos" pitchFamily="34" charset="-120"/>
              </a:rPr>
              <a:t>3.078 (0.474)</a:t>
            </a:r>
            <a:endParaRPr lang="en-US" sz="1020"/>
          </a:p>
        </p:txBody>
      </p:sp>
      <p:sp>
        <p:nvSpPr>
          <p:cNvPr id="31" name="Text 28"/>
          <p:cNvSpPr/>
          <p:nvPr/>
        </p:nvSpPr>
        <p:spPr>
          <a:xfrm>
            <a:off x="8323580" y="4887722"/>
            <a:ext cx="1905000" cy="826389"/>
          </a:xfrm>
          <a:prstGeom prst="rect">
            <a:avLst/>
          </a:prstGeom>
          <a:solidFill>
            <a:srgbClr val="FFFFFF"/>
          </a:solidFill>
          <a:ln w="6350">
            <a:solidFill>
              <a:srgbClr val="D9E2EC"/>
            </a:solidFill>
          </a:ln>
        </p:spPr>
        <p:txBody>
          <a:bodyPr wrap="square" lIns="762" tIns="762" rIns="762" bIns="762" rtlCol="0" anchor="ctr">
            <a:normAutofit/>
          </a:bodyPr>
          <a:lstStyle/>
          <a:p>
            <a:pPr marL="0" indent="0" algn="ctr">
              <a:buNone/>
            </a:pPr>
            <a:r>
              <a:rPr lang="en-US" sz="1020">
                <a:solidFill>
                  <a:srgbClr val="0B1F33"/>
                </a:solidFill>
                <a:latin typeface="Aptos" pitchFamily="34" charset="0"/>
                <a:ea typeface="Aptos" pitchFamily="34" charset="-122"/>
                <a:cs typeface="Aptos" pitchFamily="34" charset="-120"/>
              </a:rPr>
              <a:t>3.769 (0.502)</a:t>
            </a:r>
            <a:endParaRPr lang="en-US" sz="1020"/>
          </a:p>
        </p:txBody>
      </p:sp>
      <p:sp>
        <p:nvSpPr>
          <p:cNvPr id="32" name="Text 29"/>
          <p:cNvSpPr/>
          <p:nvPr/>
        </p:nvSpPr>
        <p:spPr>
          <a:xfrm>
            <a:off x="9971405" y="4887722"/>
            <a:ext cx="1628775" cy="826389"/>
          </a:xfrm>
          <a:prstGeom prst="rect">
            <a:avLst/>
          </a:prstGeom>
          <a:solidFill>
            <a:srgbClr val="FFFFFF"/>
          </a:solidFill>
          <a:ln w="6350">
            <a:solidFill>
              <a:srgbClr val="D9E2EC"/>
            </a:solidFill>
          </a:ln>
        </p:spPr>
        <p:txBody>
          <a:bodyPr wrap="square" lIns="762" tIns="762" rIns="762" bIns="762" rtlCol="0" anchor="ctr">
            <a:normAutofit/>
          </a:bodyPr>
          <a:lstStyle/>
          <a:p>
            <a:pPr marL="0" indent="0" algn="ctr">
              <a:buNone/>
            </a:pPr>
            <a:r>
              <a:rPr lang="en-US" sz="1020">
                <a:solidFill>
                  <a:srgbClr val="0B1F33"/>
                </a:solidFill>
                <a:latin typeface="Aptos" pitchFamily="34" charset="0"/>
                <a:ea typeface="Aptos" pitchFamily="34" charset="-122"/>
                <a:cs typeface="Aptos" pitchFamily="34" charset="-120"/>
              </a:rPr>
              <a:t>0.753 (0.063)</a:t>
            </a:r>
            <a:endParaRPr lang="en-US" sz="1020"/>
          </a:p>
        </p:txBody>
      </p:sp>
      <p:sp>
        <p:nvSpPr>
          <p:cNvPr id="33" name="Text 30"/>
          <p:cNvSpPr/>
          <p:nvPr/>
        </p:nvSpPr>
        <p:spPr>
          <a:xfrm>
            <a:off x="1026252" y="6443749"/>
            <a:ext cx="3200400" cy="182880"/>
          </a:xfrm>
          <a:prstGeom prst="rect">
            <a:avLst/>
          </a:prstGeom>
          <a:noFill/>
          <a:ln/>
        </p:spPr>
        <p:txBody>
          <a:bodyPr wrap="square" lIns="254" tIns="254" rIns="254" bIns="254" rtlCol="0" anchor="t">
            <a:normAutofit/>
          </a:bodyPr>
          <a:lstStyle/>
          <a:p>
            <a:pPr marL="0" indent="0" algn="ctr">
              <a:buNone/>
            </a:pPr>
            <a:r>
              <a:rPr lang="en-US" sz="800">
                <a:solidFill>
                  <a:srgbClr val="64748B"/>
                </a:solidFill>
                <a:latin typeface="Aptos" pitchFamily="34" charset="0"/>
                <a:ea typeface="Aptos" pitchFamily="34" charset="-122"/>
                <a:cs typeface="Aptos" pitchFamily="34" charset="-120"/>
              </a:rPr>
              <a:t>Predicted vs. Actual Exam Scores</a:t>
            </a:r>
            <a:endParaRPr lang="en-US" sz="800"/>
          </a:p>
        </p:txBody>
      </p:sp>
      <p:sp>
        <p:nvSpPr>
          <p:cNvPr id="36" name="Shape 8">
            <a:extLst>
              <a:ext uri="{FF2B5EF4-FFF2-40B4-BE49-F238E27FC236}">
                <a16:creationId xmlns:a16="http://schemas.microsoft.com/office/drawing/2014/main" id="{E1C9A6BB-455D-9A08-DAFD-3F231758AF48}"/>
              </a:ext>
            </a:extLst>
          </p:cNvPr>
          <p:cNvSpPr/>
          <p:nvPr/>
        </p:nvSpPr>
        <p:spPr>
          <a:xfrm>
            <a:off x="731520" y="1373632"/>
            <a:ext cx="82296" cy="82296"/>
          </a:xfrm>
          <a:prstGeom prst="ellipse">
            <a:avLst/>
          </a:prstGeom>
          <a:solidFill>
            <a:srgbClr val="0EA5A4"/>
          </a:solidFill>
          <a:ln w="12700">
            <a:solidFill>
              <a:srgbClr val="0EA5A4">
                <a:alpha val="0"/>
              </a:srgbClr>
            </a:solidFill>
            <a:prstDash val="solid"/>
          </a:ln>
        </p:spPr>
      </p:sp>
      <p:sp>
        <p:nvSpPr>
          <p:cNvPr id="37" name="Text 9">
            <a:extLst>
              <a:ext uri="{FF2B5EF4-FFF2-40B4-BE49-F238E27FC236}">
                <a16:creationId xmlns:a16="http://schemas.microsoft.com/office/drawing/2014/main" id="{5E87B15D-2243-CD8B-1930-187D8791A834}"/>
              </a:ext>
            </a:extLst>
          </p:cNvPr>
          <p:cNvSpPr/>
          <p:nvPr/>
        </p:nvSpPr>
        <p:spPr>
          <a:xfrm>
            <a:off x="914400" y="1310639"/>
            <a:ext cx="10068560" cy="292608"/>
          </a:xfrm>
          <a:prstGeom prst="rect">
            <a:avLst/>
          </a:prstGeom>
          <a:noFill/>
          <a:ln/>
        </p:spPr>
        <p:txBody>
          <a:bodyPr wrap="square" lIns="254" tIns="254" rIns="254" bIns="254" rtlCol="0" anchor="t">
            <a:normAutofit/>
          </a:bodyPr>
          <a:lstStyle/>
          <a:p>
            <a:r>
              <a:rPr lang="en-US" sz="1600">
                <a:solidFill>
                  <a:srgbClr val="0B1F33"/>
                </a:solidFill>
                <a:ea typeface="+mn-lt"/>
                <a:cs typeface="+mn-lt"/>
              </a:rPr>
              <a:t>All three models produced </a:t>
            </a:r>
            <a:r>
              <a:rPr lang="en-US" sz="1600" b="1">
                <a:solidFill>
                  <a:srgbClr val="0B1F33"/>
                </a:solidFill>
                <a:ea typeface="+mn-lt"/>
                <a:cs typeface="+mn-lt"/>
              </a:rPr>
              <a:t>very similar results. </a:t>
            </a:r>
            <a:endParaRPr lang="en-US" sz="1600" b="1"/>
          </a:p>
        </p:txBody>
      </p:sp>
      <p:pic>
        <p:nvPicPr>
          <p:cNvPr id="3" name="Picture 2">
            <a:extLst>
              <a:ext uri="{FF2B5EF4-FFF2-40B4-BE49-F238E27FC236}">
                <a16:creationId xmlns:a16="http://schemas.microsoft.com/office/drawing/2014/main" id="{61DCC1F7-52E4-4B0C-BA12-3AEF366EBD01}"/>
              </a:ext>
            </a:extLst>
          </p:cNvPr>
          <p:cNvPicPr>
            <a:picLocks noChangeAspect="1"/>
          </p:cNvPicPr>
          <p:nvPr/>
        </p:nvPicPr>
        <p:blipFill>
          <a:blip r:embed="rId3"/>
          <a:stretch>
            <a:fillRect/>
          </a:stretch>
        </p:blipFill>
        <p:spPr>
          <a:xfrm>
            <a:off x="891288" y="3729874"/>
            <a:ext cx="3508705" cy="2712490"/>
          </a:xfrm>
          <a:prstGeom prst="rect">
            <a:avLst/>
          </a:prstGeom>
        </p:spPr>
      </p:pic>
      <p:sp>
        <p:nvSpPr>
          <p:cNvPr id="4" name="Shape 12">
            <a:extLst>
              <a:ext uri="{FF2B5EF4-FFF2-40B4-BE49-F238E27FC236}">
                <a16:creationId xmlns:a16="http://schemas.microsoft.com/office/drawing/2014/main" id="{88ECE367-4B76-36C5-62A6-D4BE8CB9E83E}"/>
              </a:ext>
            </a:extLst>
          </p:cNvPr>
          <p:cNvSpPr/>
          <p:nvPr/>
        </p:nvSpPr>
        <p:spPr>
          <a:xfrm>
            <a:off x="719974" y="3251246"/>
            <a:ext cx="82296" cy="82296"/>
          </a:xfrm>
          <a:prstGeom prst="ellipse">
            <a:avLst/>
          </a:prstGeom>
          <a:solidFill>
            <a:srgbClr val="0EA5A4"/>
          </a:solidFill>
          <a:ln w="12700">
            <a:solidFill>
              <a:srgbClr val="0EA5A4">
                <a:alpha val="0"/>
              </a:srgbClr>
            </a:solidFill>
            <a:prstDash val="solid"/>
          </a:ln>
        </p:spPr>
      </p:sp>
      <p:sp>
        <p:nvSpPr>
          <p:cNvPr id="7" name="Text 13">
            <a:extLst>
              <a:ext uri="{FF2B5EF4-FFF2-40B4-BE49-F238E27FC236}">
                <a16:creationId xmlns:a16="http://schemas.microsoft.com/office/drawing/2014/main" id="{A4119DDA-F6B9-9F52-AC3E-7155D6DD52CA}"/>
              </a:ext>
            </a:extLst>
          </p:cNvPr>
          <p:cNvSpPr/>
          <p:nvPr/>
        </p:nvSpPr>
        <p:spPr>
          <a:xfrm>
            <a:off x="897082" y="3178094"/>
            <a:ext cx="11084559" cy="321471"/>
          </a:xfrm>
          <a:prstGeom prst="rect">
            <a:avLst/>
          </a:prstGeom>
          <a:noFill/>
          <a:ln/>
        </p:spPr>
        <p:txBody>
          <a:bodyPr wrap="square" lIns="254" tIns="254" rIns="254" bIns="254" rtlCol="0" anchor="t">
            <a:noAutofit/>
          </a:bodyPr>
          <a:lstStyle/>
          <a:p>
            <a:r>
              <a:rPr lang="en-US" sz="1400">
                <a:solidFill>
                  <a:srgbClr val="0B1F33"/>
                </a:solidFill>
                <a:ea typeface="+mn-lt"/>
                <a:cs typeface="+mn-lt"/>
              </a:rPr>
              <a:t>Elastic Net had a slightly lower MAE, but the difference was extremely small. Standardizing Linear Regression also did not change its prediction performance.</a:t>
            </a:r>
            <a:endParaRPr lang="en-US" sz="1400"/>
          </a:p>
        </p:txBody>
      </p:sp>
      <p:sp>
        <p:nvSpPr>
          <p:cNvPr id="8" name="TextBox 7">
            <a:extLst>
              <a:ext uri="{FF2B5EF4-FFF2-40B4-BE49-F238E27FC236}">
                <a16:creationId xmlns:a16="http://schemas.microsoft.com/office/drawing/2014/main" id="{2EB0447D-A022-BA0D-0DD6-15E98A75DF4F}"/>
              </a:ext>
            </a:extLst>
          </p:cNvPr>
          <p:cNvSpPr txBox="1"/>
          <p:nvPr/>
        </p:nvSpPr>
        <p:spPr>
          <a:xfrm>
            <a:off x="4509221" y="5893232"/>
            <a:ext cx="6254750" cy="73866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ea typeface="+mn-lt"/>
                <a:cs typeface="+mn-lt"/>
              </a:rPr>
              <a:t>Elastic Net had a slightly lower MAE, but the difference was extremely small. Standardizing Linear Regression also did not change its prediction performance.</a:t>
            </a:r>
            <a:endParaRPr lang="en-US" sz="14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02920" y="597408"/>
            <a:ext cx="7132320" cy="384048"/>
          </a:xfrm>
          <a:prstGeom prst="rect">
            <a:avLst/>
          </a:prstGeom>
          <a:noFill/>
          <a:ln/>
        </p:spPr>
        <p:txBody>
          <a:bodyPr wrap="square" lIns="254" tIns="254" rIns="254" bIns="254" rtlCol="0" anchor="t">
            <a:normAutofit/>
          </a:bodyPr>
          <a:lstStyle/>
          <a:p>
            <a:pPr marL="0" indent="0" algn="l">
              <a:buNone/>
            </a:pPr>
            <a:r>
              <a:rPr lang="en-US" sz="2400" b="1">
                <a:solidFill>
                  <a:srgbClr val="0B1F33"/>
                </a:solidFill>
                <a:latin typeface="Aptos Display" pitchFamily="34" charset="0"/>
                <a:ea typeface="Aptos Display" pitchFamily="34" charset="-122"/>
                <a:cs typeface="Aptos Display" pitchFamily="34" charset="-120"/>
              </a:rPr>
              <a:t>Conclusion</a:t>
            </a:r>
            <a:endParaRPr lang="en-US" sz="2400"/>
          </a:p>
        </p:txBody>
      </p:sp>
      <p:sp>
        <p:nvSpPr>
          <p:cNvPr id="5" name="Shape 3"/>
          <p:cNvSpPr/>
          <p:nvPr/>
        </p:nvSpPr>
        <p:spPr>
          <a:xfrm>
            <a:off x="502920" y="1124712"/>
            <a:ext cx="11155680" cy="0"/>
          </a:xfrm>
          <a:prstGeom prst="line">
            <a:avLst/>
          </a:prstGeom>
          <a:noFill/>
          <a:ln w="9525">
            <a:solidFill>
              <a:srgbClr val="D9E2EC"/>
            </a:solidFill>
            <a:prstDash val="solid"/>
          </a:ln>
        </p:spPr>
      </p:sp>
      <p:sp>
        <p:nvSpPr>
          <p:cNvPr id="6" name="Shape 4"/>
          <p:cNvSpPr/>
          <p:nvPr/>
        </p:nvSpPr>
        <p:spPr>
          <a:xfrm>
            <a:off x="502920" y="6446520"/>
            <a:ext cx="11155680" cy="0"/>
          </a:xfrm>
          <a:prstGeom prst="line">
            <a:avLst/>
          </a:prstGeom>
          <a:noFill/>
          <a:ln w="9525">
            <a:solidFill>
              <a:srgbClr val="D9E2EC"/>
            </a:solidFill>
            <a:prstDash val="solid"/>
          </a:ln>
        </p:spPr>
      </p:sp>
      <p:sp>
        <p:nvSpPr>
          <p:cNvPr id="12" name="Shape 10"/>
          <p:cNvSpPr/>
          <p:nvPr/>
        </p:nvSpPr>
        <p:spPr>
          <a:xfrm>
            <a:off x="596265" y="2504567"/>
            <a:ext cx="82296" cy="82296"/>
          </a:xfrm>
          <a:prstGeom prst="ellipse">
            <a:avLst/>
          </a:prstGeom>
          <a:solidFill>
            <a:srgbClr val="0EA5A4"/>
          </a:solidFill>
          <a:ln w="12700">
            <a:solidFill>
              <a:srgbClr val="0EA5A4">
                <a:alpha val="0"/>
              </a:srgbClr>
            </a:solidFill>
            <a:prstDash val="solid"/>
          </a:ln>
        </p:spPr>
      </p:sp>
      <p:sp>
        <p:nvSpPr>
          <p:cNvPr id="13" name="Text 11"/>
          <p:cNvSpPr/>
          <p:nvPr/>
        </p:nvSpPr>
        <p:spPr>
          <a:xfrm>
            <a:off x="779145" y="2431415"/>
            <a:ext cx="9738360" cy="292608"/>
          </a:xfrm>
          <a:prstGeom prst="rect">
            <a:avLst/>
          </a:prstGeom>
          <a:noFill/>
          <a:ln/>
        </p:spPr>
        <p:txBody>
          <a:bodyPr wrap="square" lIns="254" tIns="254" rIns="254" bIns="254" rtlCol="0" anchor="t">
            <a:normAutofit fontScale="92500"/>
          </a:bodyPr>
          <a:lstStyle/>
          <a:p>
            <a:r>
              <a:rPr lang="en-US" sz="1600">
                <a:solidFill>
                  <a:srgbClr val="0B1F33"/>
                </a:solidFill>
                <a:ea typeface="+mn-lt"/>
                <a:cs typeface="+mn-lt"/>
              </a:rPr>
              <a:t>The ranking stayed the same: </a:t>
            </a:r>
            <a:r>
              <a:rPr lang="en-US" sz="1600" err="1">
                <a:solidFill>
                  <a:srgbClr val="0B1F33"/>
                </a:solidFill>
                <a:ea typeface="+mn-lt"/>
                <a:cs typeface="+mn-lt"/>
              </a:rPr>
              <a:t>Hours_Studied</a:t>
            </a:r>
            <a:r>
              <a:rPr lang="en-US" sz="1600">
                <a:solidFill>
                  <a:srgbClr val="0B1F33"/>
                </a:solidFill>
                <a:ea typeface="+mn-lt"/>
                <a:cs typeface="+mn-lt"/>
              </a:rPr>
              <a:t> &gt; </a:t>
            </a:r>
            <a:r>
              <a:rPr lang="en-US" sz="1600" err="1">
                <a:solidFill>
                  <a:srgbClr val="0B1F33"/>
                </a:solidFill>
                <a:ea typeface="+mn-lt"/>
                <a:cs typeface="+mn-lt"/>
              </a:rPr>
              <a:t>Attendance_Percent</a:t>
            </a:r>
            <a:r>
              <a:rPr lang="en-US" sz="1600">
                <a:solidFill>
                  <a:srgbClr val="0B1F33"/>
                </a:solidFill>
                <a:ea typeface="+mn-lt"/>
                <a:cs typeface="+mn-lt"/>
              </a:rPr>
              <a:t> &gt; </a:t>
            </a:r>
            <a:r>
              <a:rPr lang="en-US" sz="1600" err="1">
                <a:solidFill>
                  <a:srgbClr val="0B1F33"/>
                </a:solidFill>
                <a:ea typeface="+mn-lt"/>
                <a:cs typeface="+mn-lt"/>
              </a:rPr>
              <a:t>Assignments_Completed</a:t>
            </a:r>
            <a:r>
              <a:rPr lang="en-US" sz="1600">
                <a:solidFill>
                  <a:srgbClr val="0B1F33"/>
                </a:solidFill>
                <a:ea typeface="+mn-lt"/>
                <a:cs typeface="+mn-lt"/>
              </a:rPr>
              <a:t> &gt; </a:t>
            </a:r>
            <a:r>
              <a:rPr lang="en-US" sz="1600" err="1">
                <a:solidFill>
                  <a:srgbClr val="0B1F33"/>
                </a:solidFill>
                <a:ea typeface="+mn-lt"/>
                <a:cs typeface="+mn-lt"/>
              </a:rPr>
              <a:t>Sleep_Hours</a:t>
            </a:r>
            <a:endParaRPr lang="en-US" sz="1600">
              <a:solidFill>
                <a:srgbClr val="0B1F33"/>
              </a:solidFill>
              <a:ea typeface="+mn-lt"/>
              <a:cs typeface="+mn-lt"/>
            </a:endParaRPr>
          </a:p>
        </p:txBody>
      </p:sp>
      <p:sp>
        <p:nvSpPr>
          <p:cNvPr id="14" name="Shape 12"/>
          <p:cNvSpPr/>
          <p:nvPr/>
        </p:nvSpPr>
        <p:spPr>
          <a:xfrm>
            <a:off x="596265" y="3007487"/>
            <a:ext cx="82296" cy="82296"/>
          </a:xfrm>
          <a:prstGeom prst="ellipse">
            <a:avLst/>
          </a:prstGeom>
          <a:solidFill>
            <a:srgbClr val="0EA5A4"/>
          </a:solidFill>
          <a:ln w="12700">
            <a:solidFill>
              <a:srgbClr val="0EA5A4">
                <a:alpha val="0"/>
              </a:srgbClr>
            </a:solidFill>
            <a:prstDash val="solid"/>
          </a:ln>
        </p:spPr>
      </p:sp>
      <p:sp>
        <p:nvSpPr>
          <p:cNvPr id="15" name="Text 13"/>
          <p:cNvSpPr/>
          <p:nvPr/>
        </p:nvSpPr>
        <p:spPr>
          <a:xfrm>
            <a:off x="779145" y="2934335"/>
            <a:ext cx="9738360" cy="292608"/>
          </a:xfrm>
          <a:prstGeom prst="rect">
            <a:avLst/>
          </a:prstGeom>
          <a:noFill/>
          <a:ln/>
        </p:spPr>
        <p:txBody>
          <a:bodyPr wrap="square" lIns="254" tIns="254" rIns="254" bIns="254" rtlCol="0" anchor="t">
            <a:normAutofit/>
          </a:bodyPr>
          <a:lstStyle/>
          <a:p>
            <a:r>
              <a:rPr lang="en-US" sz="1600">
                <a:solidFill>
                  <a:srgbClr val="0B1F33"/>
                </a:solidFill>
                <a:latin typeface="Neue Haas Grotesk Text Pro"/>
              </a:rPr>
              <a:t>The same ranking appeared in standardized Linear Regression and Elastic Net.</a:t>
            </a:r>
            <a:endParaRPr lang="en-US" sz="1600">
              <a:latin typeface="Neue Haas Grotesk Text Pro"/>
            </a:endParaRPr>
          </a:p>
        </p:txBody>
      </p:sp>
      <p:sp>
        <p:nvSpPr>
          <p:cNvPr id="16" name="Shape 14"/>
          <p:cNvSpPr/>
          <p:nvPr/>
        </p:nvSpPr>
        <p:spPr>
          <a:xfrm>
            <a:off x="596265" y="3510407"/>
            <a:ext cx="82296" cy="82296"/>
          </a:xfrm>
          <a:prstGeom prst="ellipse">
            <a:avLst/>
          </a:prstGeom>
          <a:solidFill>
            <a:srgbClr val="0EA5A4"/>
          </a:solidFill>
          <a:ln w="12700">
            <a:solidFill>
              <a:srgbClr val="0EA5A4">
                <a:alpha val="0"/>
              </a:srgbClr>
            </a:solidFill>
            <a:prstDash val="solid"/>
          </a:ln>
        </p:spPr>
      </p:sp>
      <p:sp>
        <p:nvSpPr>
          <p:cNvPr id="17" name="Text 15"/>
          <p:cNvSpPr/>
          <p:nvPr/>
        </p:nvSpPr>
        <p:spPr>
          <a:xfrm>
            <a:off x="779145" y="3437255"/>
            <a:ext cx="9738360" cy="292608"/>
          </a:xfrm>
          <a:prstGeom prst="rect">
            <a:avLst/>
          </a:prstGeom>
          <a:noFill/>
          <a:ln/>
        </p:spPr>
        <p:txBody>
          <a:bodyPr wrap="square" lIns="254" tIns="254" rIns="254" bIns="254" rtlCol="0" anchor="t">
            <a:normAutofit/>
          </a:bodyPr>
          <a:lstStyle/>
          <a:p>
            <a:pPr marL="0" indent="0" algn="l">
              <a:buNone/>
            </a:pPr>
            <a:r>
              <a:rPr lang="en-US" sz="1600">
                <a:solidFill>
                  <a:srgbClr val="0B1F33"/>
                </a:solidFill>
                <a:latin typeface="Neue Haas Grotesk Text Pro"/>
                <a:ea typeface="Aptos" pitchFamily="34" charset="-122"/>
                <a:cs typeface="Aptos" pitchFamily="34" charset="-120"/>
              </a:rPr>
              <a:t>Elastic Net slightly shrank the coefficients but did not remove any predictors.</a:t>
            </a:r>
            <a:endParaRPr lang="en-US" sz="1600">
              <a:latin typeface="Neue Haas Grotesk Text Pro"/>
            </a:endParaRPr>
          </a:p>
        </p:txBody>
      </p:sp>
      <p:sp>
        <p:nvSpPr>
          <p:cNvPr id="20" name="Text 18"/>
          <p:cNvSpPr/>
          <p:nvPr/>
        </p:nvSpPr>
        <p:spPr>
          <a:xfrm>
            <a:off x="834558" y="5248215"/>
            <a:ext cx="4846320" cy="868680"/>
          </a:xfrm>
          <a:prstGeom prst="rect">
            <a:avLst/>
          </a:prstGeom>
          <a:solidFill>
            <a:srgbClr val="EAF2FF"/>
          </a:solidFill>
          <a:ln w="6350">
            <a:solidFill>
              <a:srgbClr val="D9E2EC"/>
            </a:solidFill>
          </a:ln>
        </p:spPr>
        <p:txBody>
          <a:bodyPr wrap="square" lIns="1524" tIns="1524" rIns="1524" bIns="1524" rtlCol="0" anchor="ctr">
            <a:normAutofit/>
          </a:bodyPr>
          <a:lstStyle/>
          <a:p>
            <a:r>
              <a:rPr lang="en-US" sz="1400" b="1">
                <a:solidFill>
                  <a:srgbClr val="0B1F33"/>
                </a:solidFill>
                <a:latin typeface="Aptos"/>
                <a:ea typeface="Aptos" pitchFamily="34" charset="-122"/>
                <a:cs typeface="Aptos" pitchFamily="34" charset="-120"/>
              </a:rPr>
              <a:t>Limitation:</a:t>
            </a:r>
            <a:endParaRPr lang="en-US" sz="1400" b="1">
              <a:latin typeface="Aptos"/>
            </a:endParaRPr>
          </a:p>
          <a:p>
            <a:r>
              <a:rPr lang="en-US" sz="1400">
                <a:solidFill>
                  <a:srgbClr val="0B1F33"/>
                </a:solidFill>
                <a:latin typeface="Aptos"/>
                <a:ea typeface="Aptos" pitchFamily="34" charset="-122"/>
                <a:cs typeface="Aptos" pitchFamily="34" charset="-120"/>
              </a:rPr>
              <a:t>The dataset is synthetic and relatively small, so the findings may not generalize to real students.</a:t>
            </a:r>
            <a:endParaRPr lang="en-US" sz="1400">
              <a:latin typeface="Aptos"/>
            </a:endParaRPr>
          </a:p>
        </p:txBody>
      </p:sp>
      <p:sp>
        <p:nvSpPr>
          <p:cNvPr id="21" name="Text 19"/>
          <p:cNvSpPr/>
          <p:nvPr/>
        </p:nvSpPr>
        <p:spPr>
          <a:xfrm>
            <a:off x="5894238" y="5238055"/>
            <a:ext cx="5303520" cy="868680"/>
          </a:xfrm>
          <a:prstGeom prst="rect">
            <a:avLst/>
          </a:prstGeom>
          <a:solidFill>
            <a:srgbClr val="FFF7D6"/>
          </a:solidFill>
          <a:ln w="6350">
            <a:solidFill>
              <a:srgbClr val="D9E2EC"/>
            </a:solidFill>
          </a:ln>
        </p:spPr>
        <p:txBody>
          <a:bodyPr wrap="square" lIns="1524" tIns="1524" rIns="1524" bIns="1524" rtlCol="0" anchor="ctr">
            <a:normAutofit/>
          </a:bodyPr>
          <a:lstStyle/>
          <a:p>
            <a:pPr marL="0" indent="0" algn="l">
              <a:buNone/>
            </a:pPr>
            <a:r>
              <a:rPr lang="en-US" sz="1400" b="1">
                <a:solidFill>
                  <a:srgbClr val="0B1F33"/>
                </a:solidFill>
                <a:latin typeface="Aptos"/>
                <a:ea typeface="Aptos" pitchFamily="34" charset="-122"/>
                <a:cs typeface="Aptos" pitchFamily="34" charset="-120"/>
              </a:rPr>
              <a:t>Non-Causal Interpretation:</a:t>
            </a:r>
            <a:endParaRPr lang="en-US" sz="1400" b="1">
              <a:latin typeface="Aptos"/>
            </a:endParaRPr>
          </a:p>
          <a:p>
            <a:pPr marL="0" indent="0" algn="l">
              <a:buNone/>
            </a:pPr>
            <a:r>
              <a:rPr lang="en-US" sz="1400">
                <a:solidFill>
                  <a:srgbClr val="0B1F33"/>
                </a:solidFill>
                <a:latin typeface="Aptos"/>
                <a:ea typeface="Aptos" pitchFamily="34" charset="-122"/>
                <a:cs typeface="Aptos" pitchFamily="34" charset="-120"/>
              </a:rPr>
              <a:t>More study hours were associated with higher exam scores, but this does not prove that studying more directly causes higher scores.</a:t>
            </a:r>
            <a:endParaRPr lang="en-US" sz="1400">
              <a:latin typeface="Aptos"/>
            </a:endParaRPr>
          </a:p>
        </p:txBody>
      </p:sp>
      <p:sp>
        <p:nvSpPr>
          <p:cNvPr id="23" name="Shape 10">
            <a:extLst>
              <a:ext uri="{FF2B5EF4-FFF2-40B4-BE49-F238E27FC236}">
                <a16:creationId xmlns:a16="http://schemas.microsoft.com/office/drawing/2014/main" id="{760B72F5-2332-A799-5267-E9B7DEE36908}"/>
              </a:ext>
            </a:extLst>
          </p:cNvPr>
          <p:cNvSpPr/>
          <p:nvPr/>
        </p:nvSpPr>
        <p:spPr>
          <a:xfrm>
            <a:off x="606424" y="2027047"/>
            <a:ext cx="82296" cy="82296"/>
          </a:xfrm>
          <a:prstGeom prst="ellipse">
            <a:avLst/>
          </a:prstGeom>
          <a:solidFill>
            <a:srgbClr val="0EA5A4"/>
          </a:solidFill>
          <a:ln w="12700">
            <a:solidFill>
              <a:srgbClr val="0EA5A4">
                <a:alpha val="0"/>
              </a:srgbClr>
            </a:solidFill>
            <a:prstDash val="solid"/>
          </a:ln>
        </p:spPr>
      </p:sp>
      <p:sp>
        <p:nvSpPr>
          <p:cNvPr id="24" name="Text 11">
            <a:extLst>
              <a:ext uri="{FF2B5EF4-FFF2-40B4-BE49-F238E27FC236}">
                <a16:creationId xmlns:a16="http://schemas.microsoft.com/office/drawing/2014/main" id="{1CC557DE-D222-75DA-13C4-AECDC7B8D6E3}"/>
              </a:ext>
            </a:extLst>
          </p:cNvPr>
          <p:cNvSpPr/>
          <p:nvPr/>
        </p:nvSpPr>
        <p:spPr>
          <a:xfrm>
            <a:off x="789304" y="1953895"/>
            <a:ext cx="9738360" cy="292608"/>
          </a:xfrm>
          <a:prstGeom prst="rect">
            <a:avLst/>
          </a:prstGeom>
          <a:noFill/>
          <a:ln/>
        </p:spPr>
        <p:txBody>
          <a:bodyPr wrap="square" lIns="254" tIns="254" rIns="254" bIns="254" rtlCol="0" anchor="t">
            <a:normAutofit/>
          </a:bodyPr>
          <a:lstStyle/>
          <a:p>
            <a:r>
              <a:rPr lang="en-US" sz="1600" err="1">
                <a:solidFill>
                  <a:srgbClr val="0B1F33"/>
                </a:solidFill>
                <a:latin typeface="Neue Haas Grotesk Text Pro"/>
                <a:ea typeface="+mn-lt"/>
                <a:cs typeface="+mn-lt"/>
              </a:rPr>
              <a:t>Hours_Studied</a:t>
            </a:r>
            <a:r>
              <a:rPr lang="en-US" sz="1600">
                <a:solidFill>
                  <a:srgbClr val="0B1F33"/>
                </a:solidFill>
                <a:ea typeface="+mn-lt"/>
                <a:cs typeface="+mn-lt"/>
              </a:rPr>
              <a:t> remained the strongest predictor.</a:t>
            </a:r>
            <a:endParaRPr lang="en-US">
              <a:ea typeface="+mn-lt"/>
              <a:cs typeface="+mn-lt"/>
            </a:endParaRPr>
          </a:p>
        </p:txBody>
      </p:sp>
      <p:sp>
        <p:nvSpPr>
          <p:cNvPr id="3" name="TextBox 2">
            <a:extLst>
              <a:ext uri="{FF2B5EF4-FFF2-40B4-BE49-F238E27FC236}">
                <a16:creationId xmlns:a16="http://schemas.microsoft.com/office/drawing/2014/main" id="{9A6A171A-E9EF-60BA-D423-927E234B54F4}"/>
              </a:ext>
            </a:extLst>
          </p:cNvPr>
          <p:cNvSpPr txBox="1"/>
          <p:nvPr/>
        </p:nvSpPr>
        <p:spPr>
          <a:xfrm>
            <a:off x="542925" y="1304925"/>
            <a:ext cx="10067925"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00000"/>
                </a:solidFill>
                <a:ea typeface="+mn-lt"/>
                <a:cs typeface="+mn-lt"/>
              </a:rPr>
              <a:t>Which relationships and coefficient rankings are stable in </a:t>
            </a:r>
            <a:r>
              <a:rPr lang="en-US" b="1" i="0" u="none" strike="noStrike" baseline="0">
                <a:solidFill>
                  <a:srgbClr val="000000"/>
                </a:solidFill>
                <a:ea typeface="+mn-lt"/>
                <a:cs typeface="+mn-lt"/>
              </a:rPr>
              <a:t>the </a:t>
            </a:r>
            <a:r>
              <a:rPr lang="en-US" b="1">
                <a:solidFill>
                  <a:srgbClr val="000000"/>
                </a:solidFill>
                <a:ea typeface="+mn-lt"/>
                <a:cs typeface="+mn-lt"/>
              </a:rPr>
              <a:t>baseline data? </a:t>
            </a:r>
            <a:endParaRPr lang="en-US" b="1"/>
          </a:p>
          <a:p>
            <a:endParaRPr lang="en-US" b="1">
              <a:solidFill>
                <a:srgbClr val="000000"/>
              </a:solidFill>
            </a:endParaRPr>
          </a:p>
        </p:txBody>
      </p:sp>
      <p:sp>
        <p:nvSpPr>
          <p:cNvPr id="4" name="Text 15">
            <a:extLst>
              <a:ext uri="{FF2B5EF4-FFF2-40B4-BE49-F238E27FC236}">
                <a16:creationId xmlns:a16="http://schemas.microsoft.com/office/drawing/2014/main" id="{FEB34B29-CE64-2EE6-8FCF-9EB72431EDBC}"/>
              </a:ext>
            </a:extLst>
          </p:cNvPr>
          <p:cNvSpPr/>
          <p:nvPr/>
        </p:nvSpPr>
        <p:spPr>
          <a:xfrm>
            <a:off x="790690" y="3939482"/>
            <a:ext cx="9738360" cy="292608"/>
          </a:xfrm>
          <a:prstGeom prst="rect">
            <a:avLst/>
          </a:prstGeom>
          <a:noFill/>
          <a:ln/>
        </p:spPr>
        <p:txBody>
          <a:bodyPr wrap="square" lIns="254" tIns="254" rIns="254" bIns="254" rtlCol="0" anchor="t">
            <a:noAutofit/>
          </a:bodyPr>
          <a:lstStyle/>
          <a:p>
            <a:r>
              <a:rPr lang="en-US" sz="1600">
                <a:solidFill>
                  <a:srgbClr val="0B1F33"/>
                </a:solidFill>
                <a:ea typeface="+mn-lt"/>
                <a:cs typeface="+mn-lt"/>
              </a:rPr>
              <a:t>Found out that all three models had very similar cross-validation performance, so Elastic Net did not give us a meaningful improvement over regular Linear Regression for this clean baseline dataset.</a:t>
            </a:r>
            <a:endParaRPr lang="en-US" sz="1600">
              <a:ea typeface="+mn-lt"/>
              <a:cs typeface="+mn-lt"/>
            </a:endParaRPr>
          </a:p>
        </p:txBody>
      </p:sp>
      <p:sp>
        <p:nvSpPr>
          <p:cNvPr id="7" name="Shape 14">
            <a:extLst>
              <a:ext uri="{FF2B5EF4-FFF2-40B4-BE49-F238E27FC236}">
                <a16:creationId xmlns:a16="http://schemas.microsoft.com/office/drawing/2014/main" id="{0624C0D7-CAA2-3B21-4F1B-C0C9061FDBA5}"/>
              </a:ext>
            </a:extLst>
          </p:cNvPr>
          <p:cNvSpPr/>
          <p:nvPr/>
        </p:nvSpPr>
        <p:spPr>
          <a:xfrm>
            <a:off x="596265" y="4006861"/>
            <a:ext cx="82296" cy="82296"/>
          </a:xfrm>
          <a:prstGeom prst="ellipse">
            <a:avLst/>
          </a:prstGeom>
          <a:solidFill>
            <a:srgbClr val="0EA5A4"/>
          </a:solidFill>
          <a:ln w="12700">
            <a:solidFill>
              <a:srgbClr val="0EA5A4">
                <a:alpha val="0"/>
              </a:srgbClr>
            </a:solidFill>
            <a:prstDash val="solid"/>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a:extLst>
            <a:ext uri="{FF2B5EF4-FFF2-40B4-BE49-F238E27FC236}">
              <a16:creationId xmlns:a16="http://schemas.microsoft.com/office/drawing/2014/main" id="{8AF88EFB-B47A-DD69-35FC-CC44C487184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8BFA343-E690-B49B-D2BF-6D7A032F9649}"/>
              </a:ext>
            </a:extLst>
          </p:cNvPr>
          <p:cNvSpPr/>
          <p:nvPr/>
        </p:nvSpPr>
        <p:spPr>
          <a:xfrm>
            <a:off x="502920" y="597408"/>
            <a:ext cx="7132320" cy="384048"/>
          </a:xfrm>
          <a:prstGeom prst="rect">
            <a:avLst/>
          </a:prstGeom>
          <a:noFill/>
          <a:ln/>
        </p:spPr>
        <p:txBody>
          <a:bodyPr wrap="square" lIns="254" tIns="254" rIns="254" bIns="254" rtlCol="0" anchor="t">
            <a:normAutofit/>
          </a:bodyPr>
          <a:lstStyle/>
          <a:p>
            <a:pPr marL="0" indent="0" algn="l">
              <a:buNone/>
            </a:pPr>
            <a:r>
              <a:rPr lang="en-US" sz="2400" b="1">
                <a:solidFill>
                  <a:srgbClr val="0B1F33"/>
                </a:solidFill>
                <a:latin typeface="Aptos Display" pitchFamily="34" charset="0"/>
                <a:ea typeface="Aptos Display" pitchFamily="34" charset="-122"/>
                <a:cs typeface="Aptos Display" pitchFamily="34" charset="-120"/>
              </a:rPr>
              <a:t>Conclusion</a:t>
            </a:r>
            <a:endParaRPr lang="en-US" sz="2400"/>
          </a:p>
        </p:txBody>
      </p:sp>
      <p:sp>
        <p:nvSpPr>
          <p:cNvPr id="5" name="Shape 3">
            <a:extLst>
              <a:ext uri="{FF2B5EF4-FFF2-40B4-BE49-F238E27FC236}">
                <a16:creationId xmlns:a16="http://schemas.microsoft.com/office/drawing/2014/main" id="{9B4F7E2A-8B9B-170D-632F-48C845DD64F2}"/>
              </a:ext>
            </a:extLst>
          </p:cNvPr>
          <p:cNvSpPr/>
          <p:nvPr/>
        </p:nvSpPr>
        <p:spPr>
          <a:xfrm>
            <a:off x="502920" y="1124712"/>
            <a:ext cx="11155680" cy="0"/>
          </a:xfrm>
          <a:prstGeom prst="line">
            <a:avLst/>
          </a:prstGeom>
          <a:noFill/>
          <a:ln w="9525">
            <a:solidFill>
              <a:srgbClr val="D9E2EC"/>
            </a:solidFill>
            <a:prstDash val="solid"/>
          </a:ln>
        </p:spPr>
      </p:sp>
      <p:sp>
        <p:nvSpPr>
          <p:cNvPr id="6" name="Shape 4">
            <a:extLst>
              <a:ext uri="{FF2B5EF4-FFF2-40B4-BE49-F238E27FC236}">
                <a16:creationId xmlns:a16="http://schemas.microsoft.com/office/drawing/2014/main" id="{7D57D9A7-6D31-A4E9-D0F5-F2582ED521EB}"/>
              </a:ext>
            </a:extLst>
          </p:cNvPr>
          <p:cNvSpPr/>
          <p:nvPr/>
        </p:nvSpPr>
        <p:spPr>
          <a:xfrm>
            <a:off x="502920" y="6446520"/>
            <a:ext cx="11155680" cy="0"/>
          </a:xfrm>
          <a:prstGeom prst="line">
            <a:avLst/>
          </a:prstGeom>
          <a:noFill/>
          <a:ln w="9525">
            <a:solidFill>
              <a:srgbClr val="D9E2EC"/>
            </a:solidFill>
            <a:prstDash val="solid"/>
          </a:ln>
        </p:spPr>
      </p:sp>
      <p:sp>
        <p:nvSpPr>
          <p:cNvPr id="23" name="Shape 10">
            <a:extLst>
              <a:ext uri="{FF2B5EF4-FFF2-40B4-BE49-F238E27FC236}">
                <a16:creationId xmlns:a16="http://schemas.microsoft.com/office/drawing/2014/main" id="{6A6EAE35-2C8B-3D06-873F-19527B88AA46}"/>
              </a:ext>
            </a:extLst>
          </p:cNvPr>
          <p:cNvSpPr/>
          <p:nvPr/>
        </p:nvSpPr>
        <p:spPr>
          <a:xfrm>
            <a:off x="606424" y="2027047"/>
            <a:ext cx="82296" cy="82296"/>
          </a:xfrm>
          <a:prstGeom prst="ellipse">
            <a:avLst/>
          </a:prstGeom>
          <a:solidFill>
            <a:srgbClr val="0EA5A4"/>
          </a:solidFill>
          <a:ln w="12700">
            <a:solidFill>
              <a:srgbClr val="0EA5A4">
                <a:alpha val="0"/>
              </a:srgbClr>
            </a:solidFill>
            <a:prstDash val="solid"/>
          </a:ln>
        </p:spPr>
      </p:sp>
      <p:sp>
        <p:nvSpPr>
          <p:cNvPr id="3" name="TextBox 2">
            <a:extLst>
              <a:ext uri="{FF2B5EF4-FFF2-40B4-BE49-F238E27FC236}">
                <a16:creationId xmlns:a16="http://schemas.microsoft.com/office/drawing/2014/main" id="{03944748-A9C8-782A-B02C-07C9D38CD61C}"/>
              </a:ext>
            </a:extLst>
          </p:cNvPr>
          <p:cNvSpPr txBox="1"/>
          <p:nvPr/>
        </p:nvSpPr>
        <p:spPr>
          <a:xfrm>
            <a:off x="542925" y="1304925"/>
            <a:ext cx="1006792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solidFill>
                  <a:srgbClr val="000000"/>
                </a:solidFill>
                <a:ea typeface="+mn-lt"/>
                <a:cs typeface="+mn-lt"/>
              </a:rPr>
              <a:t>Extra question: Why is Linear Regression and Elastic Net performed so similarly? </a:t>
            </a:r>
            <a:endParaRPr lang="en-US"/>
          </a:p>
        </p:txBody>
      </p:sp>
      <p:sp>
        <p:nvSpPr>
          <p:cNvPr id="8" name="TextBox 7">
            <a:extLst>
              <a:ext uri="{FF2B5EF4-FFF2-40B4-BE49-F238E27FC236}">
                <a16:creationId xmlns:a16="http://schemas.microsoft.com/office/drawing/2014/main" id="{C7AE4373-F12D-D585-B4D6-CF38DA678DA2}"/>
              </a:ext>
            </a:extLst>
          </p:cNvPr>
          <p:cNvSpPr txBox="1"/>
          <p:nvPr/>
        </p:nvSpPr>
        <p:spPr>
          <a:xfrm>
            <a:off x="853745" y="1885631"/>
            <a:ext cx="10733085"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rgbClr val="0B1F33"/>
                </a:solidFill>
              </a:rPr>
              <a:t>Linear Regression and Elastic Net performed so similarly because the baseline dataset is clean and the predictors are not strongly correlated with each other. The Linear Regression was already performing well. Elastic Net only applied a small amount of regularization, so it did not change the coefficients or predictions. This is why the models had very similar MAE, RMSE, and R</a:t>
            </a:r>
            <a:r>
              <a:rPr lang="en-US" sz="1600">
                <a:solidFill>
                  <a:srgbClr val="0B1F33"/>
                </a:solidFill>
                <a:ea typeface="+mn-lt"/>
                <a:cs typeface="+mn-lt"/>
              </a:rPr>
              <a:t>²</a:t>
            </a:r>
            <a:r>
              <a:rPr lang="en-US" sz="1600">
                <a:solidFill>
                  <a:srgbClr val="0B1F33"/>
                </a:solidFill>
              </a:rPr>
              <a:t> values.</a:t>
            </a:r>
            <a:endParaRPr lang="en-US" sz="1600">
              <a:solidFill>
                <a:srgbClr val="000000"/>
              </a:solidFill>
            </a:endParaRPr>
          </a:p>
          <a:p>
            <a:pPr algn="l"/>
            <a:endParaRPr lang="en-US" sz="1600"/>
          </a:p>
        </p:txBody>
      </p:sp>
    </p:spTree>
    <p:extLst>
      <p:ext uri="{BB962C8B-B14F-4D97-AF65-F5344CB8AC3E}">
        <p14:creationId xmlns:p14="http://schemas.microsoft.com/office/powerpoint/2010/main" val="641009549"/>
      </p:ext>
    </p:extLst>
  </p:cSld>
  <p:clrMapOvr>
    <a:masterClrMapping/>
  </p:clrMapOvr>
</p:sld>
</file>

<file path=ppt/theme/theme1.xml><?xml version="1.0" encoding="utf-8"?>
<a:theme xmlns:a="http://schemas.openxmlformats.org/drawingml/2006/main" name="Dune">
  <a:themeElements>
    <a:clrScheme name="Dune">
      <a:dk1>
        <a:srgbClr val="131313"/>
      </a:dk1>
      <a:lt1>
        <a:sysClr val="window" lastClr="FFFFFF"/>
      </a:lt1>
      <a:dk2>
        <a:srgbClr val="272D2B"/>
      </a:dk2>
      <a:lt2>
        <a:srgbClr val="F0EDE6"/>
      </a:lt2>
      <a:accent1>
        <a:srgbClr val="647E6B"/>
      </a:accent1>
      <a:accent2>
        <a:srgbClr val="476262"/>
      </a:accent2>
      <a:accent3>
        <a:srgbClr val="9B8C69"/>
      </a:accent3>
      <a:accent4>
        <a:srgbClr val="BA988C"/>
      </a:accent4>
      <a:accent5>
        <a:srgbClr val="A27C7C"/>
      </a:accent5>
      <a:accent6>
        <a:srgbClr val="79958B"/>
      </a:accent6>
      <a:hlink>
        <a:srgbClr val="476262"/>
      </a:hlink>
      <a:folHlink>
        <a:srgbClr val="A27C7C"/>
      </a:folHlink>
    </a:clrScheme>
    <a:fontScheme name="Dune">
      <a:majorFont>
        <a:latin typeface="Neue Haas Grotesk Text Pro"/>
        <a:ea typeface=""/>
        <a:cs typeface=""/>
      </a:majorFont>
      <a:minorFont>
        <a:latin typeface="Neue Haas Grotesk Text Pro"/>
        <a:ea typeface=""/>
        <a:cs typeface=""/>
      </a:minorFont>
    </a:fontScheme>
    <a:fmtScheme name="Dun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une" id="{563B7B1E-6862-4478-911D-ABB9DC11CD1A}" vid="{CC37CDAD-DAB9-4025-984B-9D6BBBE1BBD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12</Slides>
  <Notes>12</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Dune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27</cp:revision>
  <dcterms:created xsi:type="dcterms:W3CDTF">2026-09-09T17:38:47Z</dcterms:created>
  <dcterms:modified xsi:type="dcterms:W3CDTF">2026-09-16T16:52:43Z</dcterms:modified>
</cp:coreProperties>
</file>